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B9D66-27A6-1839-B9F4-C3ADA4F40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7D9CF-7B8F-C533-36DB-A857B9695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669CB-5448-6A60-477D-A1AA894C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26F-BFB7-48D1-B533-F45EF6F9D26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19B78-77F8-3FD4-8FFD-5D2A352A5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804A3-BDEE-772A-89B0-17FBB4FF1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0444-A03B-40E4-9E4E-24DEE2B00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145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BF385-ABC2-4B1A-64FC-6776769E0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BA7DD-25B3-B627-F949-C60A56B51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BB502-3C31-BB95-C699-86CC08496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26F-BFB7-48D1-B533-F45EF6F9D26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7FF97-728D-AC2F-8C18-7B8CA0E86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AF27B-3925-6B66-CD31-48401C11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0444-A03B-40E4-9E4E-24DEE2B00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056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3B70B-EC75-D56C-7EDC-132859504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A7462-1A6F-658D-8F92-C7BFACEC1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1A865-4773-0871-C5EC-66DC08A29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26F-BFB7-48D1-B533-F45EF6F9D26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E58E3-69CF-C727-DB5C-823ECEFBF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51EA8-092D-0476-8930-74D38A029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0444-A03B-40E4-9E4E-24DEE2B00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94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3FFE-9A28-7C73-D997-A56DC867D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CAF57-1E83-0BBD-8D23-D195B51C67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89DB6-2DFA-BF00-B807-394516679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2F29E-56EC-AEB8-B162-E5551F744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26F-BFB7-48D1-B533-F45EF6F9D26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21486-1101-F167-51D7-CDA87712C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23F1C-DA15-6872-A31E-1B6395E15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0444-A03B-40E4-9E4E-24DEE2B00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711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4DA26-24B3-E767-2A52-A6BDF96AE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93FEF-F61E-0121-417C-DF02B7CB3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65D071-14A5-91C8-769A-DD1476852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7BDA6-BCA0-CE35-2E96-96E150FD6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878607-6AE1-8626-34AE-085A03B81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89BFE4-69DB-63F1-B7B8-CDFBF4E66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26F-BFB7-48D1-B533-F45EF6F9D26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8BD938-E76F-B67B-6FE3-89707ACD7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4B193A-99E1-894D-3A09-0B14758A7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0444-A03B-40E4-9E4E-24DEE2B00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495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9A868-129F-B348-8F61-88F401106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EB1AF7-F1DF-FD92-D881-D0307AF04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26F-BFB7-48D1-B533-F45EF6F9D26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5B562-0876-7FA7-9B78-A6BDB87D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AF0D2-E4BD-3DF4-1DBC-457EA65FA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0444-A03B-40E4-9E4E-24DEE2B00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873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21971C-2DA2-07F3-1012-C531784C6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26F-BFB7-48D1-B533-F45EF6F9D26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BA7F8C-5561-E867-4FF9-F66BE49ED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804E5-159F-1402-5BB6-1710157E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0444-A03B-40E4-9E4E-24DEE2B00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11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56C3-30D3-298E-67EF-2799F298C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8070F-6D91-5851-40DD-23CB2B2F2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2DB884-F227-256F-FC46-D32E85A16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ADCC9-1DB0-0D01-DBF8-816945229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26F-BFB7-48D1-B533-F45EF6F9D26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2BC9C-EECC-B23F-5EC9-B3C0D129E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2D49A-E148-35D9-0D97-AF83D9094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0444-A03B-40E4-9E4E-24DEE2B00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261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57BB8-F430-B57D-92B4-E8289D586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5D1E72-FF31-A3E3-C83E-0FACA22D35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0F84DA-9644-B61B-1550-C2AFBDB6A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2636D-CE6B-5E27-B15C-BBF02AF7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26F-BFB7-48D1-B533-F45EF6F9D26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0EC6B-ED2F-00BC-E745-2A3A18B66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AECBB-8BC9-4EAB-16E3-5E80FE27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0444-A03B-40E4-9E4E-24DEE2B00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419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C48F9-F2C3-F6E6-7BB8-04789D6B6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FF425-4EA4-5E11-B395-ED9426FBA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EDAEB-21EB-613F-BE38-2DE44749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26F-BFB7-48D1-B533-F45EF6F9D26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B75FE-32F6-D9F1-B8A0-7DC21654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6D1BA-9BB0-58AB-3369-DFE58D554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0444-A03B-40E4-9E4E-24DEE2B00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018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5A20FD-B5F0-49F5-8AC9-65ADE3A480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EF1EF-B66B-F3E4-C33C-F9728C475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C3E5C-6699-A2E7-464A-79F61DD91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26F-BFB7-48D1-B533-F45EF6F9D26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1B5C3-76EE-57C5-D3B5-F17F57EEB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4B026-9CAE-86AF-9269-92AA86948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0444-A03B-40E4-9E4E-24DEE2B00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756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031DE-A670-3E6A-077A-6A53B8AFE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51DC9-C206-4E93-5009-3588A6504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87BEB-522E-4855-193B-71F87946BB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7C26F-BFB7-48D1-B533-F45EF6F9D261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CC379-C435-B2E1-FA23-B3E56E964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5DA35-5C0D-ECC2-A2F0-F774A12190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00444-A03B-40E4-9E4E-24DEE2B00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289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DCDBC12-A637-253A-B247-414EFCCCD146}"/>
              </a:ext>
            </a:extLst>
          </p:cNvPr>
          <p:cNvSpPr txBox="1">
            <a:spLocks/>
          </p:cNvSpPr>
          <p:nvPr/>
        </p:nvSpPr>
        <p:spPr>
          <a:xfrm>
            <a:off x="838200" y="75720"/>
            <a:ext cx="10515600" cy="6581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Multithreading: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04FA59F-761A-B7BB-872C-F29F08FB658E}"/>
              </a:ext>
            </a:extLst>
          </p:cNvPr>
          <p:cNvSpPr txBox="1">
            <a:spLocks/>
          </p:cNvSpPr>
          <p:nvPr/>
        </p:nvSpPr>
        <p:spPr>
          <a:xfrm>
            <a:off x="54427" y="723910"/>
            <a:ext cx="12053109" cy="6029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Process: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Process is an instance of a program that is getting executed. It has its own resources like memory, threads etc. OS allocates these resources to process when its created.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Threads: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Thread is known as lightweight process OR smallest sequence of instructions that are executed by CPU independently. And 1 process can have multiple threads.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When a process is created, it start with 1 thread and that initial thread known as “main thread” and from that we can create multiple threads to perform task concurrently.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Concurrency v/s Parallelism: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Concurrency means managing multiple tasks in overlapping time periods, often on a single processor.</a:t>
            </a:r>
          </a:p>
          <a:p>
            <a:pPr lvl="1" algn="l"/>
            <a:r>
              <a:rPr lang="en-US" b="1" dirty="0"/>
              <a:t>Ex: </a:t>
            </a:r>
            <a:r>
              <a:rPr lang="en-US" dirty="0"/>
              <a:t>Single Core CPU | T1 -&gt; T3 -&gt; T2 -&gt; T4 -&gt; T1 ….</a:t>
            </a:r>
            <a:endParaRPr lang="en-US" b="1" dirty="0"/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Parallelism means simultaneously executing multiple tasks on separate processors or cores.</a:t>
            </a:r>
          </a:p>
          <a:p>
            <a:pPr lvl="1" algn="l"/>
            <a:r>
              <a:rPr lang="en-US" b="1" dirty="0"/>
              <a:t>Ex: </a:t>
            </a:r>
            <a:r>
              <a:rPr lang="en-US" dirty="0"/>
              <a:t>Muti core CPU  C1 | T1 -&gt; T3 -&gt; T2 -&gt; T4</a:t>
            </a:r>
          </a:p>
          <a:p>
            <a:pPr lvl="1" algn="l"/>
            <a:r>
              <a:rPr lang="en-US" b="1" dirty="0"/>
              <a:t>		           </a:t>
            </a:r>
            <a:r>
              <a:rPr lang="en-US" dirty="0"/>
              <a:t>C2 | T2 -&gt; T1 -&gt; T4 -&gt; T3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286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6C9653-634D-28B3-ADE6-2ECD71C26DD7}"/>
              </a:ext>
            </a:extLst>
          </p:cNvPr>
          <p:cNvSpPr txBox="1">
            <a:spLocks/>
          </p:cNvSpPr>
          <p:nvPr/>
        </p:nvSpPr>
        <p:spPr>
          <a:xfrm>
            <a:off x="0" y="197136"/>
            <a:ext cx="12053109" cy="6029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D3A6D-F20B-C9E7-A10C-8A4632028239}"/>
              </a:ext>
            </a:extLst>
          </p:cNvPr>
          <p:cNvSpPr txBox="1">
            <a:spLocks/>
          </p:cNvSpPr>
          <p:nvPr/>
        </p:nvSpPr>
        <p:spPr>
          <a:xfrm>
            <a:off x="0" y="197136"/>
            <a:ext cx="12053109" cy="6463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/>
              <a:t>In Java, we can achieve muti-threading in following ways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/>
              <a:t>By implementing </a:t>
            </a:r>
            <a:r>
              <a:rPr lang="en-US" sz="2000" b="1" dirty="0"/>
              <a:t>Runnable/Callable</a:t>
            </a:r>
            <a:r>
              <a:rPr lang="en-US" sz="2000" dirty="0"/>
              <a:t> interface OR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/>
              <a:t>By extending </a:t>
            </a:r>
            <a:r>
              <a:rPr lang="en-US" sz="2000" b="1" dirty="0"/>
              <a:t>Thread</a:t>
            </a:r>
            <a:r>
              <a:rPr lang="en-US" sz="2000" dirty="0"/>
              <a:t> class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/>
              <a:t> Recommended approach is by implementing Runnable interface as Java doesn’t support multiple interface.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Executors and Thread Pool: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Executors will help us to manage the threads by itself (Like creation, assigning tasks, etc.)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Executors internally uses thread-pool (Collection of threads)</a:t>
            </a:r>
          </a:p>
          <a:p>
            <a:pPr algn="l"/>
            <a:r>
              <a:rPr lang="en-US" sz="2000" b="1" dirty="0"/>
              <a:t>Ex: </a:t>
            </a:r>
            <a:r>
              <a:rPr lang="en-US" sz="2000" dirty="0"/>
              <a:t>ExecutorService executorService = Executors.newCachedThreadPool();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Callable: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Unlike runnable interface, Callable interface is leveraged whenever we are expecting the result back from the tasks.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In-order to hold the result from tasks, we use Future&lt;T&gt; interface.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To get the result of the computation, we must call the </a:t>
            </a:r>
            <a:r>
              <a:rPr lang="en-US" sz="2000" b="1" dirty="0"/>
              <a:t>get()</a:t>
            </a:r>
            <a:r>
              <a:rPr lang="en-US" sz="2000" dirty="0"/>
              <a:t> method, which block the calling thread until the task is completed. This can make our application less responsive.</a:t>
            </a:r>
          </a:p>
          <a:p>
            <a:pPr algn="l"/>
            <a:r>
              <a:rPr lang="en-US" sz="2000" b="1" dirty="0"/>
              <a:t>Ex: </a:t>
            </a:r>
            <a:r>
              <a:rPr lang="en-US" sz="2000" dirty="0"/>
              <a:t>Future&lt;T&gt; futureResult = </a:t>
            </a:r>
            <a:r>
              <a:rPr lang="en-US" sz="2000" dirty="0" err="1"/>
              <a:t>executorService.submit</a:t>
            </a:r>
            <a:r>
              <a:rPr lang="en-US" sz="2000" dirty="0"/>
              <a:t>();</a:t>
            </a:r>
          </a:p>
          <a:p>
            <a:pPr algn="l"/>
            <a:r>
              <a:rPr lang="en-US" sz="2000" b="1" dirty="0"/>
              <a:t>      </a:t>
            </a:r>
            <a:r>
              <a:rPr lang="en-US" sz="2000" dirty="0"/>
              <a:t>T result = </a:t>
            </a:r>
            <a:r>
              <a:rPr lang="en-US" sz="2000" dirty="0" err="1"/>
              <a:t>futureResult.get</a:t>
            </a:r>
            <a:r>
              <a:rPr lang="en-US" sz="2000" dirty="0"/>
              <a:t>();</a:t>
            </a:r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52224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837DE7B-146A-058C-89D0-3B7170DC0420}"/>
              </a:ext>
            </a:extLst>
          </p:cNvPr>
          <p:cNvSpPr txBox="1">
            <a:spLocks/>
          </p:cNvSpPr>
          <p:nvPr/>
        </p:nvSpPr>
        <p:spPr>
          <a:xfrm>
            <a:off x="0" y="197136"/>
            <a:ext cx="12053109" cy="646372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CompletableFuture: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With CompletableFuture, we get non-blocking execution. It allows you to define what happens when the computation is done through methods like </a:t>
            </a:r>
            <a:r>
              <a:rPr lang="en-US" sz="2000" b="1" dirty="0"/>
              <a:t>thenApply(), thenAccept(), and thenRun()</a:t>
            </a:r>
            <a:r>
              <a:rPr lang="en-US" sz="2000" dirty="0"/>
              <a:t>. This makes your application much more responsive, as it doesn't block the main thread while waiting for the result.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CompletableFuture offers much more robust exception handling with methods like </a:t>
            </a:r>
            <a:r>
              <a:rPr lang="en-US" sz="2000" b="1" dirty="0"/>
              <a:t>exceptionally</a:t>
            </a:r>
            <a:r>
              <a:rPr lang="en-US" sz="2000" dirty="0"/>
              <a:t>() and handle(). These methods allow you to define fallback actions or recovery mechanisms within the same async computation chain, ensuring smoother error management.</a:t>
            </a:r>
          </a:p>
          <a:p>
            <a:pPr algn="l"/>
            <a:r>
              <a:rPr lang="en-US" sz="2000" b="1" dirty="0"/>
              <a:t>Ex: </a:t>
            </a:r>
            <a:r>
              <a:rPr lang="en-US" sz="1100" dirty="0"/>
              <a:t>CompletableFuture.supplyAsync(() -&gt; {</a:t>
            </a:r>
          </a:p>
          <a:p>
            <a:pPr algn="l"/>
            <a:r>
              <a:rPr lang="en-US" sz="1100" dirty="0"/>
              <a:t>    	Thread.sleep(2000);</a:t>
            </a:r>
          </a:p>
          <a:p>
            <a:pPr algn="l"/>
            <a:r>
              <a:rPr lang="en-US" sz="1100" dirty="0"/>
              <a:t>    	if (new Random().</a:t>
            </a:r>
            <a:r>
              <a:rPr lang="en-US" sz="1100" dirty="0" err="1"/>
              <a:t>nextBoolean</a:t>
            </a:r>
            <a:r>
              <a:rPr lang="en-US" sz="1100" dirty="0"/>
              <a:t>()) throw new </a:t>
            </a:r>
            <a:r>
              <a:rPr lang="en-US" sz="1100" dirty="0" err="1"/>
              <a:t>RuntimeException</a:t>
            </a:r>
            <a:r>
              <a:rPr lang="en-US" sz="1100" dirty="0"/>
              <a:t>("Oops!");</a:t>
            </a:r>
          </a:p>
          <a:p>
            <a:pPr algn="l"/>
            <a:r>
              <a:rPr lang="en-US" sz="1100" dirty="0"/>
              <a:t>    	return "Task completed";      </a:t>
            </a:r>
          </a:p>
          <a:p>
            <a:pPr algn="l"/>
            <a:r>
              <a:rPr lang="en-US" sz="1100" dirty="0"/>
              <a:t>       })</a:t>
            </a:r>
          </a:p>
          <a:p>
            <a:pPr algn="l"/>
            <a:r>
              <a:rPr lang="en-US" sz="1100" dirty="0"/>
              <a:t>       .exceptionally(ex -&gt; "Error: " + </a:t>
            </a:r>
            <a:r>
              <a:rPr lang="en-US" sz="1100" dirty="0" err="1"/>
              <a:t>ex.getMessage</a:t>
            </a:r>
            <a:r>
              <a:rPr lang="en-US" sz="1100" dirty="0"/>
              <a:t>())</a:t>
            </a:r>
          </a:p>
          <a:p>
            <a:pPr algn="l"/>
            <a:r>
              <a:rPr lang="en-US" sz="1100" dirty="0"/>
              <a:t>       .thenAccept(System.out::println);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This is where CompletableFuture excels. It allows you to compose and combine asynchronous tasks easily using methods like </a:t>
            </a:r>
            <a:r>
              <a:rPr lang="en-US" sz="2000" dirty="0" err="1"/>
              <a:t>thenCompose</a:t>
            </a:r>
            <a:r>
              <a:rPr lang="en-US" sz="2000" dirty="0"/>
              <a:t>(), </a:t>
            </a:r>
            <a:r>
              <a:rPr lang="en-US" sz="2000" dirty="0" err="1"/>
              <a:t>thenCombine</a:t>
            </a:r>
            <a:r>
              <a:rPr lang="en-US" sz="2000" dirty="0"/>
              <a:t>(), or run multiple tasks in parallel with </a:t>
            </a:r>
            <a:r>
              <a:rPr lang="en-US" sz="2000" dirty="0" err="1"/>
              <a:t>allOf</a:t>
            </a:r>
            <a:r>
              <a:rPr lang="en-US" sz="2000" dirty="0"/>
              <a:t>(). This makes complex workflows far easier to handle.</a:t>
            </a:r>
          </a:p>
          <a:p>
            <a:pPr algn="l"/>
            <a:r>
              <a:rPr lang="en-US" sz="2000" b="1" dirty="0"/>
              <a:t>Ex: </a:t>
            </a:r>
            <a:r>
              <a:rPr lang="en-US" sz="1200" dirty="0"/>
              <a:t>CompletableFuture&lt;String&gt; future1 = CompletableFuture.supplyAsync(() -&gt; "Task 1");</a:t>
            </a:r>
          </a:p>
          <a:p>
            <a:pPr algn="l"/>
            <a:r>
              <a:rPr lang="en-US" sz="1200" dirty="0"/>
              <a:t>           CompletableFuture&lt;String&gt; future2 = CompletableFuture.supplyAsync(() -&gt; "Task 2");</a:t>
            </a:r>
          </a:p>
          <a:p>
            <a:pPr algn="l"/>
            <a:r>
              <a:rPr lang="en-US" sz="1200" dirty="0"/>
              <a:t>           future1.thenCombine(future2, (result1, result2) -&gt; result1 + " and " + result2)</a:t>
            </a:r>
          </a:p>
          <a:p>
            <a:pPr algn="l"/>
            <a:r>
              <a:rPr lang="en-US" sz="1200" dirty="0"/>
              <a:t>           .thenAccept(System.out::println);  // Combines results of both tasks</a:t>
            </a:r>
          </a:p>
        </p:txBody>
      </p:sp>
    </p:spTree>
    <p:extLst>
      <p:ext uri="{BB962C8B-B14F-4D97-AF65-F5344CB8AC3E}">
        <p14:creationId xmlns:p14="http://schemas.microsoft.com/office/powerpoint/2010/main" val="2649063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88E002F-D867-6B8D-7E80-A9567069C884}"/>
              </a:ext>
            </a:extLst>
          </p:cNvPr>
          <p:cNvSpPr txBox="1">
            <a:spLocks/>
          </p:cNvSpPr>
          <p:nvPr/>
        </p:nvSpPr>
        <p:spPr>
          <a:xfrm>
            <a:off x="0" y="197136"/>
            <a:ext cx="12053109" cy="6463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Synchronization Issue: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Synchronization issue can happen, when multiple threads working on the shared data. Due to this there will be inconsistency in the result (As explained in Adder-Subtractor problem).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By leveraging mutual-exclusion, we can resolve the synchronization issue. Means we restrict only 1 thread can access critical section of the code.</a:t>
            </a:r>
          </a:p>
          <a:p>
            <a:pPr algn="l"/>
            <a:endParaRPr lang="en-US" sz="2000" dirty="0"/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Mutex Lock (Mutual-Exclusion):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A lock that enables access to the critical section of the code. Meaning, using MU-TEX only one thread can access the critical section of the code.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2000" b="1" dirty="0"/>
              <a:t>Properties of Lock: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dirty="0"/>
              <a:t>Only 1 thread can acquire lock at a time.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dirty="0"/>
              <a:t>Once the process the done, lock automatically notifies other threads.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dirty="0"/>
              <a:t>No busy waiting (meanwhile the thread can complete other tasks)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dirty="0"/>
              <a:t>So that system is progressing.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dirty="0"/>
              <a:t>In Java, this can fix using the ReentrantLock();</a:t>
            </a:r>
          </a:p>
          <a:p>
            <a:pPr algn="l"/>
            <a:r>
              <a:rPr lang="en-US" sz="2000" b="1" dirty="0"/>
              <a:t>EX: </a:t>
            </a:r>
            <a:r>
              <a:rPr lang="en-US" sz="2000" dirty="0"/>
              <a:t>Lock lock = new ReentrantLock();</a:t>
            </a:r>
          </a:p>
          <a:p>
            <a:pPr algn="l"/>
            <a:r>
              <a:rPr lang="en-US" sz="2000" b="1" dirty="0"/>
              <a:t>       </a:t>
            </a:r>
            <a:r>
              <a:rPr lang="en-US" sz="2000" dirty="0"/>
              <a:t>lock.lock(); &amp; </a:t>
            </a:r>
            <a:r>
              <a:rPr lang="en-US" sz="2000" dirty="0" err="1"/>
              <a:t>lock.unlock</a:t>
            </a:r>
            <a:r>
              <a:rPr lang="en-US" sz="2000" dirty="0"/>
              <a:t>();</a:t>
            </a:r>
            <a:endParaRPr lang="en-US" sz="1200" b="1" dirty="0"/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n-US" sz="1600" dirty="0"/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80437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63F3392-1C51-F918-A950-EF3988D63684}"/>
              </a:ext>
            </a:extLst>
          </p:cNvPr>
          <p:cNvSpPr txBox="1">
            <a:spLocks/>
          </p:cNvSpPr>
          <p:nvPr/>
        </p:nvSpPr>
        <p:spPr>
          <a:xfrm>
            <a:off x="0" y="197136"/>
            <a:ext cx="12053109" cy="6463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synchronized Keyword: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In Java, there is an implicit lock on every object.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We can fix the synchronization issue without passing lock object. Instead, we an apply </a:t>
            </a:r>
            <a:r>
              <a:rPr lang="en-US" sz="2000" b="1" dirty="0"/>
              <a:t>synchronized </a:t>
            </a:r>
            <a:r>
              <a:rPr lang="en-US" sz="2000" dirty="0"/>
              <a:t>keyword for the critical section of the code. This will internally perform those explicit lock() and unlock() operations.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 synchronized keyword can apply on the method level as well, meaning only one thread can enter into the method.</a:t>
            </a:r>
          </a:p>
          <a:p>
            <a:pPr algn="l"/>
            <a:r>
              <a:rPr lang="en-US" sz="2000" b="1" dirty="0"/>
              <a:t>Ex: </a:t>
            </a:r>
            <a:r>
              <a:rPr lang="en-US" sz="2000" dirty="0"/>
              <a:t>synchronized (object){</a:t>
            </a:r>
          </a:p>
          <a:p>
            <a:pPr algn="l"/>
            <a:r>
              <a:rPr lang="en-US" sz="2000" b="1" dirty="0"/>
              <a:t>	</a:t>
            </a:r>
            <a:r>
              <a:rPr lang="en-US" sz="2000" dirty="0"/>
              <a:t>// Critical task on object</a:t>
            </a:r>
          </a:p>
          <a:p>
            <a:pPr algn="l"/>
            <a:r>
              <a:rPr lang="en-US" sz="2000" b="1" dirty="0"/>
              <a:t>       </a:t>
            </a:r>
            <a:r>
              <a:rPr lang="en-US" sz="2000" dirty="0"/>
              <a:t>}</a:t>
            </a:r>
          </a:p>
          <a:p>
            <a:pPr algn="l"/>
            <a:r>
              <a:rPr lang="en-US" sz="2000" b="1" dirty="0"/>
              <a:t>Ex: </a:t>
            </a:r>
            <a:r>
              <a:rPr lang="en-US" sz="2000" dirty="0"/>
              <a:t>public synchronized method(Object object){</a:t>
            </a:r>
          </a:p>
          <a:p>
            <a:pPr algn="l"/>
            <a:r>
              <a:rPr lang="en-US" sz="2000" b="1" dirty="0"/>
              <a:t>	</a:t>
            </a:r>
            <a:r>
              <a:rPr lang="en-US" sz="2000" dirty="0"/>
              <a:t>// Business logic</a:t>
            </a:r>
          </a:p>
          <a:p>
            <a:pPr algn="l"/>
            <a:r>
              <a:rPr lang="en-US" sz="2000" b="1" dirty="0"/>
              <a:t>	</a:t>
            </a:r>
            <a:r>
              <a:rPr lang="en-US" sz="2000" dirty="0"/>
              <a:t>// Critical task on object</a:t>
            </a:r>
          </a:p>
          <a:p>
            <a:pPr algn="l"/>
            <a:r>
              <a:rPr lang="en-US" sz="2000" b="1" dirty="0"/>
              <a:t>	</a:t>
            </a:r>
            <a:r>
              <a:rPr lang="en-US" sz="2000" dirty="0"/>
              <a:t>// Business logic</a:t>
            </a:r>
            <a:endParaRPr lang="en-US" sz="2000" b="1" dirty="0"/>
          </a:p>
          <a:p>
            <a:pPr algn="l"/>
            <a:r>
              <a:rPr lang="en-US" sz="2000" b="1" dirty="0"/>
              <a:t>       </a:t>
            </a: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57314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59A2BE2-1A18-C67D-372A-21CEB6B44CBF}"/>
              </a:ext>
            </a:extLst>
          </p:cNvPr>
          <p:cNvSpPr txBox="1">
            <a:spLocks/>
          </p:cNvSpPr>
          <p:nvPr/>
        </p:nvSpPr>
        <p:spPr>
          <a:xfrm>
            <a:off x="0" y="197136"/>
            <a:ext cx="12053109" cy="646372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Semaphores: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Till now we have seen only 1 thread can enter into the critical section of the code using locks(synchronized).</a:t>
            </a:r>
          </a:p>
          <a:p>
            <a:pPr algn="l"/>
            <a:r>
              <a:rPr lang="en-US" sz="2000" b="1" dirty="0"/>
              <a:t>Ex: </a:t>
            </a:r>
            <a:r>
              <a:rPr lang="en-US" sz="2000" dirty="0"/>
              <a:t>Producer-Consumer problem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/>
              <a:t>Allow producers if there is at least 1 vacant spot available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/>
              <a:t>Allow consumers if there is at least 1 filled spot available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Let’s say in a producer-consumer problem we implemented locks at critical section of the code using synchronized keyword. So that only 1 thread can either produce/consume without exceeding the max size.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Here the problem is, if the producer/consumer have more than one spots to add/remove the objects then threads can’t perform these actions concurrently, as critical section of the code is locked.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Using Semaphores, we can resolve the above issue.</a:t>
            </a:r>
          </a:p>
          <a:p>
            <a:pPr algn="l"/>
            <a:r>
              <a:rPr lang="en-US" sz="2000" dirty="0"/>
              <a:t>Ex: Semaphores semaphore = new Semaphores(2);</a:t>
            </a:r>
          </a:p>
          <a:p>
            <a:pPr algn="l"/>
            <a:r>
              <a:rPr lang="en-US" sz="2000" dirty="0"/>
              <a:t>      {</a:t>
            </a:r>
          </a:p>
          <a:p>
            <a:pPr algn="l"/>
            <a:r>
              <a:rPr lang="en-US" sz="2000" dirty="0"/>
              <a:t>	</a:t>
            </a:r>
            <a:r>
              <a:rPr lang="en-US" sz="2000" dirty="0" err="1"/>
              <a:t>semaphore.acquire</a:t>
            </a:r>
            <a:r>
              <a:rPr lang="en-US" sz="2000" dirty="0"/>
              <a:t>();</a:t>
            </a:r>
          </a:p>
          <a:p>
            <a:pPr algn="l"/>
            <a:r>
              <a:rPr lang="en-US" sz="2000" dirty="0"/>
              <a:t>	// Critical Section</a:t>
            </a:r>
          </a:p>
          <a:p>
            <a:pPr algn="l"/>
            <a:r>
              <a:rPr lang="en-US" sz="2000" dirty="0"/>
              <a:t>	</a:t>
            </a:r>
            <a:r>
              <a:rPr lang="en-US" sz="2000" dirty="0" err="1"/>
              <a:t>semaphore.release</a:t>
            </a:r>
            <a:r>
              <a:rPr lang="en-US" sz="2000" dirty="0"/>
              <a:t>();</a:t>
            </a:r>
          </a:p>
          <a:p>
            <a:pPr algn="l"/>
            <a:r>
              <a:rPr lang="en-US" sz="2000" dirty="0"/>
              <a:t>      }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/>
              <a:t>Meaning, 2 threads can acquire the lock at the same time. And using semaphores we can release a lock even if the thread didn’t acquire.</a:t>
            </a:r>
          </a:p>
        </p:txBody>
      </p:sp>
    </p:spTree>
    <p:extLst>
      <p:ext uri="{BB962C8B-B14F-4D97-AF65-F5344CB8AC3E}">
        <p14:creationId xmlns:p14="http://schemas.microsoft.com/office/powerpoint/2010/main" val="1147976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B7187DF-89AF-76CE-2951-766F010CCC04}"/>
              </a:ext>
            </a:extLst>
          </p:cNvPr>
          <p:cNvSpPr txBox="1">
            <a:spLocks/>
          </p:cNvSpPr>
          <p:nvPr/>
        </p:nvSpPr>
        <p:spPr>
          <a:xfrm>
            <a:off x="0" y="197136"/>
            <a:ext cx="12053109" cy="6463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Dead Locks: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When two threads are trying to acquire each other locks and end up with waiting indefinitely for the locks.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In-order to avoid we have to acquire locks in appropriate order</a:t>
            </a:r>
          </a:p>
        </p:txBody>
      </p:sp>
    </p:spTree>
    <p:extLst>
      <p:ext uri="{BB962C8B-B14F-4D97-AF65-F5344CB8AC3E}">
        <p14:creationId xmlns:p14="http://schemas.microsoft.com/office/powerpoint/2010/main" val="198432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23719C7-4584-C99C-DD2B-9DDDD83BD7DE}"/>
              </a:ext>
            </a:extLst>
          </p:cNvPr>
          <p:cNvSpPr txBox="1">
            <a:spLocks/>
          </p:cNvSpPr>
          <p:nvPr/>
        </p:nvSpPr>
        <p:spPr>
          <a:xfrm>
            <a:off x="0" y="197136"/>
            <a:ext cx="12053109" cy="6463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Atomic Data Structures: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Provides a way to do frequent operations on non-atomic data types atomically.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dirty="0"/>
              <a:t>But the performance is slow when compared with primitive data types.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Concurrent Data Structures:</a:t>
            </a:r>
          </a:p>
        </p:txBody>
      </p:sp>
    </p:spTree>
    <p:extLst>
      <p:ext uri="{BB962C8B-B14F-4D97-AF65-F5344CB8AC3E}">
        <p14:creationId xmlns:p14="http://schemas.microsoft.com/office/powerpoint/2010/main" val="4237658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1148</Words>
  <Application>Microsoft Office PowerPoint</Application>
  <PresentationFormat>Widescreen</PresentationFormat>
  <Paragraphs>89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Vardhan Reddy Veeram</dc:creator>
  <cp:lastModifiedBy>Vishnu Vardhan Reddy Veeram</cp:lastModifiedBy>
  <cp:revision>16</cp:revision>
  <dcterms:created xsi:type="dcterms:W3CDTF">2026-01-31T08:55:56Z</dcterms:created>
  <dcterms:modified xsi:type="dcterms:W3CDTF">2026-01-31T19:15:59Z</dcterms:modified>
</cp:coreProperties>
</file>
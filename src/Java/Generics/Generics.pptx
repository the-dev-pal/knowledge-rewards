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74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33E1-04C5-624E-B685-9D73A79051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99A45D-0D1E-E582-8966-5CC858DF65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2ED0FC-51F6-F651-6C50-8B953FAD4B07}"/>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5" name="Footer Placeholder 4">
            <a:extLst>
              <a:ext uri="{FF2B5EF4-FFF2-40B4-BE49-F238E27FC236}">
                <a16:creationId xmlns:a16="http://schemas.microsoft.com/office/drawing/2014/main" id="{E869E942-AB61-50A7-95D4-184576486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775C7B-8BE6-EDF1-B2E9-A4E36B0249FA}"/>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1475192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FF21A-A09C-C74A-7FDC-6388FCFB19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0F1F5F-37CD-AAF1-A349-188A40EBB1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587047-3FA0-AE34-5A7E-78CF0AE502F5}"/>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5" name="Footer Placeholder 4">
            <a:extLst>
              <a:ext uri="{FF2B5EF4-FFF2-40B4-BE49-F238E27FC236}">
                <a16:creationId xmlns:a16="http://schemas.microsoft.com/office/drawing/2014/main" id="{C2099FC8-C185-3E03-AAFB-AB0DBC33FB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181AC8-EDA2-7886-DCF1-FA0BFFE1F59A}"/>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222924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626FA-DE59-BA7E-8E37-3BD4F40CE4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26EEA4A-70DE-2BA5-D759-189B71388E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7AE773-B110-7BDC-5924-C3F3DC176E05}"/>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5" name="Footer Placeholder 4">
            <a:extLst>
              <a:ext uri="{FF2B5EF4-FFF2-40B4-BE49-F238E27FC236}">
                <a16:creationId xmlns:a16="http://schemas.microsoft.com/office/drawing/2014/main" id="{F42A5923-DD42-9135-E78C-FD2A431446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ACD67A-C8C2-2D81-BE21-CF2B195108A9}"/>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3408358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43244-87C1-A729-B783-DB118005AE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3158FC-3E59-C99A-0879-DC49511F10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3A462A2-3686-7C4D-25A4-2FC7BFE129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8FD074-0E28-A23F-583E-A8D495A49C40}"/>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6" name="Footer Placeholder 5">
            <a:extLst>
              <a:ext uri="{FF2B5EF4-FFF2-40B4-BE49-F238E27FC236}">
                <a16:creationId xmlns:a16="http://schemas.microsoft.com/office/drawing/2014/main" id="{CB9EA4A3-5E4B-FF00-90CB-96B90FEB14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F7B1A9-E317-1635-24C8-870A7DC127B9}"/>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2046671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890B-46EE-947F-A413-8CDAE1922C8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4D2339-E3C3-18E9-232A-A15DA2542E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360D66-DD6B-6C48-758D-8E1C3E9A9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98EC14F-5C78-E540-9E20-3B0D7D7F05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532B71-D639-E7C7-CD0C-E9396F2754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E8BA30D-5FC9-CDFD-0B31-EA4B5D331985}"/>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8" name="Footer Placeholder 7">
            <a:extLst>
              <a:ext uri="{FF2B5EF4-FFF2-40B4-BE49-F238E27FC236}">
                <a16:creationId xmlns:a16="http://schemas.microsoft.com/office/drawing/2014/main" id="{FC246A68-4EC7-0B01-BE24-28F44F724E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382CE8-0146-B71A-DB6E-C66673199C9B}"/>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4195981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50F4-BD23-AB9E-A2F6-7B5DC7D10A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18682A-EA7D-2E04-806F-8D6D8E2FFEE2}"/>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4" name="Footer Placeholder 3">
            <a:extLst>
              <a:ext uri="{FF2B5EF4-FFF2-40B4-BE49-F238E27FC236}">
                <a16:creationId xmlns:a16="http://schemas.microsoft.com/office/drawing/2014/main" id="{87F2FA2E-9E0C-E41A-453F-D35CB1F8D09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42A0F7-21E2-2E65-87DB-D7B9F46329D1}"/>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3802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5F0FDB-1BF1-E9C9-CA0B-3FF233948977}"/>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3" name="Footer Placeholder 2">
            <a:extLst>
              <a:ext uri="{FF2B5EF4-FFF2-40B4-BE49-F238E27FC236}">
                <a16:creationId xmlns:a16="http://schemas.microsoft.com/office/drawing/2014/main" id="{5EDD96FE-57BB-C200-19FB-EC193061D91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1FCF54A-B9BF-9749-F87C-17BDA891C638}"/>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1575558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603EE-59DD-1621-A206-8F642D4691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0E0966-E983-C7E6-7680-12BCE81A6A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37E3A5-82AC-0C2E-C2B5-C40B0AAC11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EC3870-634F-DB4C-84EF-5AD364D3ABAA}"/>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6" name="Footer Placeholder 5">
            <a:extLst>
              <a:ext uri="{FF2B5EF4-FFF2-40B4-BE49-F238E27FC236}">
                <a16:creationId xmlns:a16="http://schemas.microsoft.com/office/drawing/2014/main" id="{CA8AFB47-3A31-D302-70D5-5E5EF7073B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CE81AA-DDA3-67F9-A871-AAFC2B97E7FF}"/>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286572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72A49-B505-D6B8-0DB5-177986CCD0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7853B7-DB82-ABA1-1A0D-0BBB0622AF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8209C2-94E4-277C-A962-011A5A18B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082299-0BD1-DCB9-C6E3-E2363371912B}"/>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6" name="Footer Placeholder 5">
            <a:extLst>
              <a:ext uri="{FF2B5EF4-FFF2-40B4-BE49-F238E27FC236}">
                <a16:creationId xmlns:a16="http://schemas.microsoft.com/office/drawing/2014/main" id="{3405F880-0C94-C540-6E31-4FDB67E81B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917D87-42A3-DADA-74DE-A6F68C19F06C}"/>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495224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C3AF1-2FE5-731E-2808-84AFC58603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370F51-800C-DDC8-2863-C7DCE397B4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548AE5-D376-40BC-3A2A-B577CC120607}"/>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5" name="Footer Placeholder 4">
            <a:extLst>
              <a:ext uri="{FF2B5EF4-FFF2-40B4-BE49-F238E27FC236}">
                <a16:creationId xmlns:a16="http://schemas.microsoft.com/office/drawing/2014/main" id="{BC444C15-1920-6892-91A1-09E2C13895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8E648D-8CAF-2035-067A-4CA1B1FDA985}"/>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3432975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F4DD9C-2B51-64E0-A144-8D59DBADF6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4219AE-E9CB-87CF-5CCE-8FFFA8254E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AF2848-664F-06F2-C64E-8FB1FA1BBC4B}"/>
              </a:ext>
            </a:extLst>
          </p:cNvPr>
          <p:cNvSpPr>
            <a:spLocks noGrp="1"/>
          </p:cNvSpPr>
          <p:nvPr>
            <p:ph type="dt" sz="half" idx="10"/>
          </p:nvPr>
        </p:nvSpPr>
        <p:spPr/>
        <p:txBody>
          <a:bodyPr/>
          <a:lstStyle/>
          <a:p>
            <a:fld id="{0BB3808A-1810-41A4-A123-71CCCF672AED}" type="datetimeFigureOut">
              <a:rPr lang="en-IN" smtClean="0"/>
              <a:t>02-02-2026</a:t>
            </a:fld>
            <a:endParaRPr lang="en-IN"/>
          </a:p>
        </p:txBody>
      </p:sp>
      <p:sp>
        <p:nvSpPr>
          <p:cNvPr id="5" name="Footer Placeholder 4">
            <a:extLst>
              <a:ext uri="{FF2B5EF4-FFF2-40B4-BE49-F238E27FC236}">
                <a16:creationId xmlns:a16="http://schemas.microsoft.com/office/drawing/2014/main" id="{F9502856-FE23-1D62-E914-B80AD27B07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DA9A26-B9D0-F403-8BBC-BB0633269637}"/>
              </a:ext>
            </a:extLst>
          </p:cNvPr>
          <p:cNvSpPr>
            <a:spLocks noGrp="1"/>
          </p:cNvSpPr>
          <p:nvPr>
            <p:ph type="sldNum" sz="quarter" idx="12"/>
          </p:nvPr>
        </p:nvSpPr>
        <p:spPr/>
        <p:txBody>
          <a:bodyPr/>
          <a:lstStyle/>
          <a:p>
            <a:fld id="{83B4C810-A701-4CD4-A54E-1586AC095507}" type="slidenum">
              <a:rPr lang="en-IN" smtClean="0"/>
              <a:t>‹#›</a:t>
            </a:fld>
            <a:endParaRPr lang="en-IN"/>
          </a:p>
        </p:txBody>
      </p:sp>
    </p:spTree>
    <p:extLst>
      <p:ext uri="{BB962C8B-B14F-4D97-AF65-F5344CB8AC3E}">
        <p14:creationId xmlns:p14="http://schemas.microsoft.com/office/powerpoint/2010/main" val="490231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EB82A-C1FC-DF5D-6EA6-69CB528259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892A7A-8B39-8D85-FFF9-8D9FB0CEC9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39D4FE-46D6-B67F-D790-A3CB064D35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B3808A-1810-41A4-A123-71CCCF672AED}" type="datetimeFigureOut">
              <a:rPr lang="en-IN" smtClean="0"/>
              <a:t>02-02-2026</a:t>
            </a:fld>
            <a:endParaRPr lang="en-IN"/>
          </a:p>
        </p:txBody>
      </p:sp>
      <p:sp>
        <p:nvSpPr>
          <p:cNvPr id="5" name="Footer Placeholder 4">
            <a:extLst>
              <a:ext uri="{FF2B5EF4-FFF2-40B4-BE49-F238E27FC236}">
                <a16:creationId xmlns:a16="http://schemas.microsoft.com/office/drawing/2014/main" id="{C2F7DFC7-7B20-87A7-51D5-9519B33EEC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573B183-8AE0-A65E-99FD-AC24B0EE1D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B4C810-A701-4CD4-A54E-1586AC095507}" type="slidenum">
              <a:rPr lang="en-IN" smtClean="0"/>
              <a:t>‹#›</a:t>
            </a:fld>
            <a:endParaRPr lang="en-IN"/>
          </a:p>
        </p:txBody>
      </p:sp>
    </p:spTree>
    <p:extLst>
      <p:ext uri="{BB962C8B-B14F-4D97-AF65-F5344CB8AC3E}">
        <p14:creationId xmlns:p14="http://schemas.microsoft.com/office/powerpoint/2010/main" val="2078828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3FA1CF-5DB9-EB30-0812-85E8544471F1}"/>
              </a:ext>
            </a:extLst>
          </p:cNvPr>
          <p:cNvSpPr txBox="1">
            <a:spLocks/>
          </p:cNvSpPr>
          <p:nvPr/>
        </p:nvSpPr>
        <p:spPr>
          <a:xfrm>
            <a:off x="838200" y="75720"/>
            <a:ext cx="10515600" cy="65812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t>Generics</a:t>
            </a:r>
          </a:p>
        </p:txBody>
      </p:sp>
      <p:sp>
        <p:nvSpPr>
          <p:cNvPr id="5" name="Content Placeholder 2">
            <a:extLst>
              <a:ext uri="{FF2B5EF4-FFF2-40B4-BE49-F238E27FC236}">
                <a16:creationId xmlns:a16="http://schemas.microsoft.com/office/drawing/2014/main" id="{2A63BEAD-6C0C-AFBF-9CA0-430995A9F1D6}"/>
              </a:ext>
            </a:extLst>
          </p:cNvPr>
          <p:cNvSpPr txBox="1">
            <a:spLocks/>
          </p:cNvSpPr>
          <p:nvPr/>
        </p:nvSpPr>
        <p:spPr>
          <a:xfrm>
            <a:off x="54427" y="723910"/>
            <a:ext cx="12053109" cy="602943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sz="2000" b="1" dirty="0"/>
              <a:t>Generic Classes:</a:t>
            </a:r>
          </a:p>
          <a:p>
            <a:pPr marL="342900" indent="-342900" algn="l">
              <a:buFont typeface="Wingdings" panose="05000000000000000000" pitchFamily="2" charset="2"/>
              <a:buChar char="ü"/>
            </a:pPr>
            <a:r>
              <a:rPr lang="en-US" sz="2000" dirty="0"/>
              <a:t>In Java, Generics provides type safety at compile-time and enable the creation of flexible, reusable classes, interfaces, and methods.</a:t>
            </a:r>
          </a:p>
          <a:p>
            <a:pPr marL="342900" indent="-342900" algn="l">
              <a:buFont typeface="Wingdings" panose="05000000000000000000" pitchFamily="2" charset="2"/>
              <a:buChar char="ü"/>
            </a:pPr>
            <a:r>
              <a:rPr lang="en-US" sz="2000" dirty="0"/>
              <a:t>Due to stronger type-safety checking at compile time, this will reduce the risk of “</a:t>
            </a:r>
            <a:r>
              <a:rPr lang="en-US" sz="2000" b="1" dirty="0"/>
              <a:t>ClassCastException</a:t>
            </a:r>
            <a:r>
              <a:rPr lang="en-US" sz="2000" dirty="0"/>
              <a:t>”.</a:t>
            </a:r>
          </a:p>
          <a:p>
            <a:pPr marL="342900" indent="-342900" algn="l">
              <a:buFont typeface="Wingdings" panose="05000000000000000000" pitchFamily="2" charset="2"/>
              <a:buChar char="ü"/>
            </a:pPr>
            <a:r>
              <a:rPr lang="en-US" sz="2000" dirty="0"/>
              <a:t>Generics allow you to create classes, interfaces, and methods that operate on types specified by the caller.</a:t>
            </a:r>
          </a:p>
          <a:p>
            <a:pPr marL="342900" indent="-342900" algn="l">
              <a:buFont typeface="Wingdings" panose="05000000000000000000" pitchFamily="2" charset="2"/>
              <a:buChar char="ü"/>
            </a:pPr>
            <a:r>
              <a:rPr lang="en-US" sz="2000" dirty="0"/>
              <a:t>They provide a way to define a placeholder for types that can be specified at runtime, ensuring type safety and eliminating the need for casting.</a:t>
            </a:r>
          </a:p>
          <a:p>
            <a:pPr algn="l"/>
            <a:r>
              <a:rPr lang="en-US" sz="2000" b="1" dirty="0"/>
              <a:t>Ex: </a:t>
            </a:r>
            <a:r>
              <a:rPr lang="en-US" sz="2000" dirty="0"/>
              <a:t>public class </a:t>
            </a:r>
            <a:r>
              <a:rPr lang="en-US" sz="2000" dirty="0" err="1"/>
              <a:t>MyGenericClass</a:t>
            </a:r>
            <a:r>
              <a:rPr lang="en-US" sz="2000" dirty="0"/>
              <a:t> &lt; T, V &gt; {</a:t>
            </a:r>
          </a:p>
          <a:p>
            <a:pPr algn="l"/>
            <a:r>
              <a:rPr lang="en-US" sz="2000" dirty="0"/>
              <a:t>	T </a:t>
            </a:r>
            <a:r>
              <a:rPr lang="en-US" sz="2000" dirty="0" err="1"/>
              <a:t>fisrtParameter</a:t>
            </a:r>
            <a:r>
              <a:rPr lang="en-US" sz="2000" dirty="0"/>
              <a:t>;</a:t>
            </a:r>
          </a:p>
          <a:p>
            <a:pPr algn="l"/>
            <a:r>
              <a:rPr lang="en-US" sz="2000" dirty="0"/>
              <a:t>	V </a:t>
            </a:r>
            <a:r>
              <a:rPr lang="en-US" sz="2000" dirty="0" err="1"/>
              <a:t>secondParameter</a:t>
            </a:r>
            <a:r>
              <a:rPr lang="en-US" sz="2000" dirty="0"/>
              <a:t>;</a:t>
            </a:r>
          </a:p>
          <a:p>
            <a:pPr algn="l"/>
            <a:r>
              <a:rPr lang="en-US" sz="2000" dirty="0"/>
              <a:t>       }</a:t>
            </a:r>
          </a:p>
          <a:p>
            <a:pPr algn="l"/>
            <a:r>
              <a:rPr lang="en-US" sz="2000" dirty="0"/>
              <a:t>       public static void main(String[] </a:t>
            </a:r>
            <a:r>
              <a:rPr lang="en-US" sz="2000" dirty="0" err="1"/>
              <a:t>args</a:t>
            </a:r>
            <a:r>
              <a:rPr lang="en-US" sz="2000" dirty="0"/>
              <a:t>){</a:t>
            </a:r>
          </a:p>
          <a:p>
            <a:pPr algn="l"/>
            <a:r>
              <a:rPr lang="en-US" sz="2000" dirty="0"/>
              <a:t>	</a:t>
            </a:r>
            <a:r>
              <a:rPr lang="en-US" sz="2000" dirty="0" err="1"/>
              <a:t>MyGenericClass</a:t>
            </a:r>
            <a:r>
              <a:rPr lang="en-US" sz="2000" dirty="0"/>
              <a:t> &lt; </a:t>
            </a:r>
            <a:r>
              <a:rPr lang="en-US" sz="2000" dirty="0" err="1"/>
              <a:t>Interger</a:t>
            </a:r>
            <a:r>
              <a:rPr lang="en-US" sz="2000" dirty="0"/>
              <a:t>, String &gt; </a:t>
            </a:r>
            <a:r>
              <a:rPr lang="en-US" sz="2000" dirty="0" err="1"/>
              <a:t>myFirstGeneric</a:t>
            </a:r>
            <a:r>
              <a:rPr lang="en-US" sz="2000" dirty="0"/>
              <a:t> = new </a:t>
            </a:r>
            <a:r>
              <a:rPr lang="en-US" sz="2000" dirty="0" err="1"/>
              <a:t>MyGenericClass</a:t>
            </a:r>
            <a:r>
              <a:rPr lang="en-US" sz="2000" dirty="0"/>
              <a:t> &lt;&gt;( 123, “context” );</a:t>
            </a:r>
          </a:p>
          <a:p>
            <a:pPr algn="l"/>
            <a:r>
              <a:rPr lang="en-US" sz="2000" dirty="0"/>
              <a:t>	</a:t>
            </a:r>
            <a:r>
              <a:rPr lang="en-US" sz="2000" dirty="0" err="1"/>
              <a:t>MyGenericClass</a:t>
            </a:r>
            <a:r>
              <a:rPr lang="en-US" sz="2000" dirty="0"/>
              <a:t> &lt; String, Double &gt; </a:t>
            </a:r>
            <a:r>
              <a:rPr lang="en-US" sz="2000" dirty="0" err="1"/>
              <a:t>mySecondGeneric</a:t>
            </a:r>
            <a:r>
              <a:rPr lang="en-US" sz="2000" dirty="0"/>
              <a:t> = new </a:t>
            </a:r>
            <a:r>
              <a:rPr lang="en-US" sz="2000" dirty="0" err="1"/>
              <a:t>MyGenericClass</a:t>
            </a:r>
            <a:r>
              <a:rPr lang="en-US" sz="2000" dirty="0"/>
              <a:t> &lt;&gt;( “context”, 123.45 );</a:t>
            </a:r>
          </a:p>
          <a:p>
            <a:pPr algn="l"/>
            <a:endParaRPr lang="en-US" sz="2000" dirty="0"/>
          </a:p>
          <a:p>
            <a:pPr algn="l"/>
            <a:r>
              <a:rPr lang="en-US" sz="2000" dirty="0"/>
              <a:t>       }</a:t>
            </a:r>
          </a:p>
        </p:txBody>
      </p:sp>
    </p:spTree>
    <p:extLst>
      <p:ext uri="{BB962C8B-B14F-4D97-AF65-F5344CB8AC3E}">
        <p14:creationId xmlns:p14="http://schemas.microsoft.com/office/powerpoint/2010/main" val="793814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9C0D2EC-02AA-90C7-3BAA-9F8919AAD506}"/>
              </a:ext>
            </a:extLst>
          </p:cNvPr>
          <p:cNvSpPr txBox="1">
            <a:spLocks/>
          </p:cNvSpPr>
          <p:nvPr/>
        </p:nvSpPr>
        <p:spPr>
          <a:xfrm>
            <a:off x="0" y="197136"/>
            <a:ext cx="12053109" cy="6463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sz="2000" b="1" dirty="0"/>
              <a:t>Generic Methods:</a:t>
            </a:r>
          </a:p>
          <a:p>
            <a:pPr algn="l"/>
            <a:r>
              <a:rPr lang="en-US" sz="2000" b="1" dirty="0"/>
              <a:t>1. Static Method:</a:t>
            </a:r>
          </a:p>
          <a:p>
            <a:pPr marL="342900" indent="-342900" algn="l">
              <a:buFont typeface="Wingdings" panose="05000000000000000000" pitchFamily="2" charset="2"/>
              <a:buChar char="ü"/>
            </a:pPr>
            <a:r>
              <a:rPr lang="en-US" sz="2000" dirty="0"/>
              <a:t>In case of static methods, types will identify dynamically at the run-time.</a:t>
            </a:r>
          </a:p>
          <a:p>
            <a:pPr algn="l"/>
            <a:r>
              <a:rPr lang="en-US" sz="2000" dirty="0"/>
              <a:t>Ex: public class </a:t>
            </a:r>
            <a:r>
              <a:rPr lang="en-US" sz="2000" dirty="0" err="1"/>
              <a:t>MyGenericClass</a:t>
            </a:r>
            <a:r>
              <a:rPr lang="en-US" sz="2000" dirty="0"/>
              <a:t>&lt;T, V&gt;{</a:t>
            </a:r>
          </a:p>
          <a:p>
            <a:pPr algn="l"/>
            <a:r>
              <a:rPr lang="en-US" sz="2000" dirty="0"/>
              <a:t>	</a:t>
            </a:r>
            <a:r>
              <a:rPr lang="en-IN" sz="2000" dirty="0"/>
              <a:t>public static &lt;A,B&gt; void </a:t>
            </a:r>
            <a:r>
              <a:rPr lang="en-IN" sz="2000" dirty="0" err="1"/>
              <a:t>myGenericStaticMethod</a:t>
            </a:r>
            <a:r>
              <a:rPr lang="en-IN" sz="2000" dirty="0"/>
              <a:t>(A </a:t>
            </a:r>
            <a:r>
              <a:rPr lang="en-IN" sz="2000" dirty="0" err="1"/>
              <a:t>a</a:t>
            </a:r>
            <a:r>
              <a:rPr lang="en-IN" sz="2000" dirty="0"/>
              <a:t>, B b){</a:t>
            </a:r>
            <a:br>
              <a:rPr lang="en-IN" sz="2000" dirty="0"/>
            </a:br>
            <a:r>
              <a:rPr lang="en-IN" sz="2000" dirty="0"/>
              <a:t>    		</a:t>
            </a:r>
            <a:r>
              <a:rPr lang="en-IN" sz="2000" dirty="0" err="1"/>
              <a:t>System.</a:t>
            </a:r>
            <a:r>
              <a:rPr lang="en-IN" sz="2000" i="1" dirty="0" err="1"/>
              <a:t>out</a:t>
            </a:r>
            <a:r>
              <a:rPr lang="en-IN" sz="2000" dirty="0" err="1"/>
              <a:t>.println</a:t>
            </a:r>
            <a:r>
              <a:rPr lang="en-IN" sz="2000" dirty="0"/>
              <a:t>("Generic static method");</a:t>
            </a:r>
            <a:br>
              <a:rPr lang="en-IN" sz="2000" dirty="0"/>
            </a:br>
            <a:r>
              <a:rPr lang="en-IN" sz="2000" dirty="0"/>
              <a:t>    		</a:t>
            </a:r>
            <a:r>
              <a:rPr lang="en-IN" sz="2000" dirty="0" err="1"/>
              <a:t>System.</a:t>
            </a:r>
            <a:r>
              <a:rPr lang="en-IN" sz="2000" i="1" dirty="0" err="1"/>
              <a:t>out</a:t>
            </a:r>
            <a:r>
              <a:rPr lang="en-IN" sz="2000" dirty="0" err="1"/>
              <a:t>.println</a:t>
            </a:r>
            <a:r>
              <a:rPr lang="en-IN" sz="2000" dirty="0"/>
              <a:t>(a);</a:t>
            </a:r>
            <a:br>
              <a:rPr lang="en-IN" sz="2000" dirty="0"/>
            </a:br>
            <a:r>
              <a:rPr lang="en-IN" sz="2000" dirty="0"/>
              <a:t>    		</a:t>
            </a:r>
            <a:r>
              <a:rPr lang="en-IN" sz="2000" dirty="0" err="1"/>
              <a:t>System.</a:t>
            </a:r>
            <a:r>
              <a:rPr lang="en-IN" sz="2000" i="1" dirty="0" err="1"/>
              <a:t>out</a:t>
            </a:r>
            <a:r>
              <a:rPr lang="en-IN" sz="2000" dirty="0" err="1"/>
              <a:t>.println</a:t>
            </a:r>
            <a:r>
              <a:rPr lang="en-IN" sz="2000" dirty="0"/>
              <a:t>(b);</a:t>
            </a:r>
            <a:br>
              <a:rPr lang="en-IN" sz="2000" dirty="0"/>
            </a:br>
            <a:r>
              <a:rPr lang="en-IN" sz="2000" dirty="0"/>
              <a:t>      	}</a:t>
            </a:r>
          </a:p>
          <a:p>
            <a:pPr algn="l"/>
            <a:r>
              <a:rPr lang="en-IN" sz="2000" dirty="0"/>
              <a:t>      }</a:t>
            </a:r>
          </a:p>
          <a:p>
            <a:pPr algn="l"/>
            <a:r>
              <a:rPr lang="en-IN" sz="2000" dirty="0"/>
              <a:t>      public static void main(String[] </a:t>
            </a:r>
            <a:r>
              <a:rPr lang="en-IN" sz="2000" dirty="0" err="1"/>
              <a:t>agrs</a:t>
            </a:r>
            <a:r>
              <a:rPr lang="en-IN" sz="2000" dirty="0"/>
              <a:t>){</a:t>
            </a:r>
          </a:p>
          <a:p>
            <a:pPr algn="l"/>
            <a:r>
              <a:rPr lang="en-IN" sz="2000" dirty="0"/>
              <a:t>	</a:t>
            </a:r>
            <a:r>
              <a:rPr lang="en-IN" sz="2000" dirty="0" err="1"/>
              <a:t>MyGenericClass.myGenericStaticMethod</a:t>
            </a:r>
            <a:r>
              <a:rPr lang="en-IN" sz="2000" dirty="0"/>
              <a:t>(123, “context”);</a:t>
            </a:r>
          </a:p>
          <a:p>
            <a:pPr algn="l"/>
            <a:r>
              <a:rPr lang="en-IN" sz="2000" dirty="0"/>
              <a:t>	</a:t>
            </a:r>
            <a:r>
              <a:rPr lang="en-IN" sz="2000" dirty="0" err="1"/>
              <a:t>MyGenericClass.myGenericStaticMethod</a:t>
            </a:r>
            <a:r>
              <a:rPr lang="en-IN" sz="2000" dirty="0"/>
              <a:t>(“context”, 123);</a:t>
            </a:r>
          </a:p>
          <a:p>
            <a:pPr algn="l"/>
            <a:r>
              <a:rPr lang="en-IN" sz="2000" dirty="0"/>
              <a:t>	</a:t>
            </a:r>
            <a:r>
              <a:rPr lang="en-IN" sz="2000" dirty="0" err="1"/>
              <a:t>MyGenericClass.myGenericStaticMethod</a:t>
            </a:r>
            <a:r>
              <a:rPr lang="en-IN" sz="2000" dirty="0"/>
              <a:t>(123.45, false);</a:t>
            </a:r>
          </a:p>
          <a:p>
            <a:pPr algn="l"/>
            <a:r>
              <a:rPr lang="en-IN" sz="2000" dirty="0"/>
              <a:t>      }</a:t>
            </a:r>
          </a:p>
          <a:p>
            <a:pPr algn="l"/>
            <a:endParaRPr lang="en-US" sz="2000" dirty="0"/>
          </a:p>
        </p:txBody>
      </p:sp>
    </p:spTree>
    <p:extLst>
      <p:ext uri="{BB962C8B-B14F-4D97-AF65-F5344CB8AC3E}">
        <p14:creationId xmlns:p14="http://schemas.microsoft.com/office/powerpoint/2010/main" val="117563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977ED7C3-C4F6-5528-ED00-8DB7DA50BFC0}"/>
              </a:ext>
            </a:extLst>
          </p:cNvPr>
          <p:cNvSpPr txBox="1">
            <a:spLocks/>
          </p:cNvSpPr>
          <p:nvPr/>
        </p:nvSpPr>
        <p:spPr>
          <a:xfrm>
            <a:off x="0" y="197136"/>
            <a:ext cx="12053109" cy="6463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a:t>2. Instance Method:</a:t>
            </a:r>
          </a:p>
          <a:p>
            <a:pPr marL="342900" indent="-342900" algn="l">
              <a:buFont typeface="Wingdings" panose="05000000000000000000" pitchFamily="2" charset="2"/>
              <a:buChar char="ü"/>
            </a:pPr>
            <a:r>
              <a:rPr lang="en-US" sz="2000" dirty="0"/>
              <a:t>In case of instance methods, types will identify dynamically at the time of object creation.</a:t>
            </a:r>
          </a:p>
          <a:p>
            <a:pPr algn="l"/>
            <a:r>
              <a:rPr lang="en-US" sz="2000" dirty="0"/>
              <a:t>Ex: public class </a:t>
            </a:r>
            <a:r>
              <a:rPr lang="en-US" sz="2000" dirty="0" err="1"/>
              <a:t>MyGenericClass</a:t>
            </a:r>
            <a:r>
              <a:rPr lang="en-US" sz="2000" dirty="0"/>
              <a:t>&lt;T, V&gt;{</a:t>
            </a:r>
          </a:p>
          <a:p>
            <a:pPr algn="l"/>
            <a:r>
              <a:rPr lang="en-US" sz="2000" dirty="0"/>
              <a:t>	</a:t>
            </a:r>
            <a:r>
              <a:rPr lang="en-IN" sz="2000" dirty="0"/>
              <a:t>public &lt;T, V&gt; void </a:t>
            </a:r>
            <a:r>
              <a:rPr lang="en-IN" sz="2000" dirty="0" err="1"/>
              <a:t>myGenericMethod</a:t>
            </a:r>
            <a:r>
              <a:rPr lang="en-IN" sz="2000" dirty="0"/>
              <a:t>(T t, V v){</a:t>
            </a:r>
            <a:br>
              <a:rPr lang="en-IN" sz="2000" dirty="0"/>
            </a:br>
            <a:r>
              <a:rPr lang="en-IN" sz="2000" dirty="0"/>
              <a:t>    		</a:t>
            </a:r>
            <a:r>
              <a:rPr lang="en-IN" sz="2000" dirty="0" err="1"/>
              <a:t>System.</a:t>
            </a:r>
            <a:r>
              <a:rPr lang="en-IN" sz="2000" i="1" dirty="0" err="1"/>
              <a:t>out</a:t>
            </a:r>
            <a:r>
              <a:rPr lang="en-IN" sz="2000" dirty="0" err="1"/>
              <a:t>.println</a:t>
            </a:r>
            <a:r>
              <a:rPr lang="en-IN" sz="2000" dirty="0"/>
              <a:t>("Generic instance method");</a:t>
            </a:r>
            <a:br>
              <a:rPr lang="en-IN" sz="2000" dirty="0"/>
            </a:br>
            <a:r>
              <a:rPr lang="en-IN" sz="2000" dirty="0"/>
              <a:t>    		</a:t>
            </a:r>
            <a:r>
              <a:rPr lang="en-IN" sz="2000" dirty="0" err="1"/>
              <a:t>System.</a:t>
            </a:r>
            <a:r>
              <a:rPr lang="en-IN" sz="2000" i="1" dirty="0" err="1"/>
              <a:t>out</a:t>
            </a:r>
            <a:r>
              <a:rPr lang="en-IN" sz="2000" dirty="0" err="1"/>
              <a:t>.println</a:t>
            </a:r>
            <a:r>
              <a:rPr lang="en-IN" sz="2000" dirty="0"/>
              <a:t>(t);</a:t>
            </a:r>
            <a:br>
              <a:rPr lang="en-IN" sz="2000" dirty="0"/>
            </a:br>
            <a:r>
              <a:rPr lang="en-IN" sz="2000" dirty="0"/>
              <a:t>    		</a:t>
            </a:r>
            <a:r>
              <a:rPr lang="en-IN" sz="2000" dirty="0" err="1"/>
              <a:t>System.</a:t>
            </a:r>
            <a:r>
              <a:rPr lang="en-IN" sz="2000" i="1" dirty="0" err="1"/>
              <a:t>out</a:t>
            </a:r>
            <a:r>
              <a:rPr lang="en-IN" sz="2000" dirty="0" err="1"/>
              <a:t>.println</a:t>
            </a:r>
            <a:r>
              <a:rPr lang="en-IN" sz="2000" dirty="0"/>
              <a:t>(v);</a:t>
            </a:r>
            <a:br>
              <a:rPr lang="en-IN" sz="2000" dirty="0"/>
            </a:br>
            <a:r>
              <a:rPr lang="en-IN" sz="2000" dirty="0"/>
              <a:t>      	}</a:t>
            </a:r>
          </a:p>
          <a:p>
            <a:pPr algn="l"/>
            <a:r>
              <a:rPr lang="en-IN" sz="2000" dirty="0"/>
              <a:t>      }</a:t>
            </a:r>
          </a:p>
          <a:p>
            <a:pPr algn="l"/>
            <a:r>
              <a:rPr lang="en-IN" sz="2000" dirty="0"/>
              <a:t>      public static void main(String[] </a:t>
            </a:r>
            <a:r>
              <a:rPr lang="en-IN" sz="2000" dirty="0" err="1"/>
              <a:t>agrs</a:t>
            </a:r>
            <a:r>
              <a:rPr lang="en-IN" sz="2000" dirty="0"/>
              <a:t>){</a:t>
            </a:r>
          </a:p>
          <a:p>
            <a:pPr algn="l"/>
            <a:r>
              <a:rPr lang="en-IN" sz="2000" dirty="0"/>
              <a:t>	</a:t>
            </a:r>
            <a:r>
              <a:rPr lang="en-IN" sz="2000" dirty="0" err="1"/>
              <a:t>MyGenericClass</a:t>
            </a:r>
            <a:r>
              <a:rPr lang="en-IN" sz="2000" dirty="0"/>
              <a:t>&lt;Integer, String&gt; </a:t>
            </a:r>
            <a:r>
              <a:rPr lang="en-IN" sz="2000" dirty="0" err="1"/>
              <a:t>myGenericClass</a:t>
            </a:r>
            <a:r>
              <a:rPr lang="en-IN" sz="2000" dirty="0"/>
              <a:t> = new </a:t>
            </a:r>
            <a:r>
              <a:rPr lang="en-IN" sz="2000" dirty="0" err="1"/>
              <a:t>MyGenericClass</a:t>
            </a:r>
            <a:r>
              <a:rPr lang="en-IN" sz="2000" dirty="0"/>
              <a:t>&lt;&gt;();</a:t>
            </a:r>
          </a:p>
          <a:p>
            <a:pPr algn="l"/>
            <a:r>
              <a:rPr lang="en-IN" sz="2000" dirty="0"/>
              <a:t>	</a:t>
            </a:r>
            <a:r>
              <a:rPr lang="en-IN" sz="2000" dirty="0" err="1"/>
              <a:t>myGenericClass.myGenericMethod</a:t>
            </a:r>
            <a:r>
              <a:rPr lang="en-IN" sz="2000" dirty="0"/>
              <a:t>(123, “context”);</a:t>
            </a:r>
          </a:p>
          <a:p>
            <a:pPr algn="l"/>
            <a:r>
              <a:rPr lang="en-IN" sz="2000" dirty="0"/>
              <a:t>	</a:t>
            </a:r>
            <a:r>
              <a:rPr lang="en-US" sz="2000" dirty="0"/>
              <a:t>// The below call will show us the compile-time error as the type are mismatch.</a:t>
            </a:r>
            <a:endParaRPr lang="en-IN" sz="2000" dirty="0"/>
          </a:p>
          <a:p>
            <a:pPr algn="l"/>
            <a:r>
              <a:rPr lang="en-IN" sz="2000" dirty="0"/>
              <a:t>	</a:t>
            </a:r>
            <a:r>
              <a:rPr lang="en-IN" sz="2000" dirty="0" err="1"/>
              <a:t>myGenericClass.myGenericMethod</a:t>
            </a:r>
            <a:r>
              <a:rPr lang="en-IN" sz="2000" dirty="0"/>
              <a:t>(“context”, 123);</a:t>
            </a:r>
          </a:p>
          <a:p>
            <a:pPr algn="l"/>
            <a:r>
              <a:rPr lang="en-IN" sz="2000" dirty="0"/>
              <a:t>      }</a:t>
            </a:r>
          </a:p>
          <a:p>
            <a:pPr algn="l"/>
            <a:endParaRPr lang="en-US" sz="2000" dirty="0"/>
          </a:p>
        </p:txBody>
      </p:sp>
    </p:spTree>
    <p:extLst>
      <p:ext uri="{BB962C8B-B14F-4D97-AF65-F5344CB8AC3E}">
        <p14:creationId xmlns:p14="http://schemas.microsoft.com/office/powerpoint/2010/main" val="3241076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775E10F-6A4F-EC4E-DDC8-28941DE25700}"/>
              </a:ext>
            </a:extLst>
          </p:cNvPr>
          <p:cNvSpPr txBox="1">
            <a:spLocks/>
          </p:cNvSpPr>
          <p:nvPr/>
        </p:nvSpPr>
        <p:spPr>
          <a:xfrm>
            <a:off x="0" y="197136"/>
            <a:ext cx="12053109" cy="6463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sz="2000" b="1" dirty="0"/>
              <a:t>Generics and Inheritance (Upper Bound and Lower Bound):</a:t>
            </a:r>
          </a:p>
          <a:p>
            <a:pPr marL="342900" indent="-342900" algn="l">
              <a:buFont typeface="Wingdings" panose="05000000000000000000" pitchFamily="2" charset="2"/>
              <a:buChar char="ü"/>
            </a:pPr>
            <a:r>
              <a:rPr lang="en-US" sz="2000" dirty="0"/>
              <a:t>Sometimes, you want to restrict the types that can be used as type arguments. This is where bounded type parameters come into play. Bounded type parameters in Java generics allow you to specify constraints on the types that can be used as arguments for a type parameter.</a:t>
            </a:r>
          </a:p>
          <a:p>
            <a:pPr algn="l"/>
            <a:r>
              <a:rPr lang="en-US" sz="2000" b="1" dirty="0"/>
              <a:t>Ex: </a:t>
            </a:r>
            <a:r>
              <a:rPr lang="en-US" sz="2000" dirty="0"/>
              <a:t>class Animal{}</a:t>
            </a:r>
          </a:p>
          <a:p>
            <a:pPr algn="l"/>
            <a:r>
              <a:rPr lang="en-US" sz="2000" b="1" dirty="0"/>
              <a:t>      </a:t>
            </a:r>
            <a:r>
              <a:rPr lang="en-US" sz="2000" dirty="0"/>
              <a:t>class Dog extends Animal{</a:t>
            </a:r>
          </a:p>
          <a:p>
            <a:pPr algn="l"/>
            <a:r>
              <a:rPr lang="en-US" sz="2000" dirty="0"/>
              <a:t>      	</a:t>
            </a:r>
            <a:r>
              <a:rPr lang="en-US" sz="2000" dirty="0" err="1"/>
              <a:t>doSomething</a:t>
            </a:r>
            <a:r>
              <a:rPr lang="en-US" sz="2000" dirty="0"/>
              <a:t>(List&lt;Animal&gt; dogs){}</a:t>
            </a:r>
          </a:p>
          <a:p>
            <a:pPr algn="l"/>
            <a:r>
              <a:rPr lang="en-US" sz="2000" dirty="0"/>
              <a:t>      }</a:t>
            </a:r>
          </a:p>
          <a:p>
            <a:pPr algn="l"/>
            <a:r>
              <a:rPr lang="en-US" sz="2000" b="1" dirty="0"/>
              <a:t>      </a:t>
            </a:r>
            <a:r>
              <a:rPr lang="en-US" sz="2000" dirty="0" err="1"/>
              <a:t>psvm</a:t>
            </a:r>
            <a:r>
              <a:rPr lang="en-US" sz="2000" dirty="0"/>
              <a:t>(String[] </a:t>
            </a:r>
            <a:r>
              <a:rPr lang="en-US" sz="2000" dirty="0" err="1"/>
              <a:t>agrs</a:t>
            </a:r>
            <a:r>
              <a:rPr lang="en-US" sz="2000" dirty="0"/>
              <a:t>){</a:t>
            </a:r>
          </a:p>
          <a:p>
            <a:pPr algn="l"/>
            <a:r>
              <a:rPr lang="en-US" sz="2000" dirty="0"/>
              <a:t>	List&lt;Dog&gt; dogs = new </a:t>
            </a:r>
            <a:r>
              <a:rPr lang="en-US" sz="2000" dirty="0" err="1"/>
              <a:t>ArrayList</a:t>
            </a:r>
            <a:r>
              <a:rPr lang="en-US" sz="2000" dirty="0"/>
              <a:t>&lt;&gt;();</a:t>
            </a:r>
          </a:p>
          <a:p>
            <a:pPr algn="l"/>
            <a:r>
              <a:rPr lang="en-US" sz="2000" b="1" dirty="0"/>
              <a:t>	</a:t>
            </a:r>
            <a:r>
              <a:rPr lang="en-US" sz="2000" dirty="0" err="1"/>
              <a:t>doSomething</a:t>
            </a:r>
            <a:r>
              <a:rPr lang="en-US" sz="2000" dirty="0"/>
              <a:t>(dogs){} // This doesn’t work</a:t>
            </a:r>
          </a:p>
          <a:p>
            <a:pPr algn="l"/>
            <a:r>
              <a:rPr lang="en-US" sz="2000" b="1" dirty="0"/>
              <a:t>      </a:t>
            </a:r>
            <a:r>
              <a:rPr lang="en-US" sz="2000" dirty="0"/>
              <a:t>}</a:t>
            </a:r>
          </a:p>
          <a:p>
            <a:pPr marL="342900" indent="-342900" algn="l">
              <a:buFont typeface="Wingdings" panose="05000000000000000000" pitchFamily="2" charset="2"/>
              <a:buChar char="ü"/>
            </a:pPr>
            <a:r>
              <a:rPr lang="en-US" sz="2000" dirty="0"/>
              <a:t>In-order to fix the above issue we need to leverage upper bound and lower bound parameters.</a:t>
            </a:r>
          </a:p>
          <a:p>
            <a:pPr marL="342900" indent="-342900" algn="l">
              <a:buFont typeface="Wingdings" panose="05000000000000000000" pitchFamily="2" charset="2"/>
              <a:buChar char="ü"/>
            </a:pPr>
            <a:r>
              <a:rPr lang="en-US" sz="2000" dirty="0"/>
              <a:t>We can specify an upper bound using the </a:t>
            </a:r>
            <a:r>
              <a:rPr lang="en-US" sz="2000" b="1" dirty="0"/>
              <a:t>extends</a:t>
            </a:r>
            <a:r>
              <a:rPr lang="en-US" sz="2000" dirty="0"/>
              <a:t> keyword, which means that the type parameter must be a subtype of a specific class or implement a specific interface.</a:t>
            </a:r>
          </a:p>
          <a:p>
            <a:pPr marL="342900" indent="-342900" algn="l">
              <a:buFont typeface="Wingdings" panose="05000000000000000000" pitchFamily="2" charset="2"/>
              <a:buChar char="ü"/>
            </a:pPr>
            <a:r>
              <a:rPr lang="en-US" sz="2000" dirty="0"/>
              <a:t>Similarly, a lower bounded wildcard allows you to specify that a type must be a supertype of a specified class. It uses the super keyword.</a:t>
            </a:r>
          </a:p>
        </p:txBody>
      </p:sp>
    </p:spTree>
    <p:extLst>
      <p:ext uri="{BB962C8B-B14F-4D97-AF65-F5344CB8AC3E}">
        <p14:creationId xmlns:p14="http://schemas.microsoft.com/office/powerpoint/2010/main" val="1096226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C93DA-1ACE-E665-1CE1-464ADBB4EBA1}"/>
              </a:ext>
            </a:extLst>
          </p:cNvPr>
          <p:cNvSpPr txBox="1">
            <a:spLocks/>
          </p:cNvSpPr>
          <p:nvPr/>
        </p:nvSpPr>
        <p:spPr>
          <a:xfrm>
            <a:off x="0" y="197136"/>
            <a:ext cx="12053109" cy="646372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a:t>Upper Bound Example:</a:t>
            </a:r>
          </a:p>
          <a:p>
            <a:pPr algn="l"/>
            <a:r>
              <a:rPr lang="en-US" sz="1800" dirty="0"/>
              <a:t>class Animal{}</a:t>
            </a:r>
          </a:p>
          <a:p>
            <a:pPr algn="l"/>
            <a:r>
              <a:rPr lang="en-US" sz="1800" b="1" dirty="0"/>
              <a:t>      </a:t>
            </a:r>
            <a:r>
              <a:rPr lang="en-US" sz="1800" dirty="0"/>
              <a:t>class Dog extends Animal{</a:t>
            </a:r>
          </a:p>
          <a:p>
            <a:pPr algn="l"/>
            <a:r>
              <a:rPr lang="en-US" sz="1800" dirty="0"/>
              <a:t>      	</a:t>
            </a:r>
            <a:r>
              <a:rPr lang="en-US" sz="1800" dirty="0" err="1"/>
              <a:t>doSomething</a:t>
            </a:r>
            <a:r>
              <a:rPr lang="en-US" sz="1800" dirty="0"/>
              <a:t>(List&lt; ? extends Animal &gt; dogs){}</a:t>
            </a:r>
          </a:p>
          <a:p>
            <a:pPr algn="l"/>
            <a:r>
              <a:rPr lang="en-US" sz="1800" dirty="0"/>
              <a:t>      }</a:t>
            </a:r>
          </a:p>
          <a:p>
            <a:pPr algn="l"/>
            <a:r>
              <a:rPr lang="en-US" sz="1800" b="1" dirty="0"/>
              <a:t>      </a:t>
            </a:r>
            <a:r>
              <a:rPr lang="en-US" sz="1800" dirty="0" err="1"/>
              <a:t>psvm</a:t>
            </a:r>
            <a:r>
              <a:rPr lang="en-US" sz="1800" dirty="0"/>
              <a:t>(String[] </a:t>
            </a:r>
            <a:r>
              <a:rPr lang="en-US" sz="1800" dirty="0" err="1"/>
              <a:t>agrs</a:t>
            </a:r>
            <a:r>
              <a:rPr lang="en-US" sz="1800" dirty="0"/>
              <a:t>){</a:t>
            </a:r>
          </a:p>
          <a:p>
            <a:pPr algn="l"/>
            <a:r>
              <a:rPr lang="en-US" sz="1800" dirty="0"/>
              <a:t>	List&lt;Dog&gt; dogs = new </a:t>
            </a:r>
            <a:r>
              <a:rPr lang="en-US" sz="1800" dirty="0" err="1"/>
              <a:t>ArrayList</a:t>
            </a:r>
            <a:r>
              <a:rPr lang="en-US" sz="1800" dirty="0"/>
              <a:t>&lt;&gt;();</a:t>
            </a:r>
          </a:p>
          <a:p>
            <a:pPr algn="l"/>
            <a:r>
              <a:rPr lang="en-US" sz="1800" b="1" dirty="0"/>
              <a:t>	</a:t>
            </a:r>
            <a:r>
              <a:rPr lang="en-US" sz="1800" dirty="0" err="1"/>
              <a:t>doSomething</a:t>
            </a:r>
            <a:r>
              <a:rPr lang="en-US" sz="1800" dirty="0"/>
              <a:t>(dogs){} // This will work now, and we can pass any list of objects which are extended Animal class.</a:t>
            </a:r>
          </a:p>
          <a:p>
            <a:pPr algn="l"/>
            <a:r>
              <a:rPr lang="en-US" sz="1800" dirty="0"/>
              <a:t>}</a:t>
            </a:r>
          </a:p>
          <a:p>
            <a:pPr algn="l"/>
            <a:r>
              <a:rPr lang="en-US" sz="2000" b="1" dirty="0"/>
              <a:t>Lower Bound Example:</a:t>
            </a:r>
          </a:p>
          <a:p>
            <a:pPr algn="l"/>
            <a:r>
              <a:rPr lang="en-US" sz="1800" dirty="0"/>
              <a:t>class Animal{}</a:t>
            </a:r>
          </a:p>
          <a:p>
            <a:pPr algn="l"/>
            <a:r>
              <a:rPr lang="en-US" sz="1800" b="1" dirty="0"/>
              <a:t>      </a:t>
            </a:r>
            <a:r>
              <a:rPr lang="en-US" sz="1800" dirty="0"/>
              <a:t>class Dog extends Animal{</a:t>
            </a:r>
          </a:p>
          <a:p>
            <a:pPr algn="l"/>
            <a:r>
              <a:rPr lang="en-US" sz="1800" dirty="0"/>
              <a:t>      	</a:t>
            </a:r>
            <a:r>
              <a:rPr lang="en-US" sz="1800" dirty="0" err="1"/>
              <a:t>doSomething</a:t>
            </a:r>
            <a:r>
              <a:rPr lang="en-US" sz="1800" dirty="0"/>
              <a:t>(List&lt; ? Super Dog &gt; dogs){}</a:t>
            </a:r>
          </a:p>
          <a:p>
            <a:pPr algn="l"/>
            <a:r>
              <a:rPr lang="en-US" sz="1800" dirty="0"/>
              <a:t>      }</a:t>
            </a:r>
          </a:p>
          <a:p>
            <a:pPr algn="l"/>
            <a:r>
              <a:rPr lang="en-US" sz="1800" b="1" dirty="0"/>
              <a:t>      </a:t>
            </a:r>
            <a:r>
              <a:rPr lang="en-US" sz="1800" dirty="0" err="1"/>
              <a:t>psvm</a:t>
            </a:r>
            <a:r>
              <a:rPr lang="en-US" sz="1800" dirty="0"/>
              <a:t>(String[] </a:t>
            </a:r>
            <a:r>
              <a:rPr lang="en-US" sz="1800" dirty="0" err="1"/>
              <a:t>agrs</a:t>
            </a:r>
            <a:r>
              <a:rPr lang="en-US" sz="1800" dirty="0"/>
              <a:t>){</a:t>
            </a:r>
          </a:p>
          <a:p>
            <a:pPr algn="l"/>
            <a:r>
              <a:rPr lang="en-US" sz="1800" dirty="0"/>
              <a:t>	List&lt;Animal&gt; animals = new </a:t>
            </a:r>
            <a:r>
              <a:rPr lang="en-US" sz="1800" dirty="0" err="1"/>
              <a:t>ArrayList</a:t>
            </a:r>
            <a:r>
              <a:rPr lang="en-US" sz="1800" dirty="0"/>
              <a:t>&lt;&gt;();</a:t>
            </a:r>
          </a:p>
          <a:p>
            <a:pPr algn="l"/>
            <a:r>
              <a:rPr lang="en-US" sz="1800" b="1" dirty="0"/>
              <a:t>	</a:t>
            </a:r>
            <a:r>
              <a:rPr lang="en-US" sz="1800" dirty="0" err="1"/>
              <a:t>doSomething</a:t>
            </a:r>
            <a:r>
              <a:rPr lang="en-US" sz="1800" dirty="0"/>
              <a:t>(animals){} // This will work now, and we can pass any list of objects which are super classes of Dog class.</a:t>
            </a:r>
          </a:p>
          <a:p>
            <a:pPr algn="l"/>
            <a:r>
              <a:rPr lang="en-US" sz="1800" dirty="0"/>
              <a:t>}</a:t>
            </a:r>
          </a:p>
          <a:p>
            <a:pPr algn="l"/>
            <a:endParaRPr lang="en-US" sz="1800" dirty="0"/>
          </a:p>
          <a:p>
            <a:pPr algn="l"/>
            <a:endParaRPr lang="en-US" sz="2000" b="1" dirty="0"/>
          </a:p>
          <a:p>
            <a:pPr algn="l"/>
            <a:endParaRPr lang="en-US" sz="2000" dirty="0"/>
          </a:p>
        </p:txBody>
      </p:sp>
    </p:spTree>
    <p:extLst>
      <p:ext uri="{BB962C8B-B14F-4D97-AF65-F5344CB8AC3E}">
        <p14:creationId xmlns:p14="http://schemas.microsoft.com/office/powerpoint/2010/main" val="309542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2BABC8A-4ABC-3C27-3728-9B4F58D522E2}"/>
              </a:ext>
            </a:extLst>
          </p:cNvPr>
          <p:cNvSpPr txBox="1">
            <a:spLocks/>
          </p:cNvSpPr>
          <p:nvPr/>
        </p:nvSpPr>
        <p:spPr>
          <a:xfrm>
            <a:off x="0" y="197136"/>
            <a:ext cx="12053109" cy="6463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2000" dirty="0"/>
          </a:p>
        </p:txBody>
      </p:sp>
      <p:sp>
        <p:nvSpPr>
          <p:cNvPr id="3" name="Content Placeholder 2">
            <a:extLst>
              <a:ext uri="{FF2B5EF4-FFF2-40B4-BE49-F238E27FC236}">
                <a16:creationId xmlns:a16="http://schemas.microsoft.com/office/drawing/2014/main" id="{E6F8422C-D41A-38DF-FB40-AB86AB7FDBBE}"/>
              </a:ext>
            </a:extLst>
          </p:cNvPr>
          <p:cNvSpPr txBox="1">
            <a:spLocks/>
          </p:cNvSpPr>
          <p:nvPr/>
        </p:nvSpPr>
        <p:spPr>
          <a:xfrm>
            <a:off x="69445" y="197136"/>
            <a:ext cx="12053109" cy="64637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err="1"/>
              <a:t>UnBounded</a:t>
            </a:r>
            <a:r>
              <a:rPr lang="en-US" sz="2000" b="1" dirty="0"/>
              <a:t> Example:</a:t>
            </a:r>
          </a:p>
          <a:p>
            <a:pPr algn="l"/>
            <a:r>
              <a:rPr lang="en-US" sz="1800" dirty="0"/>
              <a:t>class </a:t>
            </a:r>
            <a:r>
              <a:rPr lang="en-US" sz="1800" dirty="0" err="1"/>
              <a:t>UnboundedClass</a:t>
            </a:r>
            <a:r>
              <a:rPr lang="en-US" sz="1800" dirty="0"/>
              <a:t>{</a:t>
            </a:r>
          </a:p>
          <a:p>
            <a:pPr algn="l"/>
            <a:r>
              <a:rPr lang="en-US" sz="1800" dirty="0"/>
              <a:t>	static void </a:t>
            </a:r>
            <a:r>
              <a:rPr lang="en-US" sz="1800" dirty="0" err="1"/>
              <a:t>doSomething</a:t>
            </a:r>
            <a:r>
              <a:rPr lang="en-US" sz="1800" dirty="0"/>
              <a:t>(List&lt;?&gt; dogs){}</a:t>
            </a:r>
          </a:p>
          <a:p>
            <a:pPr algn="l"/>
            <a:endParaRPr lang="en-US" sz="1800" dirty="0"/>
          </a:p>
          <a:p>
            <a:pPr algn="l"/>
            <a:r>
              <a:rPr lang="en-US" sz="1800" dirty="0"/>
              <a:t>}</a:t>
            </a:r>
          </a:p>
          <a:p>
            <a:pPr algn="l"/>
            <a:r>
              <a:rPr lang="en-US" sz="1800" dirty="0" err="1"/>
              <a:t>psvm</a:t>
            </a:r>
            <a:r>
              <a:rPr lang="en-US" sz="1800" dirty="0"/>
              <a:t>(String[] </a:t>
            </a:r>
            <a:r>
              <a:rPr lang="en-US" sz="1800" dirty="0" err="1"/>
              <a:t>agrs</a:t>
            </a:r>
            <a:r>
              <a:rPr lang="en-US" sz="1800" dirty="0"/>
              <a:t>){</a:t>
            </a:r>
          </a:p>
          <a:p>
            <a:pPr algn="l"/>
            <a:r>
              <a:rPr lang="en-US" sz="1800" dirty="0"/>
              <a:t>	List&lt;Dog&gt; dogs = new </a:t>
            </a:r>
            <a:r>
              <a:rPr lang="en-US" sz="1800" dirty="0" err="1"/>
              <a:t>ArrayList</a:t>
            </a:r>
            <a:r>
              <a:rPr lang="en-US" sz="1800" dirty="0"/>
              <a:t>&lt;&gt;();</a:t>
            </a:r>
          </a:p>
          <a:p>
            <a:pPr algn="l"/>
            <a:r>
              <a:rPr lang="en-US" sz="1800" dirty="0"/>
              <a:t>	List&lt;Cat&gt; cats = new </a:t>
            </a:r>
            <a:r>
              <a:rPr lang="en-US" sz="1800" dirty="0" err="1"/>
              <a:t>ArrayList</a:t>
            </a:r>
            <a:r>
              <a:rPr lang="en-US" sz="1800" dirty="0"/>
              <a:t>&lt;&gt;();</a:t>
            </a:r>
          </a:p>
          <a:p>
            <a:pPr algn="l"/>
            <a:r>
              <a:rPr lang="en-US" sz="1800" b="1" dirty="0"/>
              <a:t>	</a:t>
            </a:r>
            <a:r>
              <a:rPr lang="en-US" sz="1800" dirty="0" err="1"/>
              <a:t>doSomething</a:t>
            </a:r>
            <a:r>
              <a:rPr lang="en-US" sz="1800" dirty="0"/>
              <a:t>(dogs){} // This will work now, and we can pass any list of objects.</a:t>
            </a:r>
          </a:p>
          <a:p>
            <a:pPr algn="l"/>
            <a:r>
              <a:rPr lang="en-US" sz="1800" dirty="0"/>
              <a:t>}</a:t>
            </a:r>
          </a:p>
          <a:p>
            <a:pPr marL="285750" indent="-285750" algn="l">
              <a:buFont typeface="Wingdings" panose="05000000000000000000" pitchFamily="2" charset="2"/>
              <a:buChar char="v"/>
            </a:pPr>
            <a:r>
              <a:rPr lang="en-US" sz="1800" b="1" dirty="0"/>
              <a:t>Key Constraints of Generics in Java:</a:t>
            </a:r>
          </a:p>
          <a:p>
            <a:pPr marL="342900" indent="-342900" algn="l">
              <a:buFont typeface="Wingdings" panose="05000000000000000000" pitchFamily="2" charset="2"/>
              <a:buChar char="ü"/>
            </a:pPr>
            <a:r>
              <a:rPr lang="en-US" sz="1800" dirty="0"/>
              <a:t>Generics work only with reference types, not with primitive types. To use primitive types with generics, we need to use their corresponding wrapper classes (such as `Integer`, `Character`, `Double`, etc.).</a:t>
            </a:r>
          </a:p>
          <a:p>
            <a:pPr marL="285750" indent="-285750" algn="l">
              <a:buFont typeface="Wingdings" panose="05000000000000000000" pitchFamily="2" charset="2"/>
              <a:buChar char="v"/>
            </a:pPr>
            <a:r>
              <a:rPr lang="en-US" sz="1800" b="1" dirty="0"/>
              <a:t>Type Eraser:</a:t>
            </a:r>
          </a:p>
          <a:p>
            <a:pPr marL="285750" indent="-285750" algn="l">
              <a:buFont typeface="Wingdings" panose="05000000000000000000" pitchFamily="2" charset="2"/>
              <a:buChar char="ü"/>
            </a:pPr>
            <a:r>
              <a:rPr lang="en-US" sz="1800" dirty="0"/>
              <a:t>During compilation, type parameters are erased and replaced with their bounds or `Object` if no bounds are specified.</a:t>
            </a:r>
          </a:p>
          <a:p>
            <a:pPr marL="285750" indent="-285750" algn="l">
              <a:buFont typeface="Wingdings" panose="05000000000000000000" pitchFamily="2" charset="2"/>
              <a:buChar char="ü"/>
            </a:pPr>
            <a:r>
              <a:rPr lang="en-US" sz="1800" dirty="0"/>
              <a:t>Since generic type information is erased, you cannot use `</a:t>
            </a:r>
            <a:r>
              <a:rPr lang="en-US" sz="1800" dirty="0" err="1"/>
              <a:t>instanceof</a:t>
            </a:r>
            <a:r>
              <a:rPr lang="en-US" sz="1800" dirty="0"/>
              <a:t>` with parameterized types.</a:t>
            </a:r>
            <a:endParaRPr lang="en-US" sz="1800" b="1" dirty="0"/>
          </a:p>
          <a:p>
            <a:pPr marL="342900" indent="-342900" algn="l">
              <a:buFont typeface="Wingdings" panose="05000000000000000000" pitchFamily="2" charset="2"/>
              <a:buChar char="ü"/>
            </a:pPr>
            <a:endParaRPr lang="en-US" sz="2000" b="1" dirty="0"/>
          </a:p>
          <a:p>
            <a:pPr algn="l"/>
            <a:endParaRPr lang="en-US" sz="2000" dirty="0"/>
          </a:p>
          <a:p>
            <a:pPr marL="342900" indent="-342900" algn="l">
              <a:buFont typeface="Wingdings" panose="05000000000000000000" pitchFamily="2" charset="2"/>
              <a:buChar char="ü"/>
            </a:pPr>
            <a:endParaRPr lang="en-US" sz="2000" dirty="0"/>
          </a:p>
          <a:p>
            <a:pPr algn="l"/>
            <a:endParaRPr lang="en-US" sz="2000" dirty="0"/>
          </a:p>
        </p:txBody>
      </p:sp>
    </p:spTree>
    <p:extLst>
      <p:ext uri="{BB962C8B-B14F-4D97-AF65-F5344CB8AC3E}">
        <p14:creationId xmlns:p14="http://schemas.microsoft.com/office/powerpoint/2010/main" val="36556133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929</Words>
  <Application>Microsoft Office PowerPoint</Application>
  <PresentationFormat>Widescreen</PresentationFormat>
  <Paragraphs>86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Vardhan Reddy Veeram</dc:creator>
  <cp:lastModifiedBy>Vishnu Vardhan Reddy Veeram</cp:lastModifiedBy>
  <cp:revision>18</cp:revision>
  <dcterms:created xsi:type="dcterms:W3CDTF">2026-02-02T04:49:31Z</dcterms:created>
  <dcterms:modified xsi:type="dcterms:W3CDTF">2026-02-02T08:57:08Z</dcterms:modified>
</cp:coreProperties>
</file>
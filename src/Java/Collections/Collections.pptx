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4" r:id="rId5"/>
    <p:sldId id="261" r:id="rId6"/>
    <p:sldId id="262" r:id="rId7"/>
    <p:sldId id="263" r:id="rId8"/>
    <p:sldId id="265" r:id="rId9"/>
    <p:sldId id="266" r:id="rId10"/>
    <p:sldId id="268" r:id="rId11"/>
    <p:sldId id="269" r:id="rId12"/>
    <p:sldId id="270" r:id="rId13"/>
    <p:sldId id="271" r:id="rId14"/>
    <p:sldId id="272" r:id="rId15"/>
    <p:sldId id="273" r:id="rId16"/>
    <p:sldId id="257" r:id="rId17"/>
    <p:sldId id="2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73446-5CD5-5FC5-B22A-0E33CC927F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786BFE-2CBC-44A8-30AD-C696A9411D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4BD5BA-8628-CE7B-FCED-E41A0BE02181}"/>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5" name="Footer Placeholder 4">
            <a:extLst>
              <a:ext uri="{FF2B5EF4-FFF2-40B4-BE49-F238E27FC236}">
                <a16:creationId xmlns:a16="http://schemas.microsoft.com/office/drawing/2014/main" id="{F593F985-7ED7-746D-6DC6-F8BF7AF2C5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5675D4-F88B-12BE-42A3-68F91336BC91}"/>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3268720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40DD5-15AD-0D26-E369-B1FF09CF54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3ECDF5-51D2-AC35-637D-01F5F3F270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C01AD4-C668-EEAA-7E87-8331678F23CF}"/>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5" name="Footer Placeholder 4">
            <a:extLst>
              <a:ext uri="{FF2B5EF4-FFF2-40B4-BE49-F238E27FC236}">
                <a16:creationId xmlns:a16="http://schemas.microsoft.com/office/drawing/2014/main" id="{283EF53A-48DD-A967-7CA5-54B6186799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0C6559-34EA-E704-F9B0-E7375BC44818}"/>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788334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EEE9-E972-EA0B-0120-45850BB005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664C6A-77A4-DCAC-AAC1-5DA8CD379A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4FEB9F-1FAA-B246-CCE2-94DFDF9DDC4A}"/>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5" name="Footer Placeholder 4">
            <a:extLst>
              <a:ext uri="{FF2B5EF4-FFF2-40B4-BE49-F238E27FC236}">
                <a16:creationId xmlns:a16="http://schemas.microsoft.com/office/drawing/2014/main" id="{A473D98A-43DC-9DFD-287F-9B8BCE898F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292802-07FD-FB70-B16F-84241B37E024}"/>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2412621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253BD-567C-C26D-3FF2-5EAB5F93AF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860ABB-8CCD-2B0A-B900-49E8ECE558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35C19E2-AA1B-ACE7-BAD1-05007B18EB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5F3742-D605-84BD-0963-595C9AE95AB4}"/>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6" name="Footer Placeholder 5">
            <a:extLst>
              <a:ext uri="{FF2B5EF4-FFF2-40B4-BE49-F238E27FC236}">
                <a16:creationId xmlns:a16="http://schemas.microsoft.com/office/drawing/2014/main" id="{A8F62B51-6F3B-E139-0B0E-A5453CF7BB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CD6B2B-ECCF-21DB-A9EB-45A99EADFA1F}"/>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1285069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D29D-6ADB-692C-D60D-09B1A3B3DE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0EC727-E455-8334-7FA8-EC3B316B03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9B6B37-B061-3631-7D0A-4C03213499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47E7B6-C4B4-C2CE-CE27-9500DFB64E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A72EB9-95E6-58D0-0639-55C8A16F68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9D6945-B0E6-41C6-4864-377A6705CFE5}"/>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8" name="Footer Placeholder 7">
            <a:extLst>
              <a:ext uri="{FF2B5EF4-FFF2-40B4-BE49-F238E27FC236}">
                <a16:creationId xmlns:a16="http://schemas.microsoft.com/office/drawing/2014/main" id="{29C22EA0-174F-7875-4237-0322C2518E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E9584F-A637-B4F6-6C9B-3B6EB4E47461}"/>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2110910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B34A0-F911-B049-2BE5-5916E2B375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053EDE-694E-2AD8-A66B-2D1AF958E788}"/>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4" name="Footer Placeholder 3">
            <a:extLst>
              <a:ext uri="{FF2B5EF4-FFF2-40B4-BE49-F238E27FC236}">
                <a16:creationId xmlns:a16="http://schemas.microsoft.com/office/drawing/2014/main" id="{10331447-2530-3B0A-D7C2-7C8E1C6C38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38E381-3564-A7E0-BE39-489486949897}"/>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296149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F0A7ED-CF3A-D005-E5E2-B76B7D9CA3B9}"/>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3" name="Footer Placeholder 2">
            <a:extLst>
              <a:ext uri="{FF2B5EF4-FFF2-40B4-BE49-F238E27FC236}">
                <a16:creationId xmlns:a16="http://schemas.microsoft.com/office/drawing/2014/main" id="{8BDDE59B-46E6-8DD0-FBB1-894B26C6CD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F063F2-94C6-31AA-09CC-B3703B383930}"/>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639182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67D66-7019-65CB-A10F-07BD08BF63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C41760-DAC9-2382-DEBF-BDA95C84B5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4AED44-58B2-72CF-6C50-137F02FB13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F96EF-F90F-1934-DE69-C5270AF8365E}"/>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6" name="Footer Placeholder 5">
            <a:extLst>
              <a:ext uri="{FF2B5EF4-FFF2-40B4-BE49-F238E27FC236}">
                <a16:creationId xmlns:a16="http://schemas.microsoft.com/office/drawing/2014/main" id="{7DD6EF0E-2A78-5A21-6BFF-5D65232E8A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5B7F8C-3344-BA41-F5BB-09DA7C6EF5DF}"/>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1226566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D6DA-A0D5-5170-5237-FD15AE1B5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C089DDD-D716-F800-2E32-4F6978C7B8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7FC463-442C-200C-CBAC-91DEFAFC3A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D04F7B-D678-450B-75FE-27008A0F7B02}"/>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6" name="Footer Placeholder 5">
            <a:extLst>
              <a:ext uri="{FF2B5EF4-FFF2-40B4-BE49-F238E27FC236}">
                <a16:creationId xmlns:a16="http://schemas.microsoft.com/office/drawing/2014/main" id="{6712803A-A441-4F36-D7E5-971ABA393F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97A6DF-4FD7-0228-C115-28CF785B59B6}"/>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4047608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C23C-0D47-612A-1BCD-BD545787BF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A1A625-1061-1227-92FD-64AB9EBB3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DA6A1C-6890-E162-6EF2-522A35EA0265}"/>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5" name="Footer Placeholder 4">
            <a:extLst>
              <a:ext uri="{FF2B5EF4-FFF2-40B4-BE49-F238E27FC236}">
                <a16:creationId xmlns:a16="http://schemas.microsoft.com/office/drawing/2014/main" id="{09FB1B06-82B0-F0B6-ABEA-F9D0D38B79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24A608-1E5D-45AD-9C2A-C4BFD10CA534}"/>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3133461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E7FD53-A38E-7414-E5CE-C4B7DF7C0B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584BCC-8C7E-003B-7416-205B7196C3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6A650B-99E9-01A2-1E85-7F00F31018DC}"/>
              </a:ext>
            </a:extLst>
          </p:cNvPr>
          <p:cNvSpPr>
            <a:spLocks noGrp="1"/>
          </p:cNvSpPr>
          <p:nvPr>
            <p:ph type="dt" sz="half" idx="10"/>
          </p:nvPr>
        </p:nvSpPr>
        <p:spPr/>
        <p:txBody>
          <a:bodyPr/>
          <a:lstStyle/>
          <a:p>
            <a:fld id="{4CF31E54-3059-4937-AB82-58F2F2A12F5E}" type="datetimeFigureOut">
              <a:rPr lang="en-IN" smtClean="0"/>
              <a:t>14-02-2026</a:t>
            </a:fld>
            <a:endParaRPr lang="en-IN"/>
          </a:p>
        </p:txBody>
      </p:sp>
      <p:sp>
        <p:nvSpPr>
          <p:cNvPr id="5" name="Footer Placeholder 4">
            <a:extLst>
              <a:ext uri="{FF2B5EF4-FFF2-40B4-BE49-F238E27FC236}">
                <a16:creationId xmlns:a16="http://schemas.microsoft.com/office/drawing/2014/main" id="{8868AC85-6917-54AF-A0B0-1A2B69E03B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5060C7-6D8D-1EE6-6A36-38ADBECF9439}"/>
              </a:ext>
            </a:extLst>
          </p:cNvPr>
          <p:cNvSpPr>
            <a:spLocks noGrp="1"/>
          </p:cNvSpPr>
          <p:nvPr>
            <p:ph type="sldNum" sz="quarter" idx="12"/>
          </p:nvPr>
        </p:nvSpPr>
        <p:spPr/>
        <p:txBody>
          <a:bodyPr/>
          <a:lstStyle/>
          <a:p>
            <a:fld id="{C7B76290-4AC1-4FF4-AE9A-AB17F2B0F28D}" type="slidenum">
              <a:rPr lang="en-IN" smtClean="0"/>
              <a:t>‹#›</a:t>
            </a:fld>
            <a:endParaRPr lang="en-IN"/>
          </a:p>
        </p:txBody>
      </p:sp>
    </p:spTree>
    <p:extLst>
      <p:ext uri="{BB962C8B-B14F-4D97-AF65-F5344CB8AC3E}">
        <p14:creationId xmlns:p14="http://schemas.microsoft.com/office/powerpoint/2010/main" val="592467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9284F2-F948-41BF-D483-D38F9B89C4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04BBF6-724F-D577-395C-D7186FB2A1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BBE28D-7148-CFFE-6738-06FB69B6E3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F31E54-3059-4937-AB82-58F2F2A12F5E}" type="datetimeFigureOut">
              <a:rPr lang="en-IN" smtClean="0"/>
              <a:t>14-02-2026</a:t>
            </a:fld>
            <a:endParaRPr lang="en-IN"/>
          </a:p>
        </p:txBody>
      </p:sp>
      <p:sp>
        <p:nvSpPr>
          <p:cNvPr id="5" name="Footer Placeholder 4">
            <a:extLst>
              <a:ext uri="{FF2B5EF4-FFF2-40B4-BE49-F238E27FC236}">
                <a16:creationId xmlns:a16="http://schemas.microsoft.com/office/drawing/2014/main" id="{90C1C202-D538-E4D1-6F42-703BAFE10D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D6B18AE-DFF3-CC38-185B-5F3297E865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B76290-4AC1-4FF4-AE9A-AB17F2B0F28D}" type="slidenum">
              <a:rPr lang="en-IN" smtClean="0"/>
              <a:t>‹#›</a:t>
            </a:fld>
            <a:endParaRPr lang="en-IN"/>
          </a:p>
        </p:txBody>
      </p:sp>
    </p:spTree>
    <p:extLst>
      <p:ext uri="{BB962C8B-B14F-4D97-AF65-F5344CB8AC3E}">
        <p14:creationId xmlns:p14="http://schemas.microsoft.com/office/powerpoint/2010/main" val="289433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7B4D09B-2BD7-26EE-88D5-7FF8B353D3DD}"/>
              </a:ext>
            </a:extLst>
          </p:cNvPr>
          <p:cNvSpPr txBox="1">
            <a:spLocks/>
          </p:cNvSpPr>
          <p:nvPr/>
        </p:nvSpPr>
        <p:spPr>
          <a:xfrm>
            <a:off x="838200" y="65781"/>
            <a:ext cx="10515600" cy="65812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u="sng" dirty="0"/>
              <a:t>Collections-Framework</a:t>
            </a:r>
          </a:p>
        </p:txBody>
      </p:sp>
      <p:sp>
        <p:nvSpPr>
          <p:cNvPr id="5" name="Content Placeholder 2">
            <a:extLst>
              <a:ext uri="{FF2B5EF4-FFF2-40B4-BE49-F238E27FC236}">
                <a16:creationId xmlns:a16="http://schemas.microsoft.com/office/drawing/2014/main" id="{B41A2CA4-4DFF-4E8C-589E-3BFF6554FAE6}"/>
              </a:ext>
            </a:extLst>
          </p:cNvPr>
          <p:cNvSpPr txBox="1">
            <a:spLocks/>
          </p:cNvSpPr>
          <p:nvPr/>
        </p:nvSpPr>
        <p:spPr>
          <a:xfrm>
            <a:off x="54427" y="723909"/>
            <a:ext cx="12053109" cy="593530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1800" dirty="0"/>
              <a:t>Collections are set of classes and interfaces that implements most commonly used data-structures.</a:t>
            </a:r>
          </a:p>
          <a:p>
            <a:pPr marL="342900" indent="-342900" algn="l">
              <a:buFont typeface="Wingdings" panose="05000000000000000000" pitchFamily="2" charset="2"/>
              <a:buChar char="Ø"/>
            </a:pPr>
            <a:r>
              <a:rPr lang="en-US" sz="1800" dirty="0"/>
              <a:t>A collection allows group of objects to be treated as a single unit.</a:t>
            </a:r>
          </a:p>
          <a:p>
            <a:pPr marL="342900" indent="-342900" algn="l">
              <a:buFont typeface="Wingdings" panose="05000000000000000000" pitchFamily="2" charset="2"/>
              <a:buChar char="Ø"/>
            </a:pPr>
            <a:r>
              <a:rPr lang="en-US" sz="1800" dirty="0"/>
              <a:t>The core-framework is provided in the </a:t>
            </a:r>
            <a:r>
              <a:rPr lang="en-US" sz="1800" b="1" dirty="0" err="1"/>
              <a:t>java.util</a:t>
            </a:r>
            <a:r>
              <a:rPr lang="en-US" sz="1800" dirty="0"/>
              <a:t> package and comprises of 3 main parts.</a:t>
            </a:r>
          </a:p>
          <a:p>
            <a:pPr algn="l"/>
            <a:r>
              <a:rPr lang="en-US" sz="1800" dirty="0"/>
              <a:t>	1. The Core interfaces</a:t>
            </a:r>
          </a:p>
          <a:p>
            <a:pPr algn="l"/>
            <a:r>
              <a:rPr lang="en-US" sz="1800" dirty="0"/>
              <a:t>	2. A set of implementations (Concrete Classes) that are specific implementations of the core interfaces.</a:t>
            </a:r>
          </a:p>
          <a:p>
            <a:pPr algn="l"/>
            <a:r>
              <a:rPr lang="en-US" sz="1800" dirty="0"/>
              <a:t>	3. Static utility methods found in the Collections and Arrays classes that can be used to perform various operations on 	    collections and arrays, such as sorting and searching, or creating customized collections.</a:t>
            </a:r>
          </a:p>
          <a:p>
            <a:pPr marL="171450" indent="-171450" algn="l">
              <a:buFont typeface="Wingdings" panose="05000000000000000000" pitchFamily="2" charset="2"/>
              <a:buChar char="v"/>
            </a:pPr>
            <a:r>
              <a:rPr lang="en-US" sz="1800" b="1" dirty="0"/>
              <a:t> The Core Interfaces:</a:t>
            </a:r>
          </a:p>
          <a:p>
            <a:pPr marL="285750" indent="-285750" algn="l">
              <a:buFont typeface="Wingdings" panose="05000000000000000000" pitchFamily="2" charset="2"/>
              <a:buChar char="ü"/>
            </a:pPr>
            <a:r>
              <a:rPr lang="en-US" sz="1800" dirty="0"/>
              <a:t>The Collection interface extends Iterable interface, that specifies an iterator to sequentially access the elements of an Iterable object.</a:t>
            </a:r>
          </a:p>
          <a:p>
            <a:pPr algn="l"/>
            <a:r>
              <a:rPr lang="en-US" sz="1800" b="1" dirty="0"/>
              <a:t>	</a:t>
            </a:r>
            <a:r>
              <a:rPr lang="en-US" sz="1800" dirty="0"/>
              <a:t>1. Collection</a:t>
            </a:r>
          </a:p>
          <a:p>
            <a:pPr algn="l"/>
            <a:r>
              <a:rPr lang="en-US" sz="1800" dirty="0"/>
              <a:t>		a. List&lt;E&gt;</a:t>
            </a:r>
          </a:p>
          <a:p>
            <a:pPr algn="l"/>
            <a:r>
              <a:rPr lang="en-US" sz="1800" dirty="0"/>
              <a:t>		b. Queue&lt;E&gt;</a:t>
            </a:r>
          </a:p>
          <a:p>
            <a:pPr algn="l"/>
            <a:r>
              <a:rPr lang="en-US" sz="1800" dirty="0"/>
              <a:t>		c. Set&lt;E&gt;</a:t>
            </a:r>
          </a:p>
          <a:p>
            <a:pPr algn="l"/>
            <a:r>
              <a:rPr lang="en-US" sz="1800" dirty="0"/>
              <a:t>	2. Map&lt;K, V&gt;</a:t>
            </a:r>
            <a:endParaRPr lang="en-US" sz="1000" dirty="0"/>
          </a:p>
          <a:p>
            <a:pPr marL="342900" indent="-342900" algn="l">
              <a:buFont typeface="Wingdings" panose="05000000000000000000" pitchFamily="2" charset="2"/>
              <a:buChar char="Ø"/>
            </a:pPr>
            <a:endParaRPr lang="en-US" sz="1800" dirty="0"/>
          </a:p>
        </p:txBody>
      </p:sp>
    </p:spTree>
    <p:extLst>
      <p:ext uri="{BB962C8B-B14F-4D97-AF65-F5344CB8AC3E}">
        <p14:creationId xmlns:p14="http://schemas.microsoft.com/office/powerpoint/2010/main" val="1915105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66DFCC2-A842-1C94-A62B-501C4EF0456A}"/>
              </a:ext>
            </a:extLst>
          </p:cNvPr>
          <p:cNvSpPr/>
          <p:nvPr/>
        </p:nvSpPr>
        <p:spPr>
          <a:xfrm>
            <a:off x="4977848" y="298173"/>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Iterable</a:t>
            </a:r>
            <a:endParaRPr lang="en-IN" sz="2400" dirty="0"/>
          </a:p>
        </p:txBody>
      </p:sp>
      <p:sp>
        <p:nvSpPr>
          <p:cNvPr id="4" name="Oval 3">
            <a:extLst>
              <a:ext uri="{FF2B5EF4-FFF2-40B4-BE49-F238E27FC236}">
                <a16:creationId xmlns:a16="http://schemas.microsoft.com/office/drawing/2014/main" id="{96A3326B-4B04-5597-1FC6-B9F062E2E048}"/>
              </a:ext>
            </a:extLst>
          </p:cNvPr>
          <p:cNvSpPr/>
          <p:nvPr/>
        </p:nvSpPr>
        <p:spPr>
          <a:xfrm>
            <a:off x="4977848" y="1514060"/>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Collection</a:t>
            </a:r>
            <a:endParaRPr lang="en-IN" sz="2400" dirty="0"/>
          </a:p>
        </p:txBody>
      </p:sp>
      <p:sp>
        <p:nvSpPr>
          <p:cNvPr id="5" name="Oval 4">
            <a:extLst>
              <a:ext uri="{FF2B5EF4-FFF2-40B4-BE49-F238E27FC236}">
                <a16:creationId xmlns:a16="http://schemas.microsoft.com/office/drawing/2014/main" id="{B6AD8C18-FB69-102A-7D08-A6C63F01D4D3}"/>
              </a:ext>
            </a:extLst>
          </p:cNvPr>
          <p:cNvSpPr/>
          <p:nvPr/>
        </p:nvSpPr>
        <p:spPr>
          <a:xfrm>
            <a:off x="717274" y="3621156"/>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List</a:t>
            </a:r>
            <a:endParaRPr lang="en-IN" sz="2400" dirty="0"/>
          </a:p>
        </p:txBody>
      </p:sp>
      <p:sp>
        <p:nvSpPr>
          <p:cNvPr id="6" name="Oval 5">
            <a:extLst>
              <a:ext uri="{FF2B5EF4-FFF2-40B4-BE49-F238E27FC236}">
                <a16:creationId xmlns:a16="http://schemas.microsoft.com/office/drawing/2014/main" id="{1715468D-23DC-7310-4DE4-FBBF299A2758}"/>
              </a:ext>
            </a:extLst>
          </p:cNvPr>
          <p:cNvSpPr/>
          <p:nvPr/>
        </p:nvSpPr>
        <p:spPr>
          <a:xfrm>
            <a:off x="4977848" y="3621156"/>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Queue</a:t>
            </a:r>
            <a:endParaRPr lang="en-IN" sz="2400" dirty="0"/>
          </a:p>
        </p:txBody>
      </p:sp>
      <p:sp>
        <p:nvSpPr>
          <p:cNvPr id="7" name="Oval 6">
            <a:extLst>
              <a:ext uri="{FF2B5EF4-FFF2-40B4-BE49-F238E27FC236}">
                <a16:creationId xmlns:a16="http://schemas.microsoft.com/office/drawing/2014/main" id="{79765ED7-66FA-3A49-2AE5-1521B1C234DE}"/>
              </a:ext>
            </a:extLst>
          </p:cNvPr>
          <p:cNvSpPr/>
          <p:nvPr/>
        </p:nvSpPr>
        <p:spPr>
          <a:xfrm>
            <a:off x="9238422" y="3621156"/>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Set</a:t>
            </a:r>
            <a:endParaRPr lang="en-IN" sz="2400" dirty="0"/>
          </a:p>
        </p:txBody>
      </p:sp>
      <p:sp>
        <p:nvSpPr>
          <p:cNvPr id="8" name="Oval 7">
            <a:extLst>
              <a:ext uri="{FF2B5EF4-FFF2-40B4-BE49-F238E27FC236}">
                <a16:creationId xmlns:a16="http://schemas.microsoft.com/office/drawing/2014/main" id="{45D00F58-F31B-0DA4-3AFF-6729E6FA1C5A}"/>
              </a:ext>
            </a:extLst>
          </p:cNvPr>
          <p:cNvSpPr/>
          <p:nvPr/>
        </p:nvSpPr>
        <p:spPr>
          <a:xfrm>
            <a:off x="717274" y="1514060"/>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Iterator</a:t>
            </a:r>
            <a:endParaRPr lang="en-IN" sz="2400" dirty="0"/>
          </a:p>
        </p:txBody>
      </p:sp>
      <p:sp>
        <p:nvSpPr>
          <p:cNvPr id="9" name="Oval 8">
            <a:extLst>
              <a:ext uri="{FF2B5EF4-FFF2-40B4-BE49-F238E27FC236}">
                <a16:creationId xmlns:a16="http://schemas.microsoft.com/office/drawing/2014/main" id="{64B492A4-AD1D-ACDB-1863-55E262B8EF79}"/>
              </a:ext>
            </a:extLst>
          </p:cNvPr>
          <p:cNvSpPr/>
          <p:nvPr/>
        </p:nvSpPr>
        <p:spPr>
          <a:xfrm>
            <a:off x="717274" y="2567608"/>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ListIterator</a:t>
            </a:r>
            <a:endParaRPr lang="en-IN" sz="2400" dirty="0"/>
          </a:p>
        </p:txBody>
      </p:sp>
      <p:cxnSp>
        <p:nvCxnSpPr>
          <p:cNvPr id="13" name="Straight Arrow Connector 12">
            <a:extLst>
              <a:ext uri="{FF2B5EF4-FFF2-40B4-BE49-F238E27FC236}">
                <a16:creationId xmlns:a16="http://schemas.microsoft.com/office/drawing/2014/main" id="{F69CFDD4-277E-30FE-F955-649AE78EBE1F}"/>
              </a:ext>
            </a:extLst>
          </p:cNvPr>
          <p:cNvCxnSpPr>
            <a:cxnSpLocks/>
            <a:stCxn id="4" idx="0"/>
            <a:endCxn id="3" idx="4"/>
          </p:cNvCxnSpPr>
          <p:nvPr/>
        </p:nvCxnSpPr>
        <p:spPr>
          <a:xfrm flipV="1">
            <a:off x="6096000" y="1013791"/>
            <a:ext cx="0" cy="50026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BD4ACAA7-993C-A1C0-589D-87FE46764E43}"/>
              </a:ext>
            </a:extLst>
          </p:cNvPr>
          <p:cNvCxnSpPr>
            <a:cxnSpLocks/>
            <a:stCxn id="6" idx="0"/>
            <a:endCxn id="4" idx="4"/>
          </p:cNvCxnSpPr>
          <p:nvPr/>
        </p:nvCxnSpPr>
        <p:spPr>
          <a:xfrm flipV="1">
            <a:off x="6096000" y="2229678"/>
            <a:ext cx="0" cy="139147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B1D3EB3A-466F-2FD7-1F44-862CCD165D69}"/>
              </a:ext>
            </a:extLst>
          </p:cNvPr>
          <p:cNvCxnSpPr>
            <a:cxnSpLocks/>
            <a:endCxn id="4" idx="6"/>
          </p:cNvCxnSpPr>
          <p:nvPr/>
        </p:nvCxnSpPr>
        <p:spPr>
          <a:xfrm flipH="1">
            <a:off x="7214152" y="1871869"/>
            <a:ext cx="314242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E1212873-1887-3979-BA2A-50BD6F9DEB71}"/>
              </a:ext>
            </a:extLst>
          </p:cNvPr>
          <p:cNvCxnSpPr>
            <a:cxnSpLocks/>
            <a:stCxn id="9" idx="0"/>
            <a:endCxn id="8" idx="4"/>
          </p:cNvCxnSpPr>
          <p:nvPr/>
        </p:nvCxnSpPr>
        <p:spPr>
          <a:xfrm flipV="1">
            <a:off x="1835426" y="2229678"/>
            <a:ext cx="0" cy="33793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6" name="Oval 35">
            <a:extLst>
              <a:ext uri="{FF2B5EF4-FFF2-40B4-BE49-F238E27FC236}">
                <a16:creationId xmlns:a16="http://schemas.microsoft.com/office/drawing/2014/main" id="{56FB45D8-B11D-F1BF-0D2A-A696910ABF5B}"/>
              </a:ext>
            </a:extLst>
          </p:cNvPr>
          <p:cNvSpPr/>
          <p:nvPr/>
        </p:nvSpPr>
        <p:spPr>
          <a:xfrm>
            <a:off x="4977848" y="4654825"/>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Deque</a:t>
            </a:r>
            <a:endParaRPr lang="en-IN" sz="2400" dirty="0"/>
          </a:p>
        </p:txBody>
      </p:sp>
      <p:cxnSp>
        <p:nvCxnSpPr>
          <p:cNvPr id="37" name="Straight Arrow Connector 36">
            <a:extLst>
              <a:ext uri="{FF2B5EF4-FFF2-40B4-BE49-F238E27FC236}">
                <a16:creationId xmlns:a16="http://schemas.microsoft.com/office/drawing/2014/main" id="{AE6C8A80-9818-7564-5169-1E067C7199CC}"/>
              </a:ext>
            </a:extLst>
          </p:cNvPr>
          <p:cNvCxnSpPr>
            <a:cxnSpLocks/>
            <a:stCxn id="36" idx="0"/>
          </p:cNvCxnSpPr>
          <p:nvPr/>
        </p:nvCxnSpPr>
        <p:spPr>
          <a:xfrm flipV="1">
            <a:off x="6096000" y="4312101"/>
            <a:ext cx="0" cy="342724"/>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8" name="Oval 37">
            <a:extLst>
              <a:ext uri="{FF2B5EF4-FFF2-40B4-BE49-F238E27FC236}">
                <a16:creationId xmlns:a16="http://schemas.microsoft.com/office/drawing/2014/main" id="{F2FF6A4C-0DED-9564-88C5-041A8F95D5FA}"/>
              </a:ext>
            </a:extLst>
          </p:cNvPr>
          <p:cNvSpPr/>
          <p:nvPr/>
        </p:nvSpPr>
        <p:spPr>
          <a:xfrm>
            <a:off x="9238422" y="4654825"/>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SortedSet</a:t>
            </a:r>
            <a:endParaRPr lang="en-IN" sz="2400" dirty="0"/>
          </a:p>
        </p:txBody>
      </p:sp>
      <p:cxnSp>
        <p:nvCxnSpPr>
          <p:cNvPr id="39" name="Straight Arrow Connector 38">
            <a:extLst>
              <a:ext uri="{FF2B5EF4-FFF2-40B4-BE49-F238E27FC236}">
                <a16:creationId xmlns:a16="http://schemas.microsoft.com/office/drawing/2014/main" id="{F9E3C1D5-2405-DBB1-7E8F-E48D3A4C14B3}"/>
              </a:ext>
            </a:extLst>
          </p:cNvPr>
          <p:cNvCxnSpPr>
            <a:cxnSpLocks/>
            <a:stCxn id="38" idx="0"/>
          </p:cNvCxnSpPr>
          <p:nvPr/>
        </p:nvCxnSpPr>
        <p:spPr>
          <a:xfrm flipV="1">
            <a:off x="10356574" y="4316895"/>
            <a:ext cx="0" cy="33793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0" name="Oval 39">
            <a:extLst>
              <a:ext uri="{FF2B5EF4-FFF2-40B4-BE49-F238E27FC236}">
                <a16:creationId xmlns:a16="http://schemas.microsoft.com/office/drawing/2014/main" id="{3F257549-9C0C-CC57-CD5C-FDDFA7FB40F7}"/>
              </a:ext>
            </a:extLst>
          </p:cNvPr>
          <p:cNvSpPr/>
          <p:nvPr/>
        </p:nvSpPr>
        <p:spPr>
          <a:xfrm>
            <a:off x="9086841" y="5728251"/>
            <a:ext cx="2539466"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NavigableSet</a:t>
            </a:r>
            <a:endParaRPr lang="en-IN" sz="2400" dirty="0"/>
          </a:p>
        </p:txBody>
      </p:sp>
      <p:cxnSp>
        <p:nvCxnSpPr>
          <p:cNvPr id="41" name="Straight Arrow Connector 40">
            <a:extLst>
              <a:ext uri="{FF2B5EF4-FFF2-40B4-BE49-F238E27FC236}">
                <a16:creationId xmlns:a16="http://schemas.microsoft.com/office/drawing/2014/main" id="{4570543B-A3B8-114E-976F-BDC557EAF541}"/>
              </a:ext>
            </a:extLst>
          </p:cNvPr>
          <p:cNvCxnSpPr>
            <a:cxnSpLocks/>
            <a:stCxn id="40" idx="0"/>
            <a:endCxn id="38" idx="4"/>
          </p:cNvCxnSpPr>
          <p:nvPr/>
        </p:nvCxnSpPr>
        <p:spPr>
          <a:xfrm flipV="1">
            <a:off x="10356574" y="5370443"/>
            <a:ext cx="0" cy="35780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3" name="Straight Connector 52">
            <a:extLst>
              <a:ext uri="{FF2B5EF4-FFF2-40B4-BE49-F238E27FC236}">
                <a16:creationId xmlns:a16="http://schemas.microsoft.com/office/drawing/2014/main" id="{1975279F-3EF8-8EA2-D598-D16FD89F7DC7}"/>
              </a:ext>
            </a:extLst>
          </p:cNvPr>
          <p:cNvCxnSpPr>
            <a:cxnSpLocks/>
            <a:stCxn id="8" idx="6"/>
            <a:endCxn id="4" idx="2"/>
          </p:cNvCxnSpPr>
          <p:nvPr/>
        </p:nvCxnSpPr>
        <p:spPr>
          <a:xfrm>
            <a:off x="2953578" y="1871869"/>
            <a:ext cx="2024270"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56" name="Straight Connector 55">
            <a:extLst>
              <a:ext uri="{FF2B5EF4-FFF2-40B4-BE49-F238E27FC236}">
                <a16:creationId xmlns:a16="http://schemas.microsoft.com/office/drawing/2014/main" id="{0D93C514-4078-6041-D437-D83CF68E0967}"/>
              </a:ext>
            </a:extLst>
          </p:cNvPr>
          <p:cNvCxnSpPr>
            <a:cxnSpLocks/>
            <a:endCxn id="7" idx="0"/>
          </p:cNvCxnSpPr>
          <p:nvPr/>
        </p:nvCxnSpPr>
        <p:spPr>
          <a:xfrm>
            <a:off x="10356574" y="1871869"/>
            <a:ext cx="0" cy="1749287"/>
          </a:xfrm>
          <a:prstGeom prst="line">
            <a:avLst/>
          </a:prstGeom>
          <a:ln w="38100"/>
        </p:spPr>
        <p:style>
          <a:lnRef idx="3">
            <a:schemeClr val="dk1"/>
          </a:lnRef>
          <a:fillRef idx="0">
            <a:schemeClr val="dk1"/>
          </a:fillRef>
          <a:effectRef idx="2">
            <a:schemeClr val="dk1"/>
          </a:effectRef>
          <a:fontRef idx="minor">
            <a:schemeClr val="tx1"/>
          </a:fontRef>
        </p:style>
      </p:cxnSp>
      <p:sp>
        <p:nvSpPr>
          <p:cNvPr id="61" name="TextBox 60">
            <a:extLst>
              <a:ext uri="{FF2B5EF4-FFF2-40B4-BE49-F238E27FC236}">
                <a16:creationId xmlns:a16="http://schemas.microsoft.com/office/drawing/2014/main" id="{5EE2F692-009D-746B-AF30-DEC2A03265F4}"/>
              </a:ext>
            </a:extLst>
          </p:cNvPr>
          <p:cNvSpPr txBox="1"/>
          <p:nvPr/>
        </p:nvSpPr>
        <p:spPr>
          <a:xfrm>
            <a:off x="6096000" y="1079259"/>
            <a:ext cx="1465273" cy="369332"/>
          </a:xfrm>
          <a:prstGeom prst="rect">
            <a:avLst/>
          </a:prstGeom>
          <a:noFill/>
        </p:spPr>
        <p:txBody>
          <a:bodyPr wrap="none" rtlCol="0">
            <a:spAutoFit/>
          </a:bodyPr>
          <a:lstStyle/>
          <a:p>
            <a:r>
              <a:rPr lang="en-US" dirty="0"/>
              <a:t>Extends (Is-A)</a:t>
            </a:r>
            <a:endParaRPr lang="en-IN" dirty="0"/>
          </a:p>
        </p:txBody>
      </p:sp>
      <p:sp>
        <p:nvSpPr>
          <p:cNvPr id="62" name="TextBox 61">
            <a:extLst>
              <a:ext uri="{FF2B5EF4-FFF2-40B4-BE49-F238E27FC236}">
                <a16:creationId xmlns:a16="http://schemas.microsoft.com/office/drawing/2014/main" id="{BF5DDCF6-A4CC-D025-C6C8-DF4C97158117}"/>
              </a:ext>
            </a:extLst>
          </p:cNvPr>
          <p:cNvSpPr txBox="1"/>
          <p:nvPr/>
        </p:nvSpPr>
        <p:spPr>
          <a:xfrm>
            <a:off x="6095999" y="2709349"/>
            <a:ext cx="1465273" cy="369332"/>
          </a:xfrm>
          <a:prstGeom prst="rect">
            <a:avLst/>
          </a:prstGeom>
          <a:noFill/>
        </p:spPr>
        <p:txBody>
          <a:bodyPr wrap="none" rtlCol="0">
            <a:spAutoFit/>
          </a:bodyPr>
          <a:lstStyle/>
          <a:p>
            <a:r>
              <a:rPr lang="en-US" dirty="0"/>
              <a:t>Extends (Is-A)</a:t>
            </a:r>
            <a:endParaRPr lang="en-IN" dirty="0"/>
          </a:p>
        </p:txBody>
      </p:sp>
      <p:sp>
        <p:nvSpPr>
          <p:cNvPr id="63" name="TextBox 62">
            <a:extLst>
              <a:ext uri="{FF2B5EF4-FFF2-40B4-BE49-F238E27FC236}">
                <a16:creationId xmlns:a16="http://schemas.microsoft.com/office/drawing/2014/main" id="{C6B5D3EF-2786-2881-C386-7653A7D9BD12}"/>
              </a:ext>
            </a:extLst>
          </p:cNvPr>
          <p:cNvSpPr txBox="1"/>
          <p:nvPr/>
        </p:nvSpPr>
        <p:spPr>
          <a:xfrm>
            <a:off x="6095999" y="4285493"/>
            <a:ext cx="1465273" cy="369332"/>
          </a:xfrm>
          <a:prstGeom prst="rect">
            <a:avLst/>
          </a:prstGeom>
          <a:noFill/>
        </p:spPr>
        <p:txBody>
          <a:bodyPr wrap="none" rtlCol="0">
            <a:spAutoFit/>
          </a:bodyPr>
          <a:lstStyle/>
          <a:p>
            <a:r>
              <a:rPr lang="en-US" dirty="0"/>
              <a:t>Extends (Is-A)</a:t>
            </a:r>
            <a:endParaRPr lang="en-IN" dirty="0"/>
          </a:p>
        </p:txBody>
      </p:sp>
      <p:sp>
        <p:nvSpPr>
          <p:cNvPr id="64" name="TextBox 63">
            <a:extLst>
              <a:ext uri="{FF2B5EF4-FFF2-40B4-BE49-F238E27FC236}">
                <a16:creationId xmlns:a16="http://schemas.microsoft.com/office/drawing/2014/main" id="{53353E1A-35EE-4A62-CAE5-083482F627E1}"/>
              </a:ext>
            </a:extLst>
          </p:cNvPr>
          <p:cNvSpPr txBox="1"/>
          <p:nvPr/>
        </p:nvSpPr>
        <p:spPr>
          <a:xfrm>
            <a:off x="1885120" y="3251824"/>
            <a:ext cx="732893" cy="369332"/>
          </a:xfrm>
          <a:prstGeom prst="rect">
            <a:avLst/>
          </a:prstGeom>
          <a:noFill/>
        </p:spPr>
        <p:txBody>
          <a:bodyPr wrap="none" rtlCol="0">
            <a:spAutoFit/>
          </a:bodyPr>
          <a:lstStyle/>
          <a:p>
            <a:r>
              <a:rPr lang="en-US" dirty="0"/>
              <a:t>Has-A</a:t>
            </a:r>
            <a:endParaRPr lang="en-IN" dirty="0"/>
          </a:p>
        </p:txBody>
      </p:sp>
      <p:sp>
        <p:nvSpPr>
          <p:cNvPr id="65" name="TextBox 64">
            <a:extLst>
              <a:ext uri="{FF2B5EF4-FFF2-40B4-BE49-F238E27FC236}">
                <a16:creationId xmlns:a16="http://schemas.microsoft.com/office/drawing/2014/main" id="{9F71DFC1-B44D-BBA0-621B-35946F3AD55D}"/>
              </a:ext>
            </a:extLst>
          </p:cNvPr>
          <p:cNvSpPr txBox="1"/>
          <p:nvPr/>
        </p:nvSpPr>
        <p:spPr>
          <a:xfrm>
            <a:off x="1835424" y="2235584"/>
            <a:ext cx="1465273" cy="369332"/>
          </a:xfrm>
          <a:prstGeom prst="rect">
            <a:avLst/>
          </a:prstGeom>
          <a:noFill/>
        </p:spPr>
        <p:txBody>
          <a:bodyPr wrap="none" rtlCol="0">
            <a:spAutoFit/>
          </a:bodyPr>
          <a:lstStyle/>
          <a:p>
            <a:r>
              <a:rPr lang="en-US" dirty="0"/>
              <a:t>Extends (Is-A)</a:t>
            </a:r>
            <a:endParaRPr lang="en-IN" dirty="0"/>
          </a:p>
        </p:txBody>
      </p:sp>
      <p:sp>
        <p:nvSpPr>
          <p:cNvPr id="66" name="TextBox 65">
            <a:extLst>
              <a:ext uri="{FF2B5EF4-FFF2-40B4-BE49-F238E27FC236}">
                <a16:creationId xmlns:a16="http://schemas.microsoft.com/office/drawing/2014/main" id="{7395AE3F-3351-B341-21B5-9521B3B92D3B}"/>
              </a:ext>
            </a:extLst>
          </p:cNvPr>
          <p:cNvSpPr txBox="1"/>
          <p:nvPr/>
        </p:nvSpPr>
        <p:spPr>
          <a:xfrm>
            <a:off x="8588439" y="1811515"/>
            <a:ext cx="1465273" cy="369332"/>
          </a:xfrm>
          <a:prstGeom prst="rect">
            <a:avLst/>
          </a:prstGeom>
          <a:noFill/>
        </p:spPr>
        <p:txBody>
          <a:bodyPr wrap="none" rtlCol="0">
            <a:spAutoFit/>
          </a:bodyPr>
          <a:lstStyle/>
          <a:p>
            <a:r>
              <a:rPr lang="en-US" dirty="0"/>
              <a:t>Extends (Is-A)</a:t>
            </a:r>
            <a:endParaRPr lang="en-IN" dirty="0"/>
          </a:p>
        </p:txBody>
      </p:sp>
      <p:sp>
        <p:nvSpPr>
          <p:cNvPr id="67" name="TextBox 66">
            <a:extLst>
              <a:ext uri="{FF2B5EF4-FFF2-40B4-BE49-F238E27FC236}">
                <a16:creationId xmlns:a16="http://schemas.microsoft.com/office/drawing/2014/main" id="{63C1E9E0-AC56-E719-D847-8118DE23965B}"/>
              </a:ext>
            </a:extLst>
          </p:cNvPr>
          <p:cNvSpPr txBox="1"/>
          <p:nvPr/>
        </p:nvSpPr>
        <p:spPr>
          <a:xfrm>
            <a:off x="8891301" y="4298797"/>
            <a:ext cx="1465273" cy="369332"/>
          </a:xfrm>
          <a:prstGeom prst="rect">
            <a:avLst/>
          </a:prstGeom>
          <a:noFill/>
        </p:spPr>
        <p:txBody>
          <a:bodyPr wrap="none" rtlCol="0">
            <a:spAutoFit/>
          </a:bodyPr>
          <a:lstStyle/>
          <a:p>
            <a:r>
              <a:rPr lang="en-US" dirty="0"/>
              <a:t>Extends (Is-A)</a:t>
            </a:r>
            <a:endParaRPr lang="en-IN" dirty="0"/>
          </a:p>
        </p:txBody>
      </p:sp>
      <p:sp>
        <p:nvSpPr>
          <p:cNvPr id="68" name="TextBox 67">
            <a:extLst>
              <a:ext uri="{FF2B5EF4-FFF2-40B4-BE49-F238E27FC236}">
                <a16:creationId xmlns:a16="http://schemas.microsoft.com/office/drawing/2014/main" id="{F25DE8FE-9356-2130-B9D6-E1792F2A5A1E}"/>
              </a:ext>
            </a:extLst>
          </p:cNvPr>
          <p:cNvSpPr txBox="1"/>
          <p:nvPr/>
        </p:nvSpPr>
        <p:spPr>
          <a:xfrm>
            <a:off x="8891300" y="5357139"/>
            <a:ext cx="1465273" cy="369332"/>
          </a:xfrm>
          <a:prstGeom prst="rect">
            <a:avLst/>
          </a:prstGeom>
          <a:noFill/>
        </p:spPr>
        <p:txBody>
          <a:bodyPr wrap="none" rtlCol="0">
            <a:spAutoFit/>
          </a:bodyPr>
          <a:lstStyle/>
          <a:p>
            <a:r>
              <a:rPr lang="en-US" dirty="0"/>
              <a:t>Extends (Is-A)</a:t>
            </a:r>
            <a:endParaRPr lang="en-IN" dirty="0"/>
          </a:p>
        </p:txBody>
      </p:sp>
      <p:cxnSp>
        <p:nvCxnSpPr>
          <p:cNvPr id="70" name="Straight Connector 69">
            <a:extLst>
              <a:ext uri="{FF2B5EF4-FFF2-40B4-BE49-F238E27FC236}">
                <a16:creationId xmlns:a16="http://schemas.microsoft.com/office/drawing/2014/main" id="{078BC2D9-FC44-23EC-246E-93287C658951}"/>
              </a:ext>
            </a:extLst>
          </p:cNvPr>
          <p:cNvCxnSpPr>
            <a:cxnSpLocks/>
            <a:stCxn id="9" idx="4"/>
            <a:endCxn id="5" idx="0"/>
          </p:cNvCxnSpPr>
          <p:nvPr/>
        </p:nvCxnSpPr>
        <p:spPr>
          <a:xfrm>
            <a:off x="1835426" y="3283226"/>
            <a:ext cx="0" cy="337930"/>
          </a:xfrm>
          <a:prstGeom prst="line">
            <a:avLst/>
          </a:prstGeom>
          <a:ln w="38100"/>
        </p:spPr>
        <p:style>
          <a:lnRef idx="3">
            <a:schemeClr val="dk1"/>
          </a:lnRef>
          <a:fillRef idx="0">
            <a:schemeClr val="dk1"/>
          </a:fillRef>
          <a:effectRef idx="2">
            <a:schemeClr val="dk1"/>
          </a:effectRef>
          <a:fontRef idx="minor">
            <a:schemeClr val="tx1"/>
          </a:fontRef>
        </p:style>
      </p:cxnSp>
      <p:sp>
        <p:nvSpPr>
          <p:cNvPr id="74" name="Diamond 73">
            <a:extLst>
              <a:ext uri="{FF2B5EF4-FFF2-40B4-BE49-F238E27FC236}">
                <a16:creationId xmlns:a16="http://schemas.microsoft.com/office/drawing/2014/main" id="{367E6B50-0A66-F14B-6E29-274C436BCD4C}"/>
              </a:ext>
            </a:extLst>
          </p:cNvPr>
          <p:cNvSpPr/>
          <p:nvPr/>
        </p:nvSpPr>
        <p:spPr>
          <a:xfrm>
            <a:off x="1736032" y="3429000"/>
            <a:ext cx="198783" cy="185531"/>
          </a:xfrm>
          <a:prstGeom prst="diamond">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5" name="Diamond 74">
            <a:extLst>
              <a:ext uri="{FF2B5EF4-FFF2-40B4-BE49-F238E27FC236}">
                <a16:creationId xmlns:a16="http://schemas.microsoft.com/office/drawing/2014/main" id="{6D48A1C5-248E-A145-6387-BCA7377D7CC3}"/>
              </a:ext>
            </a:extLst>
          </p:cNvPr>
          <p:cNvSpPr/>
          <p:nvPr/>
        </p:nvSpPr>
        <p:spPr>
          <a:xfrm>
            <a:off x="4779065" y="1779103"/>
            <a:ext cx="198783" cy="185531"/>
          </a:xfrm>
          <a:prstGeom prst="diamond">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34764870-F8B4-41EA-F31A-A3B1C5084F97}"/>
              </a:ext>
            </a:extLst>
          </p:cNvPr>
          <p:cNvSpPr txBox="1"/>
          <p:nvPr/>
        </p:nvSpPr>
        <p:spPr>
          <a:xfrm>
            <a:off x="3425449" y="1442183"/>
            <a:ext cx="732893" cy="369332"/>
          </a:xfrm>
          <a:prstGeom prst="rect">
            <a:avLst/>
          </a:prstGeom>
          <a:noFill/>
        </p:spPr>
        <p:txBody>
          <a:bodyPr wrap="none" rtlCol="0">
            <a:spAutoFit/>
          </a:bodyPr>
          <a:lstStyle/>
          <a:p>
            <a:r>
              <a:rPr lang="en-US" dirty="0"/>
              <a:t>Has-A</a:t>
            </a:r>
            <a:endParaRPr lang="en-IN" dirty="0"/>
          </a:p>
        </p:txBody>
      </p:sp>
    </p:spTree>
    <p:extLst>
      <p:ext uri="{BB962C8B-B14F-4D97-AF65-F5344CB8AC3E}">
        <p14:creationId xmlns:p14="http://schemas.microsoft.com/office/powerpoint/2010/main" val="128078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305BE763-902A-8052-0271-D218146BC690}"/>
              </a:ext>
            </a:extLst>
          </p:cNvPr>
          <p:cNvSpPr/>
          <p:nvPr/>
        </p:nvSpPr>
        <p:spPr>
          <a:xfrm>
            <a:off x="4468053" y="1126435"/>
            <a:ext cx="3236015"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Map.Entry&lt;K, V&gt;</a:t>
            </a:r>
            <a:endParaRPr lang="en-IN" sz="2400" dirty="0"/>
          </a:p>
        </p:txBody>
      </p:sp>
      <p:sp>
        <p:nvSpPr>
          <p:cNvPr id="3" name="Oval 2">
            <a:extLst>
              <a:ext uri="{FF2B5EF4-FFF2-40B4-BE49-F238E27FC236}">
                <a16:creationId xmlns:a16="http://schemas.microsoft.com/office/drawing/2014/main" id="{49CD7D39-CCBD-D5A3-B3B2-E0061783B32A}"/>
              </a:ext>
            </a:extLst>
          </p:cNvPr>
          <p:cNvSpPr/>
          <p:nvPr/>
        </p:nvSpPr>
        <p:spPr>
          <a:xfrm>
            <a:off x="4977848" y="2299993"/>
            <a:ext cx="2236304"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Map&lt;K, V&gt;</a:t>
            </a:r>
            <a:endParaRPr lang="en-IN" sz="2400" dirty="0"/>
          </a:p>
        </p:txBody>
      </p:sp>
      <p:sp>
        <p:nvSpPr>
          <p:cNvPr id="4" name="Oval 3">
            <a:extLst>
              <a:ext uri="{FF2B5EF4-FFF2-40B4-BE49-F238E27FC236}">
                <a16:creationId xmlns:a16="http://schemas.microsoft.com/office/drawing/2014/main" id="{F7CAB0D4-821F-F935-2ECB-16F39E4EBD17}"/>
              </a:ext>
            </a:extLst>
          </p:cNvPr>
          <p:cNvSpPr/>
          <p:nvPr/>
        </p:nvSpPr>
        <p:spPr>
          <a:xfrm>
            <a:off x="4395581" y="3473551"/>
            <a:ext cx="3380957"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SortedMap&lt;K, V&gt;</a:t>
            </a:r>
            <a:endParaRPr lang="en-IN" sz="2400" dirty="0"/>
          </a:p>
        </p:txBody>
      </p:sp>
      <p:cxnSp>
        <p:nvCxnSpPr>
          <p:cNvPr id="5" name="Straight Arrow Connector 4">
            <a:extLst>
              <a:ext uri="{FF2B5EF4-FFF2-40B4-BE49-F238E27FC236}">
                <a16:creationId xmlns:a16="http://schemas.microsoft.com/office/drawing/2014/main" id="{DF999DB7-A169-6EF0-F35E-ED91AEE90A78}"/>
              </a:ext>
            </a:extLst>
          </p:cNvPr>
          <p:cNvCxnSpPr>
            <a:cxnSpLocks/>
            <a:stCxn id="3" idx="0"/>
            <a:endCxn id="2" idx="4"/>
          </p:cNvCxnSpPr>
          <p:nvPr/>
        </p:nvCxnSpPr>
        <p:spPr>
          <a:xfrm flipH="1" flipV="1">
            <a:off x="6086061" y="1842053"/>
            <a:ext cx="9939" cy="45794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6" name="Straight Arrow Connector 5">
            <a:extLst>
              <a:ext uri="{FF2B5EF4-FFF2-40B4-BE49-F238E27FC236}">
                <a16:creationId xmlns:a16="http://schemas.microsoft.com/office/drawing/2014/main" id="{427D33CD-B4CE-40B7-4FF8-2DA342558F36}"/>
              </a:ext>
            </a:extLst>
          </p:cNvPr>
          <p:cNvCxnSpPr>
            <a:cxnSpLocks/>
            <a:endCxn id="3" idx="4"/>
          </p:cNvCxnSpPr>
          <p:nvPr/>
        </p:nvCxnSpPr>
        <p:spPr>
          <a:xfrm flipV="1">
            <a:off x="6096000" y="3015611"/>
            <a:ext cx="0" cy="41413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2F5D73A8-FE86-FE31-B518-7AFB2B9414A7}"/>
              </a:ext>
            </a:extLst>
          </p:cNvPr>
          <p:cNvSpPr/>
          <p:nvPr/>
        </p:nvSpPr>
        <p:spPr>
          <a:xfrm>
            <a:off x="4107345" y="4762325"/>
            <a:ext cx="3977309" cy="7156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NavigableMap&lt;K, V&gt;</a:t>
            </a:r>
            <a:endParaRPr lang="en-IN" sz="2400" dirty="0"/>
          </a:p>
        </p:txBody>
      </p:sp>
      <p:cxnSp>
        <p:nvCxnSpPr>
          <p:cNvPr id="8" name="Straight Arrow Connector 7">
            <a:extLst>
              <a:ext uri="{FF2B5EF4-FFF2-40B4-BE49-F238E27FC236}">
                <a16:creationId xmlns:a16="http://schemas.microsoft.com/office/drawing/2014/main" id="{80545F4B-8DA1-39BB-7A79-09B5225B70CB}"/>
              </a:ext>
            </a:extLst>
          </p:cNvPr>
          <p:cNvCxnSpPr>
            <a:cxnSpLocks/>
            <a:stCxn id="7" idx="0"/>
            <a:endCxn id="4" idx="4"/>
          </p:cNvCxnSpPr>
          <p:nvPr/>
        </p:nvCxnSpPr>
        <p:spPr>
          <a:xfrm flipH="1" flipV="1">
            <a:off x="6086060" y="4189169"/>
            <a:ext cx="9940" cy="573156"/>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DC3AEA71-3AC3-E47C-3D39-3F58AFDED62C}"/>
              </a:ext>
            </a:extLst>
          </p:cNvPr>
          <p:cNvSpPr txBox="1"/>
          <p:nvPr/>
        </p:nvSpPr>
        <p:spPr>
          <a:xfrm>
            <a:off x="6095999" y="1886852"/>
            <a:ext cx="919995" cy="369332"/>
          </a:xfrm>
          <a:prstGeom prst="rect">
            <a:avLst/>
          </a:prstGeom>
          <a:noFill/>
        </p:spPr>
        <p:txBody>
          <a:bodyPr wrap="none" rtlCol="0">
            <a:spAutoFit/>
          </a:bodyPr>
          <a:lstStyle/>
          <a:p>
            <a:r>
              <a:rPr lang="en-US" dirty="0"/>
              <a:t>extends</a:t>
            </a:r>
            <a:endParaRPr lang="en-IN" dirty="0"/>
          </a:p>
        </p:txBody>
      </p:sp>
      <p:sp>
        <p:nvSpPr>
          <p:cNvPr id="20" name="TextBox 19">
            <a:extLst>
              <a:ext uri="{FF2B5EF4-FFF2-40B4-BE49-F238E27FC236}">
                <a16:creationId xmlns:a16="http://schemas.microsoft.com/office/drawing/2014/main" id="{63F2CB1F-6888-17CE-9027-1675E414ECBE}"/>
              </a:ext>
            </a:extLst>
          </p:cNvPr>
          <p:cNvSpPr txBox="1"/>
          <p:nvPr/>
        </p:nvSpPr>
        <p:spPr>
          <a:xfrm>
            <a:off x="6086059" y="3038010"/>
            <a:ext cx="919995" cy="369332"/>
          </a:xfrm>
          <a:prstGeom prst="rect">
            <a:avLst/>
          </a:prstGeom>
          <a:noFill/>
        </p:spPr>
        <p:txBody>
          <a:bodyPr wrap="none" rtlCol="0">
            <a:spAutoFit/>
          </a:bodyPr>
          <a:lstStyle/>
          <a:p>
            <a:r>
              <a:rPr lang="en-US" dirty="0"/>
              <a:t>extends</a:t>
            </a:r>
            <a:endParaRPr lang="en-IN" dirty="0"/>
          </a:p>
        </p:txBody>
      </p:sp>
      <p:sp>
        <p:nvSpPr>
          <p:cNvPr id="21" name="TextBox 20">
            <a:extLst>
              <a:ext uri="{FF2B5EF4-FFF2-40B4-BE49-F238E27FC236}">
                <a16:creationId xmlns:a16="http://schemas.microsoft.com/office/drawing/2014/main" id="{FDC0DC69-B8B5-84A8-9CF5-C99CA8E67DE4}"/>
              </a:ext>
            </a:extLst>
          </p:cNvPr>
          <p:cNvSpPr txBox="1"/>
          <p:nvPr/>
        </p:nvSpPr>
        <p:spPr>
          <a:xfrm>
            <a:off x="6095999" y="4291081"/>
            <a:ext cx="919995" cy="369332"/>
          </a:xfrm>
          <a:prstGeom prst="rect">
            <a:avLst/>
          </a:prstGeom>
          <a:noFill/>
        </p:spPr>
        <p:txBody>
          <a:bodyPr wrap="none" rtlCol="0">
            <a:spAutoFit/>
          </a:bodyPr>
          <a:lstStyle/>
          <a:p>
            <a:r>
              <a:rPr lang="en-US" dirty="0"/>
              <a:t>extends</a:t>
            </a:r>
            <a:endParaRPr lang="en-IN" dirty="0"/>
          </a:p>
        </p:txBody>
      </p:sp>
    </p:spTree>
    <p:extLst>
      <p:ext uri="{BB962C8B-B14F-4D97-AF65-F5344CB8AC3E}">
        <p14:creationId xmlns:p14="http://schemas.microsoft.com/office/powerpoint/2010/main" val="3162408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86F3E83-24D3-C66D-3EAB-C71BC842460D}"/>
              </a:ext>
            </a:extLst>
          </p:cNvPr>
          <p:cNvSpPr txBox="1">
            <a:spLocks/>
          </p:cNvSpPr>
          <p:nvPr/>
        </p:nvSpPr>
        <p:spPr>
          <a:xfrm>
            <a:off x="69444" y="183874"/>
            <a:ext cx="12053109" cy="649025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v"/>
            </a:pPr>
            <a:r>
              <a:rPr lang="en-US" sz="1800" b="1" dirty="0"/>
              <a:t>Iterator&lt;E&gt; (Fail-Fast Iterator):</a:t>
            </a:r>
          </a:p>
          <a:p>
            <a:pPr marL="285750" indent="-285750" algn="l">
              <a:buFont typeface="Wingdings" panose="05000000000000000000" pitchFamily="2" charset="2"/>
              <a:buChar char="ü"/>
            </a:pPr>
            <a:r>
              <a:rPr lang="en-US" sz="1800" dirty="0"/>
              <a:t>Iterator&lt;E&gt; allows us to iterate over a collection (like List, Set, or Map) in sequential manner.</a:t>
            </a:r>
          </a:p>
          <a:p>
            <a:pPr marL="285750" indent="-285750" algn="l">
              <a:buFont typeface="Wingdings" panose="05000000000000000000" pitchFamily="2" charset="2"/>
              <a:buChar char="ü"/>
            </a:pPr>
            <a:r>
              <a:rPr lang="en-US" sz="1800" dirty="0"/>
              <a:t>It has the three methods: </a:t>
            </a:r>
            <a:r>
              <a:rPr lang="en-US" sz="1800" b="1" dirty="0" err="1"/>
              <a:t>hasNext</a:t>
            </a:r>
            <a:r>
              <a:rPr lang="en-US" sz="1800" b="1" dirty="0"/>
              <a:t>(), next(), remove()</a:t>
            </a:r>
            <a:r>
              <a:rPr lang="en-US" sz="1800" dirty="0"/>
              <a:t>.</a:t>
            </a:r>
          </a:p>
          <a:p>
            <a:pPr marL="285750" indent="-285750" algn="l">
              <a:buFont typeface="Wingdings" panose="05000000000000000000" pitchFamily="2" charset="2"/>
              <a:buChar char="ü"/>
            </a:pPr>
            <a:r>
              <a:rPr lang="en-US" sz="1800" dirty="0"/>
              <a:t>Iterator&lt;E&gt; doesn’t allow any modifications to the collection while traversal. It will throw </a:t>
            </a:r>
            <a:r>
              <a:rPr lang="en-US" sz="1800" b="1" dirty="0" err="1"/>
              <a:t>ConcurrentModificationException</a:t>
            </a:r>
            <a:r>
              <a:rPr lang="en-US" sz="1800" dirty="0"/>
              <a:t>.</a:t>
            </a:r>
          </a:p>
          <a:p>
            <a:pPr algn="l"/>
            <a:r>
              <a:rPr lang="en-US" sz="1800" b="1" dirty="0"/>
              <a:t>Ex: </a:t>
            </a:r>
            <a:r>
              <a:rPr lang="en-US" sz="1800" dirty="0"/>
              <a:t>List&lt;Integer&gt; </a:t>
            </a:r>
            <a:r>
              <a:rPr lang="en-US" sz="1800" dirty="0" err="1"/>
              <a:t>myList</a:t>
            </a:r>
            <a:r>
              <a:rPr lang="en-US" sz="1800" dirty="0"/>
              <a:t> = new ArrayList&lt;&gt;();</a:t>
            </a:r>
            <a:endParaRPr lang="en-US" sz="1800" b="1" dirty="0"/>
          </a:p>
          <a:p>
            <a:pPr algn="l"/>
            <a:r>
              <a:rPr lang="en-US" sz="1800" b="1" dirty="0"/>
              <a:t>      </a:t>
            </a:r>
            <a:r>
              <a:rPr lang="en-IN" sz="1800" dirty="0"/>
              <a:t>Iterator&lt;Integer&gt; </a:t>
            </a:r>
            <a:r>
              <a:rPr lang="en-IN" sz="1800" dirty="0" err="1"/>
              <a:t>myIterator</a:t>
            </a:r>
            <a:r>
              <a:rPr lang="en-IN" sz="1800" dirty="0"/>
              <a:t> = </a:t>
            </a:r>
            <a:r>
              <a:rPr lang="en-IN" sz="1800" dirty="0" err="1"/>
              <a:t>myList.iterator</a:t>
            </a:r>
            <a:r>
              <a:rPr lang="en-IN" sz="1800" dirty="0"/>
              <a:t>();</a:t>
            </a:r>
            <a:br>
              <a:rPr lang="en-IN" sz="1800" dirty="0"/>
            </a:br>
            <a:r>
              <a:rPr lang="en-IN" sz="1800" dirty="0"/>
              <a:t>      while(</a:t>
            </a:r>
            <a:r>
              <a:rPr lang="en-IN" sz="1800" dirty="0" err="1"/>
              <a:t>myIterator.hasNext</a:t>
            </a:r>
            <a:r>
              <a:rPr lang="en-IN" sz="1800" dirty="0"/>
              <a:t>()){</a:t>
            </a:r>
            <a:br>
              <a:rPr lang="en-IN" sz="1800" dirty="0"/>
            </a:br>
            <a:r>
              <a:rPr lang="en-IN" sz="1800" dirty="0"/>
              <a:t>    	</a:t>
            </a:r>
            <a:r>
              <a:rPr lang="en-IN" sz="1800" dirty="0" err="1"/>
              <a:t>System.</a:t>
            </a:r>
            <a:r>
              <a:rPr lang="en-IN" sz="1800" i="1" dirty="0" err="1"/>
              <a:t>out</a:t>
            </a:r>
            <a:r>
              <a:rPr lang="en-IN" sz="1800" dirty="0" err="1"/>
              <a:t>.println</a:t>
            </a:r>
            <a:r>
              <a:rPr lang="en-IN" sz="1800" dirty="0"/>
              <a:t>(</a:t>
            </a:r>
            <a:r>
              <a:rPr lang="en-IN" sz="1800" dirty="0" err="1"/>
              <a:t>myIterator.next</a:t>
            </a:r>
            <a:r>
              <a:rPr lang="en-IN" sz="1800" dirty="0"/>
              <a:t>());</a:t>
            </a:r>
            <a:br>
              <a:rPr lang="en-IN" sz="1800" dirty="0"/>
            </a:br>
            <a:r>
              <a:rPr lang="en-IN" sz="1800" dirty="0"/>
              <a:t>    	</a:t>
            </a:r>
            <a:r>
              <a:rPr lang="en-IN" sz="1800" dirty="0" err="1"/>
              <a:t>myList.add</a:t>
            </a:r>
            <a:r>
              <a:rPr lang="en-IN" sz="1800" dirty="0"/>
              <a:t>(456); // This will throw </a:t>
            </a:r>
            <a:r>
              <a:rPr lang="en-IN" sz="1800" dirty="0" err="1"/>
              <a:t>ConcurrentModificationException</a:t>
            </a:r>
            <a:br>
              <a:rPr lang="en-IN" sz="1800" dirty="0"/>
            </a:br>
            <a:r>
              <a:rPr lang="en-IN" sz="1800" dirty="0"/>
              <a:t>      }</a:t>
            </a:r>
            <a:endParaRPr lang="en-US" sz="1800" dirty="0"/>
          </a:p>
          <a:p>
            <a:pPr marL="285750" indent="-285750" algn="l">
              <a:buFont typeface="Wingdings" panose="05000000000000000000" pitchFamily="2" charset="2"/>
              <a:buChar char="v"/>
            </a:pPr>
            <a:r>
              <a:rPr lang="en-US" sz="1800" b="1" dirty="0"/>
              <a:t>ListIterator&lt;E&gt; extends Iterator&lt;E&gt; (Fail-Safe Iterator OR Weakly-Consistent Iterators):</a:t>
            </a:r>
          </a:p>
          <a:p>
            <a:pPr marL="285750" indent="-285750" algn="l">
              <a:buFont typeface="Wingdings" panose="05000000000000000000" pitchFamily="2" charset="2"/>
              <a:buChar char="ü"/>
            </a:pPr>
            <a:r>
              <a:rPr lang="en-US" sz="1800" dirty="0"/>
              <a:t>ListIterator&lt;E&gt; allows us to iterate bi-directionally over List&lt;E&gt; implementations only.</a:t>
            </a:r>
          </a:p>
          <a:p>
            <a:pPr marL="285750" indent="-285750" algn="l">
              <a:buFont typeface="Wingdings" panose="05000000000000000000" pitchFamily="2" charset="2"/>
              <a:buChar char="ü"/>
            </a:pPr>
            <a:r>
              <a:rPr lang="en-US" sz="1800" dirty="0"/>
              <a:t>It has the following methods: </a:t>
            </a:r>
            <a:r>
              <a:rPr lang="en-US" sz="1800" b="1" dirty="0" err="1"/>
              <a:t>hasPrevious</a:t>
            </a:r>
            <a:r>
              <a:rPr lang="en-US" sz="1800" b="1" dirty="0"/>
              <a:t>(), previous(), </a:t>
            </a:r>
            <a:r>
              <a:rPr lang="en-US" sz="1800" b="1" dirty="0" err="1"/>
              <a:t>hasNext</a:t>
            </a:r>
            <a:r>
              <a:rPr lang="en-US" sz="1800" b="1" dirty="0"/>
              <a:t>(), next(), remove(), set(), add(), </a:t>
            </a:r>
            <a:r>
              <a:rPr lang="en-US" sz="1800" b="1" dirty="0" err="1"/>
              <a:t>nextIndex</a:t>
            </a:r>
            <a:r>
              <a:rPr lang="en-US" sz="1800" b="1" dirty="0"/>
              <a:t>(), </a:t>
            </a:r>
            <a:r>
              <a:rPr lang="en-US" sz="1800" b="1" dirty="0" err="1"/>
              <a:t>previousIndex</a:t>
            </a:r>
            <a:r>
              <a:rPr lang="en-US" sz="1800" b="1" dirty="0"/>
              <a:t>()</a:t>
            </a:r>
            <a:r>
              <a:rPr lang="en-US" sz="1800" dirty="0"/>
              <a:t>.</a:t>
            </a:r>
          </a:p>
          <a:p>
            <a:pPr marL="285750" indent="-285750" algn="l">
              <a:buFont typeface="Wingdings" panose="05000000000000000000" pitchFamily="2" charset="2"/>
              <a:buChar char="ü"/>
            </a:pPr>
            <a:r>
              <a:rPr lang="en-US" sz="1800" dirty="0"/>
              <a:t>ListIterator&lt;E&gt; allows modifications to the List&lt;E&gt; implementations and doesn’t throw any Exception.</a:t>
            </a:r>
          </a:p>
          <a:p>
            <a:pPr algn="l"/>
            <a:r>
              <a:rPr lang="en-US" sz="1800" b="1" dirty="0"/>
              <a:t>Ex: </a:t>
            </a:r>
            <a:r>
              <a:rPr lang="en-US" sz="1800" dirty="0"/>
              <a:t>List&lt;Integer&gt; </a:t>
            </a:r>
            <a:r>
              <a:rPr lang="en-US" sz="1800" dirty="0" err="1"/>
              <a:t>myList</a:t>
            </a:r>
            <a:r>
              <a:rPr lang="en-US" sz="1800" dirty="0"/>
              <a:t> = new ArrayList&lt;&gt;();</a:t>
            </a:r>
            <a:endParaRPr lang="en-US" sz="1800" b="1" dirty="0"/>
          </a:p>
          <a:p>
            <a:pPr algn="l"/>
            <a:r>
              <a:rPr lang="en-US" sz="1800" b="1" dirty="0"/>
              <a:t>      </a:t>
            </a:r>
            <a:r>
              <a:rPr lang="en-US" sz="1800" dirty="0"/>
              <a:t>List</a:t>
            </a:r>
            <a:r>
              <a:rPr lang="en-IN" sz="1800" dirty="0"/>
              <a:t>Iterator&lt;Integer&gt; </a:t>
            </a:r>
            <a:r>
              <a:rPr lang="en-IN" sz="1800" dirty="0" err="1"/>
              <a:t>myIterator</a:t>
            </a:r>
            <a:r>
              <a:rPr lang="en-IN" sz="1800" dirty="0"/>
              <a:t> = </a:t>
            </a:r>
            <a:r>
              <a:rPr lang="en-IN" sz="1800" dirty="0" err="1"/>
              <a:t>myList.listIterator</a:t>
            </a:r>
            <a:r>
              <a:rPr lang="en-IN" sz="1800" dirty="0"/>
              <a:t>();</a:t>
            </a:r>
            <a:br>
              <a:rPr lang="en-IN" sz="1800" dirty="0"/>
            </a:br>
            <a:r>
              <a:rPr lang="en-IN" sz="1800" dirty="0"/>
              <a:t>      while(</a:t>
            </a:r>
            <a:r>
              <a:rPr lang="en-IN" sz="1800" dirty="0" err="1"/>
              <a:t>myIterator.hasNext</a:t>
            </a:r>
            <a:r>
              <a:rPr lang="en-IN" sz="1800" dirty="0"/>
              <a:t>()){</a:t>
            </a:r>
            <a:br>
              <a:rPr lang="en-IN" sz="1800" dirty="0"/>
            </a:br>
            <a:r>
              <a:rPr lang="en-IN" sz="1800" dirty="0"/>
              <a:t>    	</a:t>
            </a:r>
            <a:r>
              <a:rPr lang="en-IN" sz="1800" dirty="0" err="1"/>
              <a:t>System.</a:t>
            </a:r>
            <a:r>
              <a:rPr lang="en-IN" sz="1800" i="1" dirty="0" err="1"/>
              <a:t>out</a:t>
            </a:r>
            <a:r>
              <a:rPr lang="en-IN" sz="1800" dirty="0" err="1"/>
              <a:t>.println</a:t>
            </a:r>
            <a:r>
              <a:rPr lang="en-IN" sz="1800" dirty="0"/>
              <a:t>(</a:t>
            </a:r>
            <a:r>
              <a:rPr lang="en-IN" sz="1800" dirty="0" err="1"/>
              <a:t>myIterator.next</a:t>
            </a:r>
            <a:r>
              <a:rPr lang="en-IN" sz="1800" dirty="0"/>
              <a:t>());</a:t>
            </a:r>
            <a:br>
              <a:rPr lang="en-IN" sz="1800" dirty="0"/>
            </a:br>
            <a:r>
              <a:rPr lang="en-IN" sz="1800" dirty="0"/>
              <a:t>    	</a:t>
            </a:r>
            <a:r>
              <a:rPr lang="en-IN" sz="1800" dirty="0" err="1"/>
              <a:t>myList.add</a:t>
            </a:r>
            <a:r>
              <a:rPr lang="en-IN" sz="1800" dirty="0"/>
              <a:t>(456); // This doesn’t throw any Exception and any modifications will avoid</a:t>
            </a:r>
            <a:br>
              <a:rPr lang="en-IN" sz="1800" dirty="0"/>
            </a:br>
            <a:r>
              <a:rPr lang="en-IN" sz="1800" dirty="0"/>
              <a:t>      }</a:t>
            </a:r>
            <a:endParaRPr lang="en-US" sz="1800" dirty="0"/>
          </a:p>
          <a:p>
            <a:pPr marL="285750" indent="-285750" algn="l">
              <a:buFont typeface="Wingdings" panose="05000000000000000000" pitchFamily="2" charset="2"/>
              <a:buChar char="ü"/>
            </a:pPr>
            <a:r>
              <a:rPr lang="en-US" sz="1800" dirty="0"/>
              <a:t>ListIterator&lt;E&gt; with Concurrent classes (from </a:t>
            </a:r>
            <a:r>
              <a:rPr lang="en-US" sz="1800" dirty="0" err="1"/>
              <a:t>java.util.concurrent</a:t>
            </a:r>
            <a:r>
              <a:rPr lang="en-US" sz="1800" dirty="0"/>
              <a:t> package), will get modifications after successful iteration.</a:t>
            </a:r>
          </a:p>
        </p:txBody>
      </p:sp>
    </p:spTree>
    <p:extLst>
      <p:ext uri="{BB962C8B-B14F-4D97-AF65-F5344CB8AC3E}">
        <p14:creationId xmlns:p14="http://schemas.microsoft.com/office/powerpoint/2010/main" val="11451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F0A37E5-DC4A-06F7-CDC1-5340AE7587E1}"/>
              </a:ext>
            </a:extLst>
          </p:cNvPr>
          <p:cNvSpPr txBox="1">
            <a:spLocks/>
          </p:cNvSpPr>
          <p:nvPr/>
        </p:nvSpPr>
        <p:spPr>
          <a:xfrm>
            <a:off x="838200" y="65781"/>
            <a:ext cx="10515600" cy="65812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u="sng" dirty="0"/>
              <a:t>List&lt;E&gt;</a:t>
            </a:r>
          </a:p>
        </p:txBody>
      </p:sp>
      <p:sp>
        <p:nvSpPr>
          <p:cNvPr id="4" name="Content Placeholder 2">
            <a:extLst>
              <a:ext uri="{FF2B5EF4-FFF2-40B4-BE49-F238E27FC236}">
                <a16:creationId xmlns:a16="http://schemas.microsoft.com/office/drawing/2014/main" id="{EFE24298-493A-0AD7-3307-181800AB05D3}"/>
              </a:ext>
            </a:extLst>
          </p:cNvPr>
          <p:cNvSpPr txBox="1">
            <a:spLocks/>
          </p:cNvSpPr>
          <p:nvPr/>
        </p:nvSpPr>
        <p:spPr>
          <a:xfrm>
            <a:off x="54427" y="723910"/>
            <a:ext cx="12053109" cy="2416855"/>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ü"/>
            </a:pPr>
            <a:r>
              <a:rPr lang="en-US" sz="1800" dirty="0"/>
              <a:t>Lists are collections that maintain their elements in order the way they are inserted and can contain duplicates.</a:t>
            </a:r>
          </a:p>
          <a:p>
            <a:pPr marL="285750" indent="-285750" algn="l">
              <a:buFont typeface="Wingdings" panose="05000000000000000000" pitchFamily="2" charset="2"/>
              <a:buChar char="ü"/>
            </a:pPr>
            <a:r>
              <a:rPr lang="en-US" sz="1800" dirty="0"/>
              <a:t>Each element is position based and start with index “0”.</a:t>
            </a:r>
          </a:p>
          <a:p>
            <a:pPr marL="285750" indent="-285750" algn="l">
              <a:buFont typeface="Wingdings" panose="05000000000000000000" pitchFamily="2" charset="2"/>
              <a:buChar char="v"/>
            </a:pPr>
            <a:r>
              <a:rPr lang="en-US" sz="1800" b="1" dirty="0"/>
              <a:t>Implementations of the List&lt;E&gt;:</a:t>
            </a:r>
          </a:p>
          <a:p>
            <a:pPr algn="l"/>
            <a:r>
              <a:rPr lang="en-US" sz="1800" b="1" dirty="0"/>
              <a:t>	</a:t>
            </a:r>
            <a:r>
              <a:rPr lang="en-US" sz="1800" dirty="0"/>
              <a:t>1. ArrayList&lt;E&gt;</a:t>
            </a:r>
          </a:p>
          <a:p>
            <a:pPr algn="l"/>
            <a:r>
              <a:rPr lang="en-US" sz="1800" dirty="0"/>
              <a:t>	2. LinkedList&lt;E&gt;</a:t>
            </a:r>
          </a:p>
          <a:p>
            <a:pPr algn="l"/>
            <a:r>
              <a:rPr lang="en-US" sz="1800" dirty="0"/>
              <a:t>	3. Vector&lt;E&gt;</a:t>
            </a:r>
          </a:p>
          <a:p>
            <a:pPr algn="l"/>
            <a:r>
              <a:rPr lang="en-US" sz="1800" dirty="0"/>
              <a:t>	4. Stack&lt;E&gt; extends Vector&lt;E&gt;</a:t>
            </a:r>
          </a:p>
          <a:p>
            <a:pPr marL="285750" indent="-285750" algn="l">
              <a:buFont typeface="Wingdings" panose="05000000000000000000" pitchFamily="2" charset="2"/>
              <a:buChar char="ü"/>
            </a:pPr>
            <a:endParaRPr lang="en-US" sz="1800" dirty="0"/>
          </a:p>
        </p:txBody>
      </p:sp>
      <p:sp>
        <p:nvSpPr>
          <p:cNvPr id="5" name="Oval 4">
            <a:extLst>
              <a:ext uri="{FF2B5EF4-FFF2-40B4-BE49-F238E27FC236}">
                <a16:creationId xmlns:a16="http://schemas.microsoft.com/office/drawing/2014/main" id="{ABC5AD8B-C8DE-C283-5FBA-8EC90C13C598}"/>
              </a:ext>
            </a:extLst>
          </p:cNvPr>
          <p:cNvSpPr/>
          <p:nvPr/>
        </p:nvSpPr>
        <p:spPr>
          <a:xfrm>
            <a:off x="4962829" y="3140765"/>
            <a:ext cx="2236304"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List&lt;E&gt;</a:t>
            </a:r>
            <a:endParaRPr lang="en-IN" sz="2400" dirty="0"/>
          </a:p>
        </p:txBody>
      </p:sp>
      <p:sp>
        <p:nvSpPr>
          <p:cNvPr id="6" name="Rectangle: Rounded Corners 5">
            <a:extLst>
              <a:ext uri="{FF2B5EF4-FFF2-40B4-BE49-F238E27FC236}">
                <a16:creationId xmlns:a16="http://schemas.microsoft.com/office/drawing/2014/main" id="{F9BFAA85-A3A1-2263-C588-4BDB85D308F1}"/>
              </a:ext>
            </a:extLst>
          </p:cNvPr>
          <p:cNvSpPr/>
          <p:nvPr/>
        </p:nvSpPr>
        <p:spPr>
          <a:xfrm>
            <a:off x="934057" y="4452732"/>
            <a:ext cx="2037522"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ArrayList&lt;E&gt;</a:t>
            </a:r>
            <a:endParaRPr lang="en-IN" sz="2400" dirty="0"/>
          </a:p>
        </p:txBody>
      </p:sp>
      <p:sp>
        <p:nvSpPr>
          <p:cNvPr id="7" name="Rectangle: Rounded Corners 6">
            <a:extLst>
              <a:ext uri="{FF2B5EF4-FFF2-40B4-BE49-F238E27FC236}">
                <a16:creationId xmlns:a16="http://schemas.microsoft.com/office/drawing/2014/main" id="{62C37F42-927D-D711-4DE5-6E567251D0F7}"/>
              </a:ext>
            </a:extLst>
          </p:cNvPr>
          <p:cNvSpPr/>
          <p:nvPr/>
        </p:nvSpPr>
        <p:spPr>
          <a:xfrm>
            <a:off x="5062220" y="4442795"/>
            <a:ext cx="2037522"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LinkedList&lt;E&gt;</a:t>
            </a:r>
            <a:endParaRPr lang="en-IN" sz="2400" dirty="0"/>
          </a:p>
        </p:txBody>
      </p:sp>
      <p:sp>
        <p:nvSpPr>
          <p:cNvPr id="8" name="Rectangle: Rounded Corners 7">
            <a:extLst>
              <a:ext uri="{FF2B5EF4-FFF2-40B4-BE49-F238E27FC236}">
                <a16:creationId xmlns:a16="http://schemas.microsoft.com/office/drawing/2014/main" id="{3CF41A6A-2157-F54E-9623-F5E459E63B5B}"/>
              </a:ext>
            </a:extLst>
          </p:cNvPr>
          <p:cNvSpPr/>
          <p:nvPr/>
        </p:nvSpPr>
        <p:spPr>
          <a:xfrm>
            <a:off x="9190383" y="4442795"/>
            <a:ext cx="2037522" cy="487017"/>
          </a:xfrm>
          <a:prstGeom prst="roundRect">
            <a:avLst/>
          </a:prstGeom>
          <a:solidFill>
            <a:schemeClr val="accent2">
              <a:lumMod val="60000"/>
              <a:lumOff val="4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Vector&lt;E&gt;</a:t>
            </a:r>
            <a:endParaRPr lang="en-IN" sz="2400" dirty="0"/>
          </a:p>
        </p:txBody>
      </p:sp>
      <p:sp>
        <p:nvSpPr>
          <p:cNvPr id="9" name="Rectangle: Rounded Corners 8">
            <a:extLst>
              <a:ext uri="{FF2B5EF4-FFF2-40B4-BE49-F238E27FC236}">
                <a16:creationId xmlns:a16="http://schemas.microsoft.com/office/drawing/2014/main" id="{4C77D0E5-BBE0-3E41-8D34-CA41C801E686}"/>
              </a:ext>
            </a:extLst>
          </p:cNvPr>
          <p:cNvSpPr/>
          <p:nvPr/>
        </p:nvSpPr>
        <p:spPr>
          <a:xfrm>
            <a:off x="9190383" y="5529474"/>
            <a:ext cx="2037522" cy="487017"/>
          </a:xfrm>
          <a:prstGeom prst="roundRect">
            <a:avLst/>
          </a:prstGeom>
          <a:solidFill>
            <a:schemeClr val="accent2">
              <a:lumMod val="60000"/>
              <a:lumOff val="4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Stack&lt;E&gt;</a:t>
            </a:r>
            <a:endParaRPr lang="en-IN" sz="2400" dirty="0"/>
          </a:p>
        </p:txBody>
      </p:sp>
      <p:cxnSp>
        <p:nvCxnSpPr>
          <p:cNvPr id="10" name="Straight Arrow Connector 9">
            <a:extLst>
              <a:ext uri="{FF2B5EF4-FFF2-40B4-BE49-F238E27FC236}">
                <a16:creationId xmlns:a16="http://schemas.microsoft.com/office/drawing/2014/main" id="{DF7701A1-D68E-53EA-A47B-252019201660}"/>
              </a:ext>
            </a:extLst>
          </p:cNvPr>
          <p:cNvCxnSpPr>
            <a:cxnSpLocks/>
            <a:stCxn id="7" idx="0"/>
            <a:endCxn id="5" idx="4"/>
          </p:cNvCxnSpPr>
          <p:nvPr/>
        </p:nvCxnSpPr>
        <p:spPr>
          <a:xfrm flipV="1">
            <a:off x="6080981" y="3717236"/>
            <a:ext cx="0" cy="725559"/>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50B4BE70-C3DA-DF25-AF99-A87569247393}"/>
              </a:ext>
            </a:extLst>
          </p:cNvPr>
          <p:cNvCxnSpPr>
            <a:cxnSpLocks/>
          </p:cNvCxnSpPr>
          <p:nvPr/>
        </p:nvCxnSpPr>
        <p:spPr>
          <a:xfrm>
            <a:off x="1928191" y="4098234"/>
            <a:ext cx="8259418"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4A9C95C7-0CA2-C522-2C46-CCE6EEA1C04A}"/>
              </a:ext>
            </a:extLst>
          </p:cNvPr>
          <p:cNvCxnSpPr>
            <a:cxnSpLocks/>
            <a:stCxn id="6" idx="0"/>
          </p:cNvCxnSpPr>
          <p:nvPr/>
        </p:nvCxnSpPr>
        <p:spPr>
          <a:xfrm flipV="1">
            <a:off x="1952818" y="4098234"/>
            <a:ext cx="0" cy="354498"/>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E4268DA1-FE79-6166-00CE-831E5A9FE5DD}"/>
              </a:ext>
            </a:extLst>
          </p:cNvPr>
          <p:cNvCxnSpPr>
            <a:cxnSpLocks/>
          </p:cNvCxnSpPr>
          <p:nvPr/>
        </p:nvCxnSpPr>
        <p:spPr>
          <a:xfrm flipV="1">
            <a:off x="10185731" y="4088297"/>
            <a:ext cx="0" cy="354498"/>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623984B1-7ED4-4188-9B9E-2EF34F3BBBD7}"/>
              </a:ext>
            </a:extLst>
          </p:cNvPr>
          <p:cNvCxnSpPr>
            <a:cxnSpLocks/>
            <a:stCxn id="9" idx="0"/>
            <a:endCxn id="8" idx="2"/>
          </p:cNvCxnSpPr>
          <p:nvPr/>
        </p:nvCxnSpPr>
        <p:spPr>
          <a:xfrm flipV="1">
            <a:off x="10209144" y="4929812"/>
            <a:ext cx="0" cy="59966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4E311DFE-9329-A76F-26FA-ED39EC90409C}"/>
              </a:ext>
            </a:extLst>
          </p:cNvPr>
          <p:cNvSpPr txBox="1"/>
          <p:nvPr/>
        </p:nvSpPr>
        <p:spPr>
          <a:xfrm>
            <a:off x="1952818" y="4109901"/>
            <a:ext cx="1298241" cy="369332"/>
          </a:xfrm>
          <a:prstGeom prst="rect">
            <a:avLst/>
          </a:prstGeom>
          <a:noFill/>
        </p:spPr>
        <p:txBody>
          <a:bodyPr wrap="none" rtlCol="0">
            <a:spAutoFit/>
          </a:bodyPr>
          <a:lstStyle/>
          <a:p>
            <a:r>
              <a:rPr lang="en-US" dirty="0"/>
              <a:t>implements</a:t>
            </a:r>
            <a:endParaRPr lang="en-IN" dirty="0"/>
          </a:p>
        </p:txBody>
      </p:sp>
      <p:sp>
        <p:nvSpPr>
          <p:cNvPr id="25" name="TextBox 24">
            <a:extLst>
              <a:ext uri="{FF2B5EF4-FFF2-40B4-BE49-F238E27FC236}">
                <a16:creationId xmlns:a16="http://schemas.microsoft.com/office/drawing/2014/main" id="{186E4101-5DBD-16AF-24FE-BBC21E9CE6D2}"/>
              </a:ext>
            </a:extLst>
          </p:cNvPr>
          <p:cNvSpPr txBox="1"/>
          <p:nvPr/>
        </p:nvSpPr>
        <p:spPr>
          <a:xfrm>
            <a:off x="6080980" y="4099893"/>
            <a:ext cx="1298241" cy="369332"/>
          </a:xfrm>
          <a:prstGeom prst="rect">
            <a:avLst/>
          </a:prstGeom>
          <a:noFill/>
        </p:spPr>
        <p:txBody>
          <a:bodyPr wrap="none" rtlCol="0">
            <a:spAutoFit/>
          </a:bodyPr>
          <a:lstStyle/>
          <a:p>
            <a:r>
              <a:rPr lang="en-US" dirty="0"/>
              <a:t>implements</a:t>
            </a:r>
            <a:endParaRPr lang="en-IN" dirty="0"/>
          </a:p>
        </p:txBody>
      </p:sp>
      <p:sp>
        <p:nvSpPr>
          <p:cNvPr id="26" name="TextBox 25">
            <a:extLst>
              <a:ext uri="{FF2B5EF4-FFF2-40B4-BE49-F238E27FC236}">
                <a16:creationId xmlns:a16="http://schemas.microsoft.com/office/drawing/2014/main" id="{59583A10-FC5D-1F4C-E8B8-F117F01D8A45}"/>
              </a:ext>
            </a:extLst>
          </p:cNvPr>
          <p:cNvSpPr txBox="1"/>
          <p:nvPr/>
        </p:nvSpPr>
        <p:spPr>
          <a:xfrm>
            <a:off x="10209144" y="4099893"/>
            <a:ext cx="1298241" cy="369332"/>
          </a:xfrm>
          <a:prstGeom prst="rect">
            <a:avLst/>
          </a:prstGeom>
          <a:noFill/>
        </p:spPr>
        <p:txBody>
          <a:bodyPr wrap="none" rtlCol="0">
            <a:spAutoFit/>
          </a:bodyPr>
          <a:lstStyle/>
          <a:p>
            <a:r>
              <a:rPr lang="en-US" dirty="0"/>
              <a:t>implements</a:t>
            </a:r>
            <a:endParaRPr lang="en-IN" dirty="0"/>
          </a:p>
        </p:txBody>
      </p:sp>
      <p:sp>
        <p:nvSpPr>
          <p:cNvPr id="27" name="TextBox 26">
            <a:extLst>
              <a:ext uri="{FF2B5EF4-FFF2-40B4-BE49-F238E27FC236}">
                <a16:creationId xmlns:a16="http://schemas.microsoft.com/office/drawing/2014/main" id="{88B5C43A-F3C1-8114-CEAE-9DA75EF412A5}"/>
              </a:ext>
            </a:extLst>
          </p:cNvPr>
          <p:cNvSpPr txBox="1"/>
          <p:nvPr/>
        </p:nvSpPr>
        <p:spPr>
          <a:xfrm>
            <a:off x="10209144" y="5087186"/>
            <a:ext cx="919995" cy="369332"/>
          </a:xfrm>
          <a:prstGeom prst="rect">
            <a:avLst/>
          </a:prstGeom>
          <a:noFill/>
        </p:spPr>
        <p:txBody>
          <a:bodyPr wrap="none" rtlCol="0">
            <a:spAutoFit/>
          </a:bodyPr>
          <a:lstStyle/>
          <a:p>
            <a:r>
              <a:rPr lang="en-US" dirty="0"/>
              <a:t>extends</a:t>
            </a:r>
            <a:endParaRPr lang="en-IN" dirty="0"/>
          </a:p>
        </p:txBody>
      </p:sp>
    </p:spTree>
    <p:extLst>
      <p:ext uri="{BB962C8B-B14F-4D97-AF65-F5344CB8AC3E}">
        <p14:creationId xmlns:p14="http://schemas.microsoft.com/office/powerpoint/2010/main" val="1568021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21DAFE3-83D4-69ED-278D-7E469457CA8D}"/>
              </a:ext>
            </a:extLst>
          </p:cNvPr>
          <p:cNvSpPr txBox="1">
            <a:spLocks/>
          </p:cNvSpPr>
          <p:nvPr/>
        </p:nvSpPr>
        <p:spPr>
          <a:xfrm>
            <a:off x="69445" y="183874"/>
            <a:ext cx="12053109" cy="6490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dirty="0"/>
          </a:p>
        </p:txBody>
      </p:sp>
      <p:sp>
        <p:nvSpPr>
          <p:cNvPr id="3" name="Content Placeholder 2">
            <a:extLst>
              <a:ext uri="{FF2B5EF4-FFF2-40B4-BE49-F238E27FC236}">
                <a16:creationId xmlns:a16="http://schemas.microsoft.com/office/drawing/2014/main" id="{969CB81A-BA9C-21D2-F968-8908986CD098}"/>
              </a:ext>
            </a:extLst>
          </p:cNvPr>
          <p:cNvSpPr txBox="1">
            <a:spLocks/>
          </p:cNvSpPr>
          <p:nvPr/>
        </p:nvSpPr>
        <p:spPr>
          <a:xfrm>
            <a:off x="69445" y="183874"/>
            <a:ext cx="12053109" cy="6490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b="1" dirty="0"/>
          </a:p>
        </p:txBody>
      </p:sp>
      <p:sp>
        <p:nvSpPr>
          <p:cNvPr id="6" name="Content Placeholder 2">
            <a:extLst>
              <a:ext uri="{FF2B5EF4-FFF2-40B4-BE49-F238E27FC236}">
                <a16:creationId xmlns:a16="http://schemas.microsoft.com/office/drawing/2014/main" id="{12DE8922-78FD-D00B-2B61-722120EA3B48}"/>
              </a:ext>
            </a:extLst>
          </p:cNvPr>
          <p:cNvSpPr txBox="1">
            <a:spLocks/>
          </p:cNvSpPr>
          <p:nvPr/>
        </p:nvSpPr>
        <p:spPr>
          <a:xfrm>
            <a:off x="69444" y="183874"/>
            <a:ext cx="12053109" cy="649025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AutoNum type="arabicPeriod"/>
            </a:pPr>
            <a:r>
              <a:rPr lang="en-US" sz="1800" b="1" dirty="0"/>
              <a:t>ArrayList&lt;E&gt;:</a:t>
            </a:r>
          </a:p>
          <a:p>
            <a:pPr marL="285750" indent="-285750" algn="l">
              <a:buFont typeface="Wingdings" panose="05000000000000000000" pitchFamily="2" charset="2"/>
              <a:buChar char="ü"/>
            </a:pPr>
            <a:r>
              <a:rPr lang="en-US" sz="1800" dirty="0"/>
              <a:t>ArrayList&lt;E&gt; is a dynamic array, can be used when we not sure about the size of the array.</a:t>
            </a:r>
          </a:p>
          <a:p>
            <a:pPr marL="285750" indent="-285750" algn="l">
              <a:buFont typeface="Wingdings" panose="05000000000000000000" pitchFamily="2" charset="2"/>
              <a:buChar char="ü"/>
            </a:pPr>
            <a:r>
              <a:rPr lang="en-US" sz="1800" dirty="0"/>
              <a:t>Internally it uses a normal Array, set to default capacity (10). When the capacity is reached, it will create a new array of bigger size (50% of it’s current capacity) and copies all the elements form the old Array to the new Array.</a:t>
            </a:r>
          </a:p>
          <a:p>
            <a:pPr marL="285750" indent="-285750" algn="l">
              <a:buFont typeface="Wingdings" panose="05000000000000000000" pitchFamily="2" charset="2"/>
              <a:buChar char="ü"/>
            </a:pPr>
            <a:r>
              <a:rPr lang="en-US" sz="1800" dirty="0"/>
              <a:t>As the older Array is no longer in use, it will be garbage collected in the next garbage collection.</a:t>
            </a:r>
          </a:p>
          <a:p>
            <a:pPr marL="285750" indent="-285750" algn="l">
              <a:buFont typeface="Wingdings" panose="05000000000000000000" pitchFamily="2" charset="2"/>
              <a:buChar char="ü"/>
            </a:pPr>
            <a:r>
              <a:rPr lang="en-US" sz="1800" dirty="0"/>
              <a:t>ArrayList&lt;E&gt; is </a:t>
            </a:r>
            <a:r>
              <a:rPr lang="en-US" sz="1800" b="1" dirty="0"/>
              <a:t>not</a:t>
            </a:r>
            <a:r>
              <a:rPr lang="en-US" sz="1800" dirty="0"/>
              <a:t> </a:t>
            </a:r>
            <a:r>
              <a:rPr lang="en-US" sz="1800" b="1" dirty="0"/>
              <a:t>thread-safe</a:t>
            </a:r>
            <a:r>
              <a:rPr lang="en-US" sz="1800" dirty="0"/>
              <a:t>, as the implemented methods are not synchronized.</a:t>
            </a:r>
            <a:endParaRPr lang="en-US" sz="1800" b="1" dirty="0"/>
          </a:p>
          <a:p>
            <a:pPr marL="285750" indent="-285750" algn="l">
              <a:buFont typeface="Wingdings" panose="05000000000000000000" pitchFamily="2" charset="2"/>
              <a:buChar char="ü"/>
            </a:pPr>
            <a:r>
              <a:rPr lang="en-US" sz="1800" dirty="0"/>
              <a:t>Insertions and deletions in middle of the ArrayList&lt;E&gt; are little expensive, as some time is required to move elements back and forth.</a:t>
            </a:r>
            <a:endParaRPr lang="en-US" sz="1800" b="1" dirty="0"/>
          </a:p>
          <a:p>
            <a:pPr algn="l"/>
            <a:r>
              <a:rPr lang="en-US" sz="1800" b="1" dirty="0"/>
              <a:t>2.   LinkedList&lt;E&gt;:</a:t>
            </a:r>
          </a:p>
          <a:p>
            <a:pPr marL="285750" indent="-285750" algn="l">
              <a:buFont typeface="Wingdings" panose="05000000000000000000" pitchFamily="2" charset="2"/>
              <a:buChar char="ü"/>
            </a:pPr>
            <a:r>
              <a:rPr lang="en-US" sz="1800" dirty="0"/>
              <a:t>The LinkedList&lt;E&gt; implementation uses a doubly LinkedList&lt;E&gt;.</a:t>
            </a:r>
          </a:p>
          <a:p>
            <a:pPr marL="285750" indent="-285750" algn="l">
              <a:buFont typeface="Wingdings" panose="05000000000000000000" pitchFamily="2" charset="2"/>
              <a:buChar char="ü"/>
            </a:pPr>
            <a:r>
              <a:rPr lang="en-US" sz="1800" dirty="0"/>
              <a:t>Insertions and deletions in a doubly LinkedList&lt;E&gt; are very efficient.</a:t>
            </a:r>
          </a:p>
          <a:p>
            <a:pPr marL="342900" indent="-342900" algn="l">
              <a:buAutoNum type="arabicPeriod" startAt="3"/>
            </a:pPr>
            <a:r>
              <a:rPr lang="en-US" sz="1800" b="1" dirty="0"/>
              <a:t>Vector&lt;E&gt;:</a:t>
            </a:r>
          </a:p>
          <a:p>
            <a:pPr marL="285750" indent="-285750" algn="l">
              <a:buFont typeface="Wingdings" panose="05000000000000000000" pitchFamily="2" charset="2"/>
              <a:buChar char="ü"/>
            </a:pPr>
            <a:r>
              <a:rPr lang="en-US" sz="1800" dirty="0"/>
              <a:t>Unlike ArrayList&lt;E&gt; class, the Vector&lt;E&gt; class is </a:t>
            </a:r>
            <a:r>
              <a:rPr lang="en-US" sz="1800" b="1" dirty="0"/>
              <a:t>thread-safe</a:t>
            </a:r>
            <a:r>
              <a:rPr lang="en-US" sz="1800" dirty="0"/>
              <a:t>, meaning that the implemented methods are synchronized. Due to this Vector&lt;E&gt; suffer a slight performance penalty.</a:t>
            </a:r>
            <a:endParaRPr lang="en-US" sz="1800" b="1" dirty="0"/>
          </a:p>
          <a:p>
            <a:pPr marL="342900" indent="-342900" algn="l">
              <a:buAutoNum type="arabicPeriod" startAt="4"/>
            </a:pPr>
            <a:r>
              <a:rPr lang="en-US" sz="1800" b="1" dirty="0"/>
              <a:t>Stack&lt;E&gt; extends Vector&lt;E&gt;:</a:t>
            </a:r>
          </a:p>
          <a:p>
            <a:pPr marL="285750" indent="-285750" algn="l">
              <a:buFont typeface="Wingdings" panose="05000000000000000000" pitchFamily="2" charset="2"/>
              <a:buChar char="ü"/>
            </a:pPr>
            <a:r>
              <a:rPr lang="en-US" sz="1800" dirty="0"/>
              <a:t>A stack&lt;E&gt; in Java is a linear data structure that follows the Last-In-First-Out (LIFO) principle. </a:t>
            </a:r>
          </a:p>
          <a:p>
            <a:pPr marL="285750" indent="-285750" algn="l">
              <a:buFont typeface="Wingdings" panose="05000000000000000000" pitchFamily="2" charset="2"/>
              <a:buChar char="ü"/>
            </a:pPr>
            <a:r>
              <a:rPr lang="en-US" sz="1800" dirty="0"/>
              <a:t>As the Stack&lt;E&gt; is inheriting Vector&lt;E&gt;, the implemented methods are synchronized. Due to this it is not recommended to use when Stack implementation is required.</a:t>
            </a:r>
          </a:p>
          <a:p>
            <a:pPr marL="285750" indent="-285750" algn="l">
              <a:buFont typeface="Wingdings" panose="05000000000000000000" pitchFamily="2" charset="2"/>
              <a:buChar char="ü"/>
            </a:pPr>
            <a:r>
              <a:rPr lang="en-US" sz="1800" dirty="0"/>
              <a:t>Stacks are often used for tasks that require keeping track of the order of elements, such as managing function calls in recursion, undo functionality in applications, or browser history navigation.</a:t>
            </a:r>
            <a:endParaRPr lang="en-US" sz="1800" b="1" dirty="0"/>
          </a:p>
        </p:txBody>
      </p:sp>
    </p:spTree>
    <p:extLst>
      <p:ext uri="{BB962C8B-B14F-4D97-AF65-F5344CB8AC3E}">
        <p14:creationId xmlns:p14="http://schemas.microsoft.com/office/powerpoint/2010/main" val="245461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2A1C3-EEEF-7FCF-EB50-7C464DFC40DB}"/>
              </a:ext>
            </a:extLst>
          </p:cNvPr>
          <p:cNvSpPr txBox="1">
            <a:spLocks/>
          </p:cNvSpPr>
          <p:nvPr/>
        </p:nvSpPr>
        <p:spPr>
          <a:xfrm>
            <a:off x="838200" y="65781"/>
            <a:ext cx="10515600" cy="65812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u="sng" dirty="0"/>
              <a:t>Queue&lt;E&gt; &amp; Deque&lt;E&gt; </a:t>
            </a:r>
          </a:p>
        </p:txBody>
      </p:sp>
      <p:sp>
        <p:nvSpPr>
          <p:cNvPr id="3" name="Content Placeholder 2">
            <a:extLst>
              <a:ext uri="{FF2B5EF4-FFF2-40B4-BE49-F238E27FC236}">
                <a16:creationId xmlns:a16="http://schemas.microsoft.com/office/drawing/2014/main" id="{23E31070-01AE-36E7-C427-E90146DCCE22}"/>
              </a:ext>
            </a:extLst>
          </p:cNvPr>
          <p:cNvSpPr txBox="1">
            <a:spLocks/>
          </p:cNvSpPr>
          <p:nvPr/>
        </p:nvSpPr>
        <p:spPr>
          <a:xfrm>
            <a:off x="54427" y="723909"/>
            <a:ext cx="12053109" cy="255269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ü"/>
            </a:pPr>
            <a:r>
              <a:rPr lang="en-US" sz="1800" dirty="0"/>
              <a:t>The </a:t>
            </a:r>
            <a:r>
              <a:rPr lang="en-US" sz="1800" b="1" dirty="0"/>
              <a:t>Queue&lt;E&gt;</a:t>
            </a:r>
            <a:r>
              <a:rPr lang="en-US" sz="1800" dirty="0"/>
              <a:t> interface in Java represents a collection that holds elements in a linear order and allows adding elements at one end (enqueue) and removing elements from the other end (dequeue).</a:t>
            </a:r>
          </a:p>
          <a:p>
            <a:pPr marL="285750" indent="-285750" algn="l">
              <a:buFont typeface="Wingdings" panose="05000000000000000000" pitchFamily="2" charset="2"/>
              <a:buChar char="ü"/>
            </a:pPr>
            <a:r>
              <a:rPr lang="en-US" sz="1800" dirty="0"/>
              <a:t>It follows the "first-in-first-out" (FIFO) principle, similar to a real-world queue. Queues are often used for tasks like managing tasks in a printer queue or processing tasks in a concurrent system.</a:t>
            </a:r>
          </a:p>
          <a:p>
            <a:pPr marL="285750" indent="-285750" algn="l">
              <a:buFont typeface="Wingdings" panose="05000000000000000000" pitchFamily="2" charset="2"/>
              <a:buChar char="ü"/>
            </a:pPr>
            <a:r>
              <a:rPr lang="en-US" sz="1800" dirty="0"/>
              <a:t>The </a:t>
            </a:r>
            <a:r>
              <a:rPr lang="en-US" sz="1800" b="1" dirty="0"/>
              <a:t>Deque&lt;E&gt;</a:t>
            </a:r>
            <a:r>
              <a:rPr lang="en-US" sz="1800" dirty="0"/>
              <a:t> interface in Java represents a collection that holds elements in a linear order and allows adding elements at both ends (enqueue) and removing elements from both ends (dequeue).</a:t>
            </a:r>
          </a:p>
          <a:p>
            <a:pPr marL="285750" indent="-285750" algn="l">
              <a:buFont typeface="Wingdings" panose="05000000000000000000" pitchFamily="2" charset="2"/>
              <a:buChar char="ü"/>
            </a:pPr>
            <a:endParaRPr lang="en-US" sz="1800" dirty="0"/>
          </a:p>
        </p:txBody>
      </p:sp>
      <p:sp>
        <p:nvSpPr>
          <p:cNvPr id="4" name="Oval 3">
            <a:extLst>
              <a:ext uri="{FF2B5EF4-FFF2-40B4-BE49-F238E27FC236}">
                <a16:creationId xmlns:a16="http://schemas.microsoft.com/office/drawing/2014/main" id="{6CAA6573-7DA1-93EB-47EE-2E6C5327BA7C}"/>
              </a:ext>
            </a:extLst>
          </p:cNvPr>
          <p:cNvSpPr/>
          <p:nvPr/>
        </p:nvSpPr>
        <p:spPr>
          <a:xfrm>
            <a:off x="7480849" y="3581396"/>
            <a:ext cx="2236304"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Queue&lt;E&gt;</a:t>
            </a:r>
            <a:endParaRPr lang="en-IN" sz="2400" dirty="0"/>
          </a:p>
        </p:txBody>
      </p:sp>
      <p:sp>
        <p:nvSpPr>
          <p:cNvPr id="19" name="Oval 18">
            <a:extLst>
              <a:ext uri="{FF2B5EF4-FFF2-40B4-BE49-F238E27FC236}">
                <a16:creationId xmlns:a16="http://schemas.microsoft.com/office/drawing/2014/main" id="{FEC44136-A789-749A-CFAC-60987242953F}"/>
              </a:ext>
            </a:extLst>
          </p:cNvPr>
          <p:cNvSpPr/>
          <p:nvPr/>
        </p:nvSpPr>
        <p:spPr>
          <a:xfrm>
            <a:off x="3011553" y="3581395"/>
            <a:ext cx="2236304"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Deque&lt;E&gt;</a:t>
            </a:r>
            <a:endParaRPr lang="en-IN" sz="2400" dirty="0"/>
          </a:p>
        </p:txBody>
      </p:sp>
      <p:sp>
        <p:nvSpPr>
          <p:cNvPr id="20" name="Rectangle: Rounded Corners 19">
            <a:extLst>
              <a:ext uri="{FF2B5EF4-FFF2-40B4-BE49-F238E27FC236}">
                <a16:creationId xmlns:a16="http://schemas.microsoft.com/office/drawing/2014/main" id="{27062992-DA89-6B8B-B968-BB40596A0063}"/>
              </a:ext>
            </a:extLst>
          </p:cNvPr>
          <p:cNvSpPr/>
          <p:nvPr/>
        </p:nvSpPr>
        <p:spPr>
          <a:xfrm>
            <a:off x="1605166" y="5396949"/>
            <a:ext cx="2037522"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LinkedList&lt;E&gt;</a:t>
            </a:r>
            <a:endParaRPr lang="en-IN" sz="2400" dirty="0"/>
          </a:p>
        </p:txBody>
      </p:sp>
      <p:sp>
        <p:nvSpPr>
          <p:cNvPr id="21" name="Rectangle: Rounded Corners 20">
            <a:extLst>
              <a:ext uri="{FF2B5EF4-FFF2-40B4-BE49-F238E27FC236}">
                <a16:creationId xmlns:a16="http://schemas.microsoft.com/office/drawing/2014/main" id="{0B09D27E-2900-BAC1-B810-D920ED8D744D}"/>
              </a:ext>
            </a:extLst>
          </p:cNvPr>
          <p:cNvSpPr/>
          <p:nvPr/>
        </p:nvSpPr>
        <p:spPr>
          <a:xfrm>
            <a:off x="4646540" y="5396948"/>
            <a:ext cx="2236303"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ArrayDeque&lt;E&gt;</a:t>
            </a:r>
            <a:endParaRPr lang="en-IN" sz="2400" dirty="0"/>
          </a:p>
        </p:txBody>
      </p:sp>
      <p:sp>
        <p:nvSpPr>
          <p:cNvPr id="22" name="Rectangle: Rounded Corners 21">
            <a:extLst>
              <a:ext uri="{FF2B5EF4-FFF2-40B4-BE49-F238E27FC236}">
                <a16:creationId xmlns:a16="http://schemas.microsoft.com/office/drawing/2014/main" id="{3B470A10-82F6-6710-39F0-0D61A3E51583}"/>
              </a:ext>
            </a:extLst>
          </p:cNvPr>
          <p:cNvSpPr/>
          <p:nvPr/>
        </p:nvSpPr>
        <p:spPr>
          <a:xfrm>
            <a:off x="7364894" y="5396947"/>
            <a:ext cx="2468214"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PriorityQueue&lt;E&gt;</a:t>
            </a:r>
            <a:endParaRPr lang="en-IN" sz="2400" dirty="0"/>
          </a:p>
        </p:txBody>
      </p:sp>
      <p:cxnSp>
        <p:nvCxnSpPr>
          <p:cNvPr id="23" name="Straight Arrow Connector 22">
            <a:extLst>
              <a:ext uri="{FF2B5EF4-FFF2-40B4-BE49-F238E27FC236}">
                <a16:creationId xmlns:a16="http://schemas.microsoft.com/office/drawing/2014/main" id="{2995E307-A15D-8C67-E9C4-062A641C3A84}"/>
              </a:ext>
            </a:extLst>
          </p:cNvPr>
          <p:cNvCxnSpPr>
            <a:cxnSpLocks/>
            <a:stCxn id="22" idx="0"/>
            <a:endCxn id="4" idx="4"/>
          </p:cNvCxnSpPr>
          <p:nvPr/>
        </p:nvCxnSpPr>
        <p:spPr>
          <a:xfrm flipV="1">
            <a:off x="8599001" y="4157867"/>
            <a:ext cx="0" cy="1239080"/>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B906B3E2-695A-2C66-777A-D81E579AA6E4}"/>
              </a:ext>
            </a:extLst>
          </p:cNvPr>
          <p:cNvCxnSpPr>
            <a:cxnSpLocks/>
            <a:endCxn id="19" idx="4"/>
          </p:cNvCxnSpPr>
          <p:nvPr/>
        </p:nvCxnSpPr>
        <p:spPr>
          <a:xfrm flipV="1">
            <a:off x="4129705" y="4157866"/>
            <a:ext cx="0" cy="619541"/>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758834C4-7086-968B-B0AA-D4A0E193EF8A}"/>
              </a:ext>
            </a:extLst>
          </p:cNvPr>
          <p:cNvCxnSpPr>
            <a:cxnSpLocks/>
          </p:cNvCxnSpPr>
          <p:nvPr/>
        </p:nvCxnSpPr>
        <p:spPr>
          <a:xfrm>
            <a:off x="2623927" y="4777407"/>
            <a:ext cx="3140764" cy="0"/>
          </a:xfrm>
          <a:prstGeom prst="line">
            <a:avLst/>
          </a:prstGeom>
          <a:ln w="38100">
            <a:prstDash val="sysDot"/>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B57D90BF-D2D5-8F76-8891-D3F04ECEA015}"/>
              </a:ext>
            </a:extLst>
          </p:cNvPr>
          <p:cNvCxnSpPr>
            <a:cxnSpLocks/>
            <a:endCxn id="21" idx="0"/>
          </p:cNvCxnSpPr>
          <p:nvPr/>
        </p:nvCxnSpPr>
        <p:spPr>
          <a:xfrm>
            <a:off x="5764692" y="4777407"/>
            <a:ext cx="0" cy="619541"/>
          </a:xfrm>
          <a:prstGeom prst="line">
            <a:avLst/>
          </a:prstGeom>
          <a:ln w="38100">
            <a:prstDash val="sysDot"/>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A967A8CD-8A64-1456-7A9E-FBE029713DF5}"/>
              </a:ext>
            </a:extLst>
          </p:cNvPr>
          <p:cNvCxnSpPr>
            <a:cxnSpLocks/>
            <a:endCxn id="20" idx="0"/>
          </p:cNvCxnSpPr>
          <p:nvPr/>
        </p:nvCxnSpPr>
        <p:spPr>
          <a:xfrm>
            <a:off x="2623927" y="4777407"/>
            <a:ext cx="0" cy="619542"/>
          </a:xfrm>
          <a:prstGeom prst="line">
            <a:avLst/>
          </a:prstGeom>
          <a:ln w="38100">
            <a:prstDash val="sysDot"/>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B4AA4D29-02EC-A024-D8EA-3CE55F751191}"/>
              </a:ext>
            </a:extLst>
          </p:cNvPr>
          <p:cNvSpPr txBox="1"/>
          <p:nvPr/>
        </p:nvSpPr>
        <p:spPr>
          <a:xfrm>
            <a:off x="1325686" y="5027615"/>
            <a:ext cx="1298241" cy="369332"/>
          </a:xfrm>
          <a:prstGeom prst="rect">
            <a:avLst/>
          </a:prstGeom>
          <a:noFill/>
        </p:spPr>
        <p:txBody>
          <a:bodyPr wrap="none" rtlCol="0">
            <a:spAutoFit/>
          </a:bodyPr>
          <a:lstStyle/>
          <a:p>
            <a:r>
              <a:rPr lang="en-US" dirty="0"/>
              <a:t>implements</a:t>
            </a:r>
            <a:endParaRPr lang="en-IN" dirty="0"/>
          </a:p>
        </p:txBody>
      </p:sp>
      <p:sp>
        <p:nvSpPr>
          <p:cNvPr id="6" name="TextBox 5">
            <a:extLst>
              <a:ext uri="{FF2B5EF4-FFF2-40B4-BE49-F238E27FC236}">
                <a16:creationId xmlns:a16="http://schemas.microsoft.com/office/drawing/2014/main" id="{DCA56510-8696-F04B-E0D4-E4D40A41412F}"/>
              </a:ext>
            </a:extLst>
          </p:cNvPr>
          <p:cNvSpPr txBox="1"/>
          <p:nvPr/>
        </p:nvSpPr>
        <p:spPr>
          <a:xfrm>
            <a:off x="4466450" y="5027615"/>
            <a:ext cx="1298241" cy="369332"/>
          </a:xfrm>
          <a:prstGeom prst="rect">
            <a:avLst/>
          </a:prstGeom>
          <a:noFill/>
        </p:spPr>
        <p:txBody>
          <a:bodyPr wrap="none" rtlCol="0">
            <a:spAutoFit/>
          </a:bodyPr>
          <a:lstStyle/>
          <a:p>
            <a:r>
              <a:rPr lang="en-US" dirty="0"/>
              <a:t>implements</a:t>
            </a:r>
            <a:endParaRPr lang="en-IN" dirty="0"/>
          </a:p>
        </p:txBody>
      </p:sp>
      <p:sp>
        <p:nvSpPr>
          <p:cNvPr id="7" name="TextBox 6">
            <a:extLst>
              <a:ext uri="{FF2B5EF4-FFF2-40B4-BE49-F238E27FC236}">
                <a16:creationId xmlns:a16="http://schemas.microsoft.com/office/drawing/2014/main" id="{E56BD343-1C7A-3FC6-E96C-A3FD5C42268F}"/>
              </a:ext>
            </a:extLst>
          </p:cNvPr>
          <p:cNvSpPr txBox="1"/>
          <p:nvPr/>
        </p:nvSpPr>
        <p:spPr>
          <a:xfrm>
            <a:off x="7300758" y="5027615"/>
            <a:ext cx="1298241" cy="369332"/>
          </a:xfrm>
          <a:prstGeom prst="rect">
            <a:avLst/>
          </a:prstGeom>
          <a:noFill/>
        </p:spPr>
        <p:txBody>
          <a:bodyPr wrap="none" rtlCol="0">
            <a:spAutoFit/>
          </a:bodyPr>
          <a:lstStyle/>
          <a:p>
            <a:r>
              <a:rPr lang="en-US" dirty="0"/>
              <a:t>implements</a:t>
            </a:r>
            <a:endParaRPr lang="en-IN" dirty="0"/>
          </a:p>
        </p:txBody>
      </p:sp>
    </p:spTree>
    <p:extLst>
      <p:ext uri="{BB962C8B-B14F-4D97-AF65-F5344CB8AC3E}">
        <p14:creationId xmlns:p14="http://schemas.microsoft.com/office/powerpoint/2010/main" val="176922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ED17B3D-F5B0-A4D8-765E-112315E163A1}"/>
              </a:ext>
            </a:extLst>
          </p:cNvPr>
          <p:cNvSpPr txBox="1">
            <a:spLocks/>
          </p:cNvSpPr>
          <p:nvPr/>
        </p:nvSpPr>
        <p:spPr>
          <a:xfrm>
            <a:off x="69444" y="183874"/>
            <a:ext cx="12053109" cy="6490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AutoNum type="arabicPeriod"/>
            </a:pPr>
            <a:r>
              <a:rPr lang="en-US" sz="1800" b="1" dirty="0"/>
              <a:t>Queue&lt;E&gt;:</a:t>
            </a:r>
          </a:p>
          <a:p>
            <a:pPr marL="285750" indent="-285750" algn="l">
              <a:spcBef>
                <a:spcPts val="600"/>
              </a:spcBef>
              <a:buFont typeface="Wingdings" panose="05000000000000000000" pitchFamily="2" charset="2"/>
              <a:buChar char="ü"/>
            </a:pPr>
            <a:r>
              <a:rPr lang="en-US" sz="1800" dirty="0"/>
              <a:t>It has the following methods:</a:t>
            </a:r>
          </a:p>
          <a:p>
            <a:pPr algn="l">
              <a:spcBef>
                <a:spcPts val="600"/>
              </a:spcBef>
            </a:pPr>
            <a:r>
              <a:rPr lang="en-US" sz="1800" dirty="0"/>
              <a:t>To Insert elements into the Queue,</a:t>
            </a:r>
          </a:p>
          <a:p>
            <a:pPr marL="285750" indent="-285750" algn="l">
              <a:spcBef>
                <a:spcPts val="600"/>
              </a:spcBef>
              <a:buFont typeface="Wingdings" panose="05000000000000000000" pitchFamily="2" charset="2"/>
              <a:buChar char="§"/>
            </a:pPr>
            <a:r>
              <a:rPr lang="en-US" sz="1800" dirty="0"/>
              <a:t>boolean add(E element) – This is inherited from Collection&lt;E&gt; interface and throws IllegalStateException if the Queue is full.</a:t>
            </a:r>
          </a:p>
          <a:p>
            <a:pPr marL="285750" indent="-285750" algn="l">
              <a:spcBef>
                <a:spcPts val="600"/>
              </a:spcBef>
              <a:buFont typeface="Wingdings" panose="05000000000000000000" pitchFamily="2" charset="2"/>
              <a:buChar char="§"/>
            </a:pPr>
            <a:r>
              <a:rPr lang="en-US" sz="1800" dirty="0"/>
              <a:t>boolean offer(E element) – This doesn’t throw any Exception if the Queue is full. Preferred to use.</a:t>
            </a:r>
          </a:p>
          <a:p>
            <a:pPr algn="l">
              <a:spcBef>
                <a:spcPts val="600"/>
              </a:spcBef>
            </a:pPr>
            <a:r>
              <a:rPr lang="en-US" sz="1800" dirty="0"/>
              <a:t>To Remove elements from Queue,</a:t>
            </a:r>
          </a:p>
          <a:p>
            <a:pPr marL="285750" indent="-285750" algn="l">
              <a:spcBef>
                <a:spcPts val="600"/>
              </a:spcBef>
              <a:buFont typeface="Wingdings" panose="05000000000000000000" pitchFamily="2" charset="2"/>
              <a:buChar char="§"/>
            </a:pPr>
            <a:r>
              <a:rPr lang="en-US" sz="1800" dirty="0"/>
              <a:t>E remove() – This will throw NullPointerException, if the Queue is empty</a:t>
            </a:r>
          </a:p>
          <a:p>
            <a:pPr marL="285750" indent="-285750" algn="l">
              <a:spcBef>
                <a:spcPts val="600"/>
              </a:spcBef>
              <a:buFont typeface="Wingdings" panose="05000000000000000000" pitchFamily="2" charset="2"/>
              <a:buChar char="§"/>
            </a:pPr>
            <a:r>
              <a:rPr lang="en-US" sz="1800" dirty="0"/>
              <a:t>E poll() – This returns null, if the Queue is empty. Preferred to use.</a:t>
            </a:r>
          </a:p>
          <a:p>
            <a:pPr algn="l">
              <a:spcBef>
                <a:spcPts val="600"/>
              </a:spcBef>
            </a:pPr>
            <a:r>
              <a:rPr lang="en-US" sz="1800" dirty="0"/>
              <a:t>To find out the elements at top of the Queue,</a:t>
            </a:r>
          </a:p>
          <a:p>
            <a:pPr marL="285750" indent="-285750" algn="l">
              <a:spcBef>
                <a:spcPts val="600"/>
              </a:spcBef>
              <a:buFont typeface="Wingdings" panose="05000000000000000000" pitchFamily="2" charset="2"/>
              <a:buChar char="§"/>
            </a:pPr>
            <a:r>
              <a:rPr lang="en-US" sz="1800" dirty="0"/>
              <a:t>E peek() – This returns null, if the Queue is empty. Preferred to use.</a:t>
            </a:r>
          </a:p>
          <a:p>
            <a:pPr marL="285750" indent="-285750" algn="l">
              <a:spcBef>
                <a:spcPts val="600"/>
              </a:spcBef>
              <a:buFont typeface="Wingdings" panose="05000000000000000000" pitchFamily="2" charset="2"/>
              <a:buChar char="§"/>
            </a:pPr>
            <a:r>
              <a:rPr lang="en-US" sz="1800" dirty="0"/>
              <a:t>E element() – This returns NullPointerException, if the Queue is empty.</a:t>
            </a:r>
          </a:p>
          <a:p>
            <a:pPr marL="285750" indent="-285750" algn="l">
              <a:buFont typeface="Wingdings" panose="05000000000000000000" pitchFamily="2" charset="2"/>
              <a:buChar char="v"/>
            </a:pPr>
            <a:r>
              <a:rPr lang="en-US" sz="1800" b="1" dirty="0"/>
              <a:t>Implementations of Queue&lt;E&gt;:</a:t>
            </a:r>
          </a:p>
          <a:p>
            <a:pPr marL="342900" indent="-342900" algn="l">
              <a:buAutoNum type="arabicPeriod"/>
            </a:pPr>
            <a:r>
              <a:rPr lang="en-US" sz="1800" b="1" dirty="0"/>
              <a:t>PriorityQueue&lt;E&gt;:</a:t>
            </a:r>
          </a:p>
          <a:p>
            <a:pPr marL="285750" indent="-285750" algn="l">
              <a:buFont typeface="Wingdings" panose="05000000000000000000" pitchFamily="2" charset="2"/>
              <a:buChar char="ü"/>
            </a:pPr>
            <a:r>
              <a:rPr lang="en-US" sz="1800" dirty="0"/>
              <a:t>This provides a priority-based ordering of elements. Meaning, elements in a PriorityQueue are ordered based on their natural order (using their Comparable interface) or according to a specified comparator at Queue construction time.</a:t>
            </a:r>
          </a:p>
          <a:p>
            <a:pPr marL="285750" indent="-285750" algn="l">
              <a:buFont typeface="Wingdings" panose="05000000000000000000" pitchFamily="2" charset="2"/>
              <a:buChar char="ü"/>
            </a:pPr>
            <a:r>
              <a:rPr lang="en-US" sz="1800" dirty="0"/>
              <a:t>The element with the highest priority (according to the defined order) is always at the front and will be the first to be removed when dequeued. This makes PriorityQueue suitable for tasks like task scheduling, job processing, or managing elements with priorities.</a:t>
            </a:r>
          </a:p>
          <a:p>
            <a:pPr marL="285750" indent="-285750" algn="l">
              <a:buFont typeface="Wingdings" panose="05000000000000000000" pitchFamily="2" charset="2"/>
              <a:buChar char="ü"/>
            </a:pPr>
            <a:r>
              <a:rPr lang="en-US" sz="1800" dirty="0"/>
              <a:t>In case of several elements having same priority, one of them is chosen randomly. And by default, the elements are sorted in natural order(ascending order).</a:t>
            </a:r>
          </a:p>
        </p:txBody>
      </p:sp>
    </p:spTree>
    <p:extLst>
      <p:ext uri="{BB962C8B-B14F-4D97-AF65-F5344CB8AC3E}">
        <p14:creationId xmlns:p14="http://schemas.microsoft.com/office/powerpoint/2010/main" val="1008260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99283BF-01B9-4098-361A-A65048BA3DCF}"/>
              </a:ext>
            </a:extLst>
          </p:cNvPr>
          <p:cNvSpPr txBox="1">
            <a:spLocks/>
          </p:cNvSpPr>
          <p:nvPr/>
        </p:nvSpPr>
        <p:spPr>
          <a:xfrm>
            <a:off x="69444" y="183874"/>
            <a:ext cx="12053109" cy="6490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AutoNum type="arabicPeriod"/>
            </a:pPr>
            <a:r>
              <a:rPr lang="en-US" sz="1800" b="1" dirty="0"/>
              <a:t>Deque&lt;E&gt;:</a:t>
            </a:r>
          </a:p>
          <a:p>
            <a:pPr marL="285750" indent="-285750" algn="l">
              <a:buFont typeface="Wingdings" panose="05000000000000000000" pitchFamily="2" charset="2"/>
              <a:buChar char="ü"/>
            </a:pPr>
            <a:r>
              <a:rPr lang="en-US" sz="1800" dirty="0"/>
              <a:t>It has the following methods:</a:t>
            </a:r>
          </a:p>
          <a:p>
            <a:pPr algn="l"/>
            <a:r>
              <a:rPr lang="en-US" sz="1800" dirty="0"/>
              <a:t>To Insert elements into the Queue,</a:t>
            </a:r>
          </a:p>
          <a:p>
            <a:pPr marL="285750" indent="-285750" algn="l">
              <a:buFont typeface="Wingdings" panose="05000000000000000000" pitchFamily="2" charset="2"/>
              <a:buChar char="§"/>
            </a:pPr>
            <a:r>
              <a:rPr lang="en-US" sz="1800" dirty="0"/>
              <a:t>boolean </a:t>
            </a:r>
            <a:r>
              <a:rPr lang="en-US" sz="1800" dirty="0" err="1"/>
              <a:t>addFirst</a:t>
            </a:r>
            <a:r>
              <a:rPr lang="en-US" sz="1800" dirty="0"/>
              <a:t>(E element) – This is inherited from Collection&lt;E&gt; interface and throws IllegalStateException if the Queue is full.</a:t>
            </a:r>
          </a:p>
          <a:p>
            <a:pPr marL="285750" indent="-285750" algn="l">
              <a:buFont typeface="Wingdings" panose="05000000000000000000" pitchFamily="2" charset="2"/>
              <a:buChar char="§"/>
            </a:pPr>
            <a:r>
              <a:rPr lang="en-US" sz="1800" dirty="0"/>
              <a:t>boolean </a:t>
            </a:r>
            <a:r>
              <a:rPr lang="en-US" sz="1800" dirty="0" err="1"/>
              <a:t>addLast</a:t>
            </a:r>
            <a:r>
              <a:rPr lang="en-US" sz="1800" dirty="0"/>
              <a:t>(E element)</a:t>
            </a:r>
          </a:p>
          <a:p>
            <a:pPr marL="285750" indent="-285750" algn="l">
              <a:buFont typeface="Wingdings" panose="05000000000000000000" pitchFamily="2" charset="2"/>
              <a:buChar char="§"/>
            </a:pPr>
            <a:r>
              <a:rPr lang="en-US" sz="1800" dirty="0"/>
              <a:t>void </a:t>
            </a:r>
            <a:r>
              <a:rPr lang="en-US" sz="1800" dirty="0" err="1"/>
              <a:t>offerFirst</a:t>
            </a:r>
            <a:r>
              <a:rPr lang="en-US" sz="1800" dirty="0"/>
              <a:t>(E element) – This doesn’t throw any Exception if the Queue is full. Preferred to use.</a:t>
            </a:r>
          </a:p>
          <a:p>
            <a:pPr marL="285750" indent="-285750" algn="l">
              <a:buFont typeface="Wingdings" panose="05000000000000000000" pitchFamily="2" charset="2"/>
              <a:buChar char="§"/>
            </a:pPr>
            <a:r>
              <a:rPr lang="en-US" sz="1800" dirty="0"/>
              <a:t>void </a:t>
            </a:r>
            <a:r>
              <a:rPr lang="en-US" sz="1800" dirty="0" err="1"/>
              <a:t>offerLast</a:t>
            </a:r>
            <a:r>
              <a:rPr lang="en-US" sz="1800" dirty="0"/>
              <a:t>(E element)</a:t>
            </a:r>
          </a:p>
          <a:p>
            <a:pPr marL="285750" indent="-285750" algn="l">
              <a:buFont typeface="Wingdings" panose="05000000000000000000" pitchFamily="2" charset="2"/>
              <a:buChar char="§"/>
            </a:pPr>
            <a:r>
              <a:rPr lang="en-US" sz="1800" dirty="0"/>
              <a:t>void push(E element) – Similar like </a:t>
            </a:r>
            <a:r>
              <a:rPr lang="en-US" sz="1800" dirty="0" err="1"/>
              <a:t>addFirst</a:t>
            </a:r>
            <a:r>
              <a:rPr lang="en-US" sz="1800" dirty="0"/>
              <a:t>()</a:t>
            </a:r>
          </a:p>
          <a:p>
            <a:pPr algn="l"/>
            <a:r>
              <a:rPr lang="en-US" sz="1800" dirty="0"/>
              <a:t>To Remove elements from Queue,</a:t>
            </a:r>
          </a:p>
          <a:p>
            <a:pPr marL="285750" indent="-285750" algn="l">
              <a:buFont typeface="Wingdings" panose="05000000000000000000" pitchFamily="2" charset="2"/>
              <a:buChar char="§"/>
            </a:pPr>
            <a:r>
              <a:rPr lang="en-US" sz="1800" dirty="0"/>
              <a:t>E </a:t>
            </a:r>
            <a:r>
              <a:rPr lang="en-US" sz="1800" dirty="0" err="1"/>
              <a:t>removeFirst</a:t>
            </a:r>
            <a:r>
              <a:rPr lang="en-US" sz="1800" dirty="0"/>
              <a:t>() – This will throw NullPointerException, if the Queue is empty</a:t>
            </a:r>
          </a:p>
          <a:p>
            <a:pPr marL="285750" indent="-285750" algn="l">
              <a:buFont typeface="Wingdings" panose="05000000000000000000" pitchFamily="2" charset="2"/>
              <a:buChar char="§"/>
            </a:pPr>
            <a:r>
              <a:rPr lang="en-US" sz="1800" dirty="0"/>
              <a:t>E </a:t>
            </a:r>
            <a:r>
              <a:rPr lang="en-US" sz="1800" dirty="0" err="1"/>
              <a:t>removeLast</a:t>
            </a:r>
            <a:r>
              <a:rPr lang="en-US" sz="1800" dirty="0"/>
              <a:t>() – This will throw NullPointerException, if the Queue is empty</a:t>
            </a:r>
          </a:p>
          <a:p>
            <a:pPr marL="285750" indent="-285750" algn="l">
              <a:buFont typeface="Wingdings" panose="05000000000000000000" pitchFamily="2" charset="2"/>
              <a:buChar char="§"/>
            </a:pPr>
            <a:r>
              <a:rPr lang="en-US" sz="1800" dirty="0"/>
              <a:t>E </a:t>
            </a:r>
            <a:r>
              <a:rPr lang="en-US" sz="1800" dirty="0" err="1"/>
              <a:t>pollFirst</a:t>
            </a:r>
            <a:r>
              <a:rPr lang="en-US" sz="1800" dirty="0"/>
              <a:t>() – This returns null, if the Queue is empty. Preferred to use.</a:t>
            </a:r>
          </a:p>
          <a:p>
            <a:pPr marL="285750" indent="-285750" algn="l">
              <a:buFont typeface="Wingdings" panose="05000000000000000000" pitchFamily="2" charset="2"/>
              <a:buChar char="§"/>
            </a:pPr>
            <a:r>
              <a:rPr lang="en-US" sz="1800" dirty="0"/>
              <a:t>E </a:t>
            </a:r>
            <a:r>
              <a:rPr lang="en-US" sz="1800" dirty="0" err="1"/>
              <a:t>pollLast</a:t>
            </a:r>
            <a:r>
              <a:rPr lang="en-US" sz="1800" dirty="0"/>
              <a:t>() – This returns null, if the Queue is empty. Preferred to use.</a:t>
            </a:r>
          </a:p>
          <a:p>
            <a:pPr marL="285750" indent="-285750" algn="l">
              <a:buFont typeface="Wingdings" panose="05000000000000000000" pitchFamily="2" charset="2"/>
              <a:buChar char="§"/>
            </a:pPr>
            <a:r>
              <a:rPr lang="en-US" sz="1800" dirty="0"/>
              <a:t>E pop() – Similar like </a:t>
            </a:r>
            <a:r>
              <a:rPr lang="en-US" sz="1800" dirty="0" err="1"/>
              <a:t>removeFirst</a:t>
            </a:r>
            <a:r>
              <a:rPr lang="en-US" sz="1800" dirty="0"/>
              <a:t>()</a:t>
            </a:r>
          </a:p>
          <a:p>
            <a:pPr algn="l"/>
            <a:endParaRPr lang="en-US" sz="1800" dirty="0"/>
          </a:p>
        </p:txBody>
      </p:sp>
    </p:spTree>
    <p:extLst>
      <p:ext uri="{BB962C8B-B14F-4D97-AF65-F5344CB8AC3E}">
        <p14:creationId xmlns:p14="http://schemas.microsoft.com/office/powerpoint/2010/main" val="114080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8C578AD-5B34-1A41-958E-10F7599ACBC8}"/>
              </a:ext>
            </a:extLst>
          </p:cNvPr>
          <p:cNvSpPr txBox="1">
            <a:spLocks/>
          </p:cNvSpPr>
          <p:nvPr/>
        </p:nvSpPr>
        <p:spPr>
          <a:xfrm>
            <a:off x="69444" y="183874"/>
            <a:ext cx="12053109" cy="6490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dirty="0"/>
              <a:t>To find out the elements at top of the Queue,</a:t>
            </a:r>
          </a:p>
          <a:p>
            <a:pPr marL="285750" indent="-285750" algn="l">
              <a:buFont typeface="Wingdings" panose="05000000000000000000" pitchFamily="2" charset="2"/>
              <a:buChar char="§"/>
            </a:pPr>
            <a:r>
              <a:rPr lang="en-US" sz="1800" dirty="0"/>
              <a:t>E </a:t>
            </a:r>
            <a:r>
              <a:rPr lang="en-US" sz="1800" dirty="0" err="1"/>
              <a:t>peekFirst</a:t>
            </a:r>
            <a:r>
              <a:rPr lang="en-US" sz="1800" dirty="0"/>
              <a:t>() – This returns null, if the Queue is empty. Preferred to use.</a:t>
            </a:r>
          </a:p>
          <a:p>
            <a:pPr marL="285750" indent="-285750" algn="l">
              <a:buFont typeface="Wingdings" panose="05000000000000000000" pitchFamily="2" charset="2"/>
              <a:buChar char="§"/>
            </a:pPr>
            <a:r>
              <a:rPr lang="en-US" sz="1800" dirty="0"/>
              <a:t>E </a:t>
            </a:r>
            <a:r>
              <a:rPr lang="en-US" sz="1800" dirty="0" err="1"/>
              <a:t>peekLast</a:t>
            </a:r>
            <a:r>
              <a:rPr lang="en-US" sz="1800" dirty="0"/>
              <a:t>() – This returns null, if the Queue is empty. Preferred to use</a:t>
            </a:r>
          </a:p>
          <a:p>
            <a:pPr marL="285750" indent="-285750" algn="l">
              <a:buFont typeface="Wingdings" panose="05000000000000000000" pitchFamily="2" charset="2"/>
              <a:buChar char="§"/>
            </a:pPr>
            <a:r>
              <a:rPr lang="en-US" sz="1800" dirty="0"/>
              <a:t>E </a:t>
            </a:r>
            <a:r>
              <a:rPr lang="en-US" sz="1800" dirty="0" err="1"/>
              <a:t>getFirst</a:t>
            </a:r>
            <a:r>
              <a:rPr lang="en-US" sz="1800" dirty="0"/>
              <a:t>() – Similar to element(), this returns NullPointerException, if the Queue is empty.</a:t>
            </a:r>
          </a:p>
          <a:p>
            <a:pPr marL="285750" indent="-285750" algn="l">
              <a:buFont typeface="Wingdings" panose="05000000000000000000" pitchFamily="2" charset="2"/>
              <a:buChar char="§"/>
            </a:pPr>
            <a:r>
              <a:rPr lang="en-US" sz="1800" dirty="0"/>
              <a:t>E </a:t>
            </a:r>
            <a:r>
              <a:rPr lang="en-US" sz="1800" dirty="0" err="1"/>
              <a:t>getLast</a:t>
            </a:r>
            <a:r>
              <a:rPr lang="en-US" sz="1800" dirty="0"/>
              <a:t>() – This returns NullPointerException, if the Queue is empty.</a:t>
            </a:r>
          </a:p>
          <a:p>
            <a:pPr marL="285750" indent="-285750" algn="l">
              <a:buFont typeface="Wingdings" panose="05000000000000000000" pitchFamily="2" charset="2"/>
              <a:buChar char="v"/>
            </a:pPr>
            <a:r>
              <a:rPr lang="en-US" sz="1800" b="1" dirty="0"/>
              <a:t>Implementations of Deque&lt;E&gt;:</a:t>
            </a:r>
          </a:p>
          <a:p>
            <a:pPr marL="342900" indent="-342900" algn="l">
              <a:buAutoNum type="arabicPeriod"/>
            </a:pPr>
            <a:r>
              <a:rPr lang="en-US" sz="1800" b="1" dirty="0"/>
              <a:t>LinkedList&lt;E&gt;:</a:t>
            </a:r>
          </a:p>
          <a:p>
            <a:pPr marL="285750" indent="-285750" algn="l">
              <a:buFont typeface="Wingdings" panose="05000000000000000000" pitchFamily="2" charset="2"/>
              <a:buChar char="ü"/>
            </a:pPr>
            <a:r>
              <a:rPr lang="en-US" sz="1800" dirty="0"/>
              <a:t>Leverage LinkedList&lt;E&gt;, when we truly need linked-node behavior, not just because it implements Queue&lt;E&gt;.</a:t>
            </a:r>
          </a:p>
          <a:p>
            <a:pPr marL="342900" indent="-342900" algn="l">
              <a:buAutoNum type="arabicPeriod" startAt="2"/>
            </a:pPr>
            <a:r>
              <a:rPr lang="en-US" sz="1800" b="1" dirty="0"/>
              <a:t>ArrayDeque&lt;E&gt;:</a:t>
            </a:r>
          </a:p>
          <a:p>
            <a:pPr marL="285750" indent="-285750" algn="l">
              <a:buFont typeface="Wingdings" panose="05000000000000000000" pitchFamily="2" charset="2"/>
              <a:buChar char="ü"/>
            </a:pPr>
            <a:r>
              <a:rPr lang="en-US" sz="1800" dirty="0"/>
              <a:t>ArrayDeque is a double-ended queue (Deque) implemented as a resizable array.</a:t>
            </a:r>
          </a:p>
          <a:p>
            <a:pPr marL="285750" indent="-285750" algn="l">
              <a:buFont typeface="Wingdings" panose="05000000000000000000" pitchFamily="2" charset="2"/>
              <a:buChar char="ü"/>
            </a:pPr>
            <a:r>
              <a:rPr lang="en-US" sz="1800" dirty="0"/>
              <a:t>Unlike a traditional array, an ArrayDeque can dynamically resize itself to accommodate elements as they are added.</a:t>
            </a:r>
          </a:p>
          <a:p>
            <a:pPr marL="285750" indent="-285750" algn="l">
              <a:buFont typeface="Wingdings" panose="05000000000000000000" pitchFamily="2" charset="2"/>
              <a:buChar char="ü"/>
            </a:pPr>
            <a:r>
              <a:rPr lang="en-US" sz="1800" dirty="0"/>
              <a:t>This data structure is often used in scenarios where you need a </a:t>
            </a:r>
            <a:r>
              <a:rPr lang="en-US" sz="1800" b="1" dirty="0"/>
              <a:t>queue</a:t>
            </a:r>
            <a:r>
              <a:rPr lang="en-US" sz="1800" dirty="0"/>
              <a:t> or </a:t>
            </a:r>
            <a:r>
              <a:rPr lang="en-US" sz="1800" b="1" dirty="0"/>
              <a:t>stack </a:t>
            </a:r>
            <a:r>
              <a:rPr lang="en-US" sz="1800" dirty="0"/>
              <a:t>like behavior, and it provides constant time (O(1)) performance for basic operations like adding and removing elements from both ends.</a:t>
            </a:r>
            <a:endParaRPr lang="en-US" sz="1800" b="1" dirty="0"/>
          </a:p>
          <a:p>
            <a:pPr algn="l"/>
            <a:endParaRPr lang="en-US" sz="1800" b="1" dirty="0"/>
          </a:p>
          <a:p>
            <a:pPr algn="l"/>
            <a:endParaRPr lang="en-US" sz="1800" dirty="0"/>
          </a:p>
        </p:txBody>
      </p:sp>
    </p:spTree>
    <p:extLst>
      <p:ext uri="{BB962C8B-B14F-4D97-AF65-F5344CB8AC3E}">
        <p14:creationId xmlns:p14="http://schemas.microsoft.com/office/powerpoint/2010/main" val="2177008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BC9A-1B02-FE65-DCB3-3B8887ECD359}"/>
              </a:ext>
            </a:extLst>
          </p:cNvPr>
          <p:cNvSpPr txBox="1">
            <a:spLocks/>
          </p:cNvSpPr>
          <p:nvPr/>
        </p:nvSpPr>
        <p:spPr>
          <a:xfrm>
            <a:off x="838200" y="65781"/>
            <a:ext cx="10515600" cy="65812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u="sng" dirty="0"/>
              <a:t>Set&lt;E&gt;</a:t>
            </a:r>
          </a:p>
        </p:txBody>
      </p:sp>
      <p:sp>
        <p:nvSpPr>
          <p:cNvPr id="3" name="Content Placeholder 2">
            <a:extLst>
              <a:ext uri="{FF2B5EF4-FFF2-40B4-BE49-F238E27FC236}">
                <a16:creationId xmlns:a16="http://schemas.microsoft.com/office/drawing/2014/main" id="{DC8A739D-1249-89C3-C780-FE79460AC66A}"/>
              </a:ext>
            </a:extLst>
          </p:cNvPr>
          <p:cNvSpPr txBox="1">
            <a:spLocks/>
          </p:cNvSpPr>
          <p:nvPr/>
        </p:nvSpPr>
        <p:spPr>
          <a:xfrm>
            <a:off x="54427" y="723910"/>
            <a:ext cx="12053109" cy="318388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ü"/>
            </a:pPr>
            <a:r>
              <a:rPr lang="en-US" sz="1800" dirty="0"/>
              <a:t>Sets are collections that maintain unordered collection of unique elements. Unlike lists, sets do not allow duplicate values, making them ideal for scenarios where you need to ensure distinct elements.</a:t>
            </a:r>
          </a:p>
          <a:p>
            <a:pPr marL="285750" indent="-285750" algn="l">
              <a:buFont typeface="Wingdings" panose="05000000000000000000" pitchFamily="2" charset="2"/>
              <a:buChar char="ü"/>
            </a:pPr>
            <a:endParaRPr lang="en-US" sz="1800" dirty="0"/>
          </a:p>
          <a:p>
            <a:pPr marL="285750" indent="-285750" algn="l">
              <a:buFont typeface="Wingdings" panose="05000000000000000000" pitchFamily="2" charset="2"/>
              <a:buChar char="v"/>
            </a:pPr>
            <a:r>
              <a:rPr lang="en-US" sz="1800" b="1" dirty="0"/>
              <a:t>Implementations of the Set&lt;E&gt;:</a:t>
            </a:r>
          </a:p>
          <a:p>
            <a:pPr algn="l"/>
            <a:r>
              <a:rPr lang="en-US" sz="1800" b="1" dirty="0"/>
              <a:t>	</a:t>
            </a:r>
            <a:r>
              <a:rPr lang="en-US" sz="1800" dirty="0"/>
              <a:t>1. HashSet&lt;E&gt;</a:t>
            </a:r>
          </a:p>
          <a:p>
            <a:pPr algn="l"/>
            <a:r>
              <a:rPr lang="en-US" sz="1800" dirty="0"/>
              <a:t>	2. LinkedHashSet&lt;E&gt;</a:t>
            </a:r>
          </a:p>
          <a:p>
            <a:pPr marL="342900" indent="-342900" algn="l">
              <a:buFont typeface="Wingdings" panose="05000000000000000000" pitchFamily="2" charset="2"/>
              <a:buChar char="v"/>
            </a:pPr>
            <a:r>
              <a:rPr lang="en-US" sz="1800" b="1" dirty="0"/>
              <a:t>NavigableSet&lt;E&gt; extends SortedSet&lt;E&gt; extends Set&lt;E&gt;:</a:t>
            </a:r>
          </a:p>
          <a:p>
            <a:pPr algn="l"/>
            <a:r>
              <a:rPr lang="en-US" sz="1800" b="1" dirty="0"/>
              <a:t>	</a:t>
            </a:r>
            <a:r>
              <a:rPr lang="en-US" sz="1800" dirty="0"/>
              <a:t>3. TreeSet&lt;E&gt;</a:t>
            </a:r>
            <a:endParaRPr lang="en-US" sz="1800" b="1" dirty="0"/>
          </a:p>
          <a:p>
            <a:pPr algn="l"/>
            <a:r>
              <a:rPr lang="en-US" sz="1900" dirty="0"/>
              <a:t>	</a:t>
            </a:r>
          </a:p>
          <a:p>
            <a:pPr marL="285750" indent="-285750" algn="l">
              <a:buFont typeface="Wingdings" panose="05000000000000000000" pitchFamily="2" charset="2"/>
              <a:buChar char="ü"/>
            </a:pPr>
            <a:endParaRPr lang="en-US" sz="1800" dirty="0"/>
          </a:p>
        </p:txBody>
      </p:sp>
      <p:sp>
        <p:nvSpPr>
          <p:cNvPr id="30" name="Oval 29">
            <a:extLst>
              <a:ext uri="{FF2B5EF4-FFF2-40B4-BE49-F238E27FC236}">
                <a16:creationId xmlns:a16="http://schemas.microsoft.com/office/drawing/2014/main" id="{CBD83CD6-B5AC-3248-043E-957DE11B74E1}"/>
              </a:ext>
            </a:extLst>
          </p:cNvPr>
          <p:cNvSpPr/>
          <p:nvPr/>
        </p:nvSpPr>
        <p:spPr>
          <a:xfrm>
            <a:off x="7974494" y="3988900"/>
            <a:ext cx="2660371"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SortedSet&lt;E&gt;</a:t>
            </a:r>
            <a:endParaRPr lang="en-IN" sz="2400" dirty="0"/>
          </a:p>
        </p:txBody>
      </p:sp>
      <p:sp>
        <p:nvSpPr>
          <p:cNvPr id="31" name="Oval 30">
            <a:extLst>
              <a:ext uri="{FF2B5EF4-FFF2-40B4-BE49-F238E27FC236}">
                <a16:creationId xmlns:a16="http://schemas.microsoft.com/office/drawing/2014/main" id="{BEB566D7-92FE-0AF3-0AE2-B732F27B39D0}"/>
              </a:ext>
            </a:extLst>
          </p:cNvPr>
          <p:cNvSpPr/>
          <p:nvPr/>
        </p:nvSpPr>
        <p:spPr>
          <a:xfrm>
            <a:off x="3011553" y="3988899"/>
            <a:ext cx="2236304"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Set&lt;E&gt;</a:t>
            </a:r>
            <a:endParaRPr lang="en-IN" sz="2400" dirty="0"/>
          </a:p>
        </p:txBody>
      </p:sp>
      <p:sp>
        <p:nvSpPr>
          <p:cNvPr id="32" name="Rectangle: Rounded Corners 31">
            <a:extLst>
              <a:ext uri="{FF2B5EF4-FFF2-40B4-BE49-F238E27FC236}">
                <a16:creationId xmlns:a16="http://schemas.microsoft.com/office/drawing/2014/main" id="{16047564-BB2C-B8D3-7C0C-C66623015D8D}"/>
              </a:ext>
            </a:extLst>
          </p:cNvPr>
          <p:cNvSpPr/>
          <p:nvPr/>
        </p:nvSpPr>
        <p:spPr>
          <a:xfrm>
            <a:off x="1605166" y="5804453"/>
            <a:ext cx="2037522"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HashSet&lt;E&gt;</a:t>
            </a:r>
            <a:endParaRPr lang="en-IN" sz="2400" dirty="0"/>
          </a:p>
        </p:txBody>
      </p:sp>
      <p:sp>
        <p:nvSpPr>
          <p:cNvPr id="33" name="Rectangle: Rounded Corners 32">
            <a:extLst>
              <a:ext uri="{FF2B5EF4-FFF2-40B4-BE49-F238E27FC236}">
                <a16:creationId xmlns:a16="http://schemas.microsoft.com/office/drawing/2014/main" id="{530DD54B-6FDB-BEBE-9FF5-8C67344751F0}"/>
              </a:ext>
            </a:extLst>
          </p:cNvPr>
          <p:cNvSpPr/>
          <p:nvPr/>
        </p:nvSpPr>
        <p:spPr>
          <a:xfrm>
            <a:off x="4492493" y="5804451"/>
            <a:ext cx="2559320"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LinkedHashSet&lt;E&gt;</a:t>
            </a:r>
            <a:endParaRPr lang="en-IN" sz="2400" dirty="0"/>
          </a:p>
        </p:txBody>
      </p:sp>
      <p:sp>
        <p:nvSpPr>
          <p:cNvPr id="34" name="Rectangle: Rounded Corners 33">
            <a:extLst>
              <a:ext uri="{FF2B5EF4-FFF2-40B4-BE49-F238E27FC236}">
                <a16:creationId xmlns:a16="http://schemas.microsoft.com/office/drawing/2014/main" id="{10F243E3-ABF1-DA6D-4AF4-93573D8CC95F}"/>
              </a:ext>
            </a:extLst>
          </p:cNvPr>
          <p:cNvSpPr/>
          <p:nvPr/>
        </p:nvSpPr>
        <p:spPr>
          <a:xfrm>
            <a:off x="8070573" y="5804451"/>
            <a:ext cx="2468214"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TreeSet&lt;E&gt;</a:t>
            </a:r>
            <a:endParaRPr lang="en-IN" sz="2400" dirty="0"/>
          </a:p>
        </p:txBody>
      </p:sp>
      <p:cxnSp>
        <p:nvCxnSpPr>
          <p:cNvPr id="35" name="Straight Arrow Connector 34">
            <a:extLst>
              <a:ext uri="{FF2B5EF4-FFF2-40B4-BE49-F238E27FC236}">
                <a16:creationId xmlns:a16="http://schemas.microsoft.com/office/drawing/2014/main" id="{736BBF82-CC96-47A4-548D-E86E3FE326E1}"/>
              </a:ext>
            </a:extLst>
          </p:cNvPr>
          <p:cNvCxnSpPr>
            <a:cxnSpLocks/>
            <a:stCxn id="34" idx="0"/>
            <a:endCxn id="55" idx="4"/>
          </p:cNvCxnSpPr>
          <p:nvPr/>
        </p:nvCxnSpPr>
        <p:spPr>
          <a:xfrm flipV="1">
            <a:off x="9304680" y="5473146"/>
            <a:ext cx="0" cy="331305"/>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47CBB364-4197-5B49-9761-BBF415ADEA01}"/>
              </a:ext>
            </a:extLst>
          </p:cNvPr>
          <p:cNvCxnSpPr>
            <a:cxnSpLocks/>
            <a:endCxn id="31" idx="4"/>
          </p:cNvCxnSpPr>
          <p:nvPr/>
        </p:nvCxnSpPr>
        <p:spPr>
          <a:xfrm flipV="1">
            <a:off x="4129705" y="4565370"/>
            <a:ext cx="0" cy="619541"/>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F95B2E56-DAB5-237E-E2D4-8FC26BAB0CAB}"/>
              </a:ext>
            </a:extLst>
          </p:cNvPr>
          <p:cNvCxnSpPr>
            <a:cxnSpLocks/>
          </p:cNvCxnSpPr>
          <p:nvPr/>
        </p:nvCxnSpPr>
        <p:spPr>
          <a:xfrm>
            <a:off x="2623927" y="5184911"/>
            <a:ext cx="3140764" cy="0"/>
          </a:xfrm>
          <a:prstGeom prst="line">
            <a:avLst/>
          </a:prstGeom>
          <a:ln w="38100">
            <a:prstDash val="sysDot"/>
          </a:ln>
        </p:spPr>
        <p:style>
          <a:lnRef idx="3">
            <a:schemeClr val="dk1"/>
          </a:lnRef>
          <a:fillRef idx="0">
            <a:schemeClr val="dk1"/>
          </a:fillRef>
          <a:effectRef idx="2">
            <a:schemeClr val="dk1"/>
          </a:effectRef>
          <a:fontRef idx="minor">
            <a:schemeClr val="tx1"/>
          </a:fontRef>
        </p:style>
      </p:cxnSp>
      <p:cxnSp>
        <p:nvCxnSpPr>
          <p:cNvPr id="38" name="Straight Connector 37">
            <a:extLst>
              <a:ext uri="{FF2B5EF4-FFF2-40B4-BE49-F238E27FC236}">
                <a16:creationId xmlns:a16="http://schemas.microsoft.com/office/drawing/2014/main" id="{4148397D-AA8B-4C54-B94C-EE1C7737BB96}"/>
              </a:ext>
            </a:extLst>
          </p:cNvPr>
          <p:cNvCxnSpPr>
            <a:cxnSpLocks/>
            <a:endCxn id="33" idx="0"/>
          </p:cNvCxnSpPr>
          <p:nvPr/>
        </p:nvCxnSpPr>
        <p:spPr>
          <a:xfrm flipH="1">
            <a:off x="5772153" y="5184911"/>
            <a:ext cx="3723" cy="619540"/>
          </a:xfrm>
          <a:prstGeom prst="line">
            <a:avLst/>
          </a:prstGeom>
          <a:ln w="38100">
            <a:prstDash val="sysDot"/>
          </a:ln>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26F5C354-905F-F30F-354B-797265614714}"/>
              </a:ext>
            </a:extLst>
          </p:cNvPr>
          <p:cNvCxnSpPr>
            <a:cxnSpLocks/>
            <a:endCxn id="32" idx="0"/>
          </p:cNvCxnSpPr>
          <p:nvPr/>
        </p:nvCxnSpPr>
        <p:spPr>
          <a:xfrm>
            <a:off x="2623927" y="5184911"/>
            <a:ext cx="0" cy="619542"/>
          </a:xfrm>
          <a:prstGeom prst="line">
            <a:avLst/>
          </a:prstGeom>
          <a:ln w="38100">
            <a:prstDash val="sysDot"/>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3B978C6C-DABA-CE57-5B4C-451246B1E433}"/>
              </a:ext>
            </a:extLst>
          </p:cNvPr>
          <p:cNvSpPr txBox="1"/>
          <p:nvPr/>
        </p:nvSpPr>
        <p:spPr>
          <a:xfrm>
            <a:off x="1325686" y="5435119"/>
            <a:ext cx="1298241" cy="369332"/>
          </a:xfrm>
          <a:prstGeom prst="rect">
            <a:avLst/>
          </a:prstGeom>
          <a:noFill/>
        </p:spPr>
        <p:txBody>
          <a:bodyPr wrap="none" rtlCol="0">
            <a:spAutoFit/>
          </a:bodyPr>
          <a:lstStyle/>
          <a:p>
            <a:r>
              <a:rPr lang="en-US" dirty="0"/>
              <a:t>implements</a:t>
            </a:r>
            <a:endParaRPr lang="en-IN" dirty="0"/>
          </a:p>
        </p:txBody>
      </p:sp>
      <p:sp>
        <p:nvSpPr>
          <p:cNvPr id="43" name="TextBox 42">
            <a:extLst>
              <a:ext uri="{FF2B5EF4-FFF2-40B4-BE49-F238E27FC236}">
                <a16:creationId xmlns:a16="http://schemas.microsoft.com/office/drawing/2014/main" id="{B303CA2E-AE35-997A-EAEF-678A6895AA1F}"/>
              </a:ext>
            </a:extLst>
          </p:cNvPr>
          <p:cNvSpPr txBox="1"/>
          <p:nvPr/>
        </p:nvSpPr>
        <p:spPr>
          <a:xfrm>
            <a:off x="4470181" y="5435118"/>
            <a:ext cx="1298241" cy="369332"/>
          </a:xfrm>
          <a:prstGeom prst="rect">
            <a:avLst/>
          </a:prstGeom>
          <a:noFill/>
        </p:spPr>
        <p:txBody>
          <a:bodyPr wrap="none" rtlCol="0">
            <a:spAutoFit/>
          </a:bodyPr>
          <a:lstStyle/>
          <a:p>
            <a:r>
              <a:rPr lang="en-US" dirty="0"/>
              <a:t>implements</a:t>
            </a:r>
            <a:endParaRPr lang="en-IN" dirty="0"/>
          </a:p>
        </p:txBody>
      </p:sp>
      <p:sp>
        <p:nvSpPr>
          <p:cNvPr id="44" name="TextBox 43">
            <a:extLst>
              <a:ext uri="{FF2B5EF4-FFF2-40B4-BE49-F238E27FC236}">
                <a16:creationId xmlns:a16="http://schemas.microsoft.com/office/drawing/2014/main" id="{9F1EAE1D-B7D0-5B0E-ABA1-A5CC761315E8}"/>
              </a:ext>
            </a:extLst>
          </p:cNvPr>
          <p:cNvSpPr txBox="1"/>
          <p:nvPr/>
        </p:nvSpPr>
        <p:spPr>
          <a:xfrm>
            <a:off x="8006439" y="5435118"/>
            <a:ext cx="1298241" cy="369332"/>
          </a:xfrm>
          <a:prstGeom prst="rect">
            <a:avLst/>
          </a:prstGeom>
          <a:noFill/>
        </p:spPr>
        <p:txBody>
          <a:bodyPr wrap="none" rtlCol="0">
            <a:spAutoFit/>
          </a:bodyPr>
          <a:lstStyle/>
          <a:p>
            <a:r>
              <a:rPr lang="en-US" dirty="0"/>
              <a:t>implements</a:t>
            </a:r>
            <a:endParaRPr lang="en-IN" dirty="0"/>
          </a:p>
        </p:txBody>
      </p:sp>
      <p:cxnSp>
        <p:nvCxnSpPr>
          <p:cNvPr id="45" name="Straight Arrow Connector 44">
            <a:extLst>
              <a:ext uri="{FF2B5EF4-FFF2-40B4-BE49-F238E27FC236}">
                <a16:creationId xmlns:a16="http://schemas.microsoft.com/office/drawing/2014/main" id="{4BD32E4A-B70C-E894-10FD-BF928F312C8C}"/>
              </a:ext>
            </a:extLst>
          </p:cNvPr>
          <p:cNvCxnSpPr>
            <a:cxnSpLocks/>
            <a:stCxn id="30" idx="2"/>
            <a:endCxn id="31" idx="6"/>
          </p:cNvCxnSpPr>
          <p:nvPr/>
        </p:nvCxnSpPr>
        <p:spPr>
          <a:xfrm flipH="1" flipV="1">
            <a:off x="5247857" y="4277135"/>
            <a:ext cx="2726637" cy="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8" name="TextBox 47">
            <a:extLst>
              <a:ext uri="{FF2B5EF4-FFF2-40B4-BE49-F238E27FC236}">
                <a16:creationId xmlns:a16="http://schemas.microsoft.com/office/drawing/2014/main" id="{948D7489-BD4C-F3D1-7209-DA8FF6EE3674}"/>
              </a:ext>
            </a:extLst>
          </p:cNvPr>
          <p:cNvSpPr txBox="1"/>
          <p:nvPr/>
        </p:nvSpPr>
        <p:spPr>
          <a:xfrm>
            <a:off x="6184312" y="4277134"/>
            <a:ext cx="919995" cy="369332"/>
          </a:xfrm>
          <a:prstGeom prst="rect">
            <a:avLst/>
          </a:prstGeom>
          <a:noFill/>
        </p:spPr>
        <p:txBody>
          <a:bodyPr wrap="none" rtlCol="0">
            <a:spAutoFit/>
          </a:bodyPr>
          <a:lstStyle/>
          <a:p>
            <a:r>
              <a:rPr lang="en-US" dirty="0"/>
              <a:t>extends</a:t>
            </a:r>
            <a:endParaRPr lang="en-IN" dirty="0"/>
          </a:p>
        </p:txBody>
      </p:sp>
      <p:sp>
        <p:nvSpPr>
          <p:cNvPr id="55" name="Oval 54">
            <a:extLst>
              <a:ext uri="{FF2B5EF4-FFF2-40B4-BE49-F238E27FC236}">
                <a16:creationId xmlns:a16="http://schemas.microsoft.com/office/drawing/2014/main" id="{2FAB846F-F492-8780-8E71-2856A4E13106}"/>
              </a:ext>
            </a:extLst>
          </p:cNvPr>
          <p:cNvSpPr/>
          <p:nvPr/>
        </p:nvSpPr>
        <p:spPr>
          <a:xfrm>
            <a:off x="7696409" y="4896675"/>
            <a:ext cx="3216541"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NavigableSet&lt;E&gt;</a:t>
            </a:r>
            <a:endParaRPr lang="en-IN" sz="2400" dirty="0"/>
          </a:p>
        </p:txBody>
      </p:sp>
      <p:cxnSp>
        <p:nvCxnSpPr>
          <p:cNvPr id="58" name="Straight Arrow Connector 57">
            <a:extLst>
              <a:ext uri="{FF2B5EF4-FFF2-40B4-BE49-F238E27FC236}">
                <a16:creationId xmlns:a16="http://schemas.microsoft.com/office/drawing/2014/main" id="{C7BF22FE-3DBE-0503-58D3-7A144AA074E6}"/>
              </a:ext>
            </a:extLst>
          </p:cNvPr>
          <p:cNvCxnSpPr>
            <a:cxnSpLocks/>
            <a:stCxn id="55" idx="0"/>
            <a:endCxn id="30" idx="4"/>
          </p:cNvCxnSpPr>
          <p:nvPr/>
        </p:nvCxnSpPr>
        <p:spPr>
          <a:xfrm flipV="1">
            <a:off x="9304680" y="4565371"/>
            <a:ext cx="0" cy="331304"/>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1" name="TextBox 60">
            <a:extLst>
              <a:ext uri="{FF2B5EF4-FFF2-40B4-BE49-F238E27FC236}">
                <a16:creationId xmlns:a16="http://schemas.microsoft.com/office/drawing/2014/main" id="{DA4C5EBD-794B-500D-7806-204A9057E81D}"/>
              </a:ext>
            </a:extLst>
          </p:cNvPr>
          <p:cNvSpPr txBox="1"/>
          <p:nvPr/>
        </p:nvSpPr>
        <p:spPr>
          <a:xfrm>
            <a:off x="8382929" y="4527343"/>
            <a:ext cx="919995" cy="369332"/>
          </a:xfrm>
          <a:prstGeom prst="rect">
            <a:avLst/>
          </a:prstGeom>
          <a:noFill/>
        </p:spPr>
        <p:txBody>
          <a:bodyPr wrap="none" rtlCol="0">
            <a:spAutoFit/>
          </a:bodyPr>
          <a:lstStyle/>
          <a:p>
            <a:r>
              <a:rPr lang="en-US" dirty="0"/>
              <a:t>extends</a:t>
            </a:r>
            <a:endParaRPr lang="en-IN" dirty="0"/>
          </a:p>
        </p:txBody>
      </p:sp>
    </p:spTree>
    <p:extLst>
      <p:ext uri="{BB962C8B-B14F-4D97-AF65-F5344CB8AC3E}">
        <p14:creationId xmlns:p14="http://schemas.microsoft.com/office/powerpoint/2010/main" val="3130393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4E922E7-B016-AFB8-4CC3-F4B3DACEE5BC}"/>
              </a:ext>
            </a:extLst>
          </p:cNvPr>
          <p:cNvSpPr txBox="1">
            <a:spLocks/>
          </p:cNvSpPr>
          <p:nvPr/>
        </p:nvSpPr>
        <p:spPr>
          <a:xfrm>
            <a:off x="69444" y="183874"/>
            <a:ext cx="12053109" cy="6490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AutoNum type="arabicPeriod"/>
            </a:pPr>
            <a:r>
              <a:rPr lang="en-US" sz="1800" b="1" dirty="0"/>
              <a:t>HashSet&lt;E&gt;:</a:t>
            </a:r>
          </a:p>
          <a:p>
            <a:pPr marL="285750" indent="-285750" algn="l">
              <a:buFont typeface="Wingdings" panose="05000000000000000000" pitchFamily="2" charset="2"/>
              <a:buChar char="ü"/>
            </a:pPr>
            <a:r>
              <a:rPr lang="en-US" sz="1800" dirty="0"/>
              <a:t>HashSet provides a collection of unique elements without any specific order.</a:t>
            </a:r>
          </a:p>
          <a:p>
            <a:pPr marL="285750" indent="-285750" algn="l">
              <a:buFont typeface="Wingdings" panose="05000000000000000000" pitchFamily="2" charset="2"/>
              <a:buChar char="ü"/>
            </a:pPr>
            <a:r>
              <a:rPr lang="en-US" sz="1800" dirty="0"/>
              <a:t>It ensures that duplicates are not allowed.</a:t>
            </a:r>
          </a:p>
          <a:p>
            <a:pPr marL="342900" indent="-342900" algn="l">
              <a:buAutoNum type="arabicPeriod" startAt="2"/>
            </a:pPr>
            <a:r>
              <a:rPr lang="en-US" sz="1800" b="1" dirty="0"/>
              <a:t>LinkedHashSet&lt;E&gt;:</a:t>
            </a:r>
          </a:p>
          <a:p>
            <a:pPr marL="285750" indent="-285750" algn="l">
              <a:buFont typeface="Wingdings" panose="05000000000000000000" pitchFamily="2" charset="2"/>
              <a:buChar char="ü"/>
            </a:pPr>
            <a:r>
              <a:rPr lang="en-US" sz="1800" dirty="0"/>
              <a:t>Unlike HashSet, this maintains the order in which elements were inserted into the Set&lt;E&gt;.</a:t>
            </a:r>
          </a:p>
          <a:p>
            <a:pPr marL="285750" indent="-285750" algn="l">
              <a:buFont typeface="Wingdings" panose="05000000000000000000" pitchFamily="2" charset="2"/>
              <a:buChar char="ü"/>
            </a:pPr>
            <a:r>
              <a:rPr lang="en-US" sz="1800" dirty="0"/>
              <a:t>And this as well ensures that duplicates are not allowed.</a:t>
            </a:r>
          </a:p>
          <a:p>
            <a:pPr marL="342900" indent="-342900" algn="l">
              <a:buAutoNum type="arabicPeriod" startAt="3"/>
            </a:pPr>
            <a:r>
              <a:rPr lang="en-US" sz="1800" b="1" dirty="0"/>
              <a:t>TreeSet&lt;E&gt;:</a:t>
            </a:r>
          </a:p>
          <a:p>
            <a:pPr marL="285750" indent="-285750" algn="l">
              <a:buFont typeface="Wingdings" panose="05000000000000000000" pitchFamily="2" charset="2"/>
              <a:buChar char="ü"/>
            </a:pPr>
            <a:r>
              <a:rPr lang="en-US" sz="1800" dirty="0"/>
              <a:t>Unlike HashSet and LinkedHashSet, this maintains the elements in sorted order (natural order - ascending). But we can customize the ordering by providing Comparator during TreeSet&lt;E&gt; creation.</a:t>
            </a:r>
          </a:p>
          <a:p>
            <a:pPr marL="285750" indent="-285750" algn="l">
              <a:buFont typeface="Wingdings" panose="05000000000000000000" pitchFamily="2" charset="2"/>
              <a:buChar char="ü"/>
            </a:pPr>
            <a:r>
              <a:rPr lang="en-US" sz="1800" dirty="0"/>
              <a:t>This as well ensures that duplicates are not allowed.</a:t>
            </a:r>
          </a:p>
          <a:p>
            <a:pPr marL="285750" indent="-285750" algn="l">
              <a:buFont typeface="Wingdings" panose="05000000000000000000" pitchFamily="2" charset="2"/>
              <a:buChar char="ü"/>
            </a:pPr>
            <a:r>
              <a:rPr lang="en-US" sz="1800" dirty="0"/>
              <a:t>TreeSet&lt;E&gt; uses a </a:t>
            </a:r>
            <a:r>
              <a:rPr lang="en-US" sz="1800" b="1" dirty="0"/>
              <a:t>Red-Black Tree </a:t>
            </a:r>
            <a:r>
              <a:rPr lang="en-US" sz="1800" dirty="0"/>
              <a:t>data-structure internally for efficient sorting and retrieval operations. </a:t>
            </a:r>
          </a:p>
        </p:txBody>
      </p:sp>
    </p:spTree>
    <p:extLst>
      <p:ext uri="{BB962C8B-B14F-4D97-AF65-F5344CB8AC3E}">
        <p14:creationId xmlns:p14="http://schemas.microsoft.com/office/powerpoint/2010/main" val="831629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301EF-D8C8-F5AE-AA71-7E27C01583B5}"/>
              </a:ext>
            </a:extLst>
          </p:cNvPr>
          <p:cNvSpPr txBox="1">
            <a:spLocks/>
          </p:cNvSpPr>
          <p:nvPr/>
        </p:nvSpPr>
        <p:spPr>
          <a:xfrm>
            <a:off x="838200" y="65781"/>
            <a:ext cx="10515600" cy="65812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u="sng" dirty="0"/>
              <a:t>Map&lt;K, V&gt;</a:t>
            </a:r>
          </a:p>
        </p:txBody>
      </p:sp>
      <p:sp>
        <p:nvSpPr>
          <p:cNvPr id="3" name="Content Placeholder 2">
            <a:extLst>
              <a:ext uri="{FF2B5EF4-FFF2-40B4-BE49-F238E27FC236}">
                <a16:creationId xmlns:a16="http://schemas.microsoft.com/office/drawing/2014/main" id="{54DA235C-9D8B-877E-A57E-86AA8FD01D85}"/>
              </a:ext>
            </a:extLst>
          </p:cNvPr>
          <p:cNvSpPr txBox="1">
            <a:spLocks/>
          </p:cNvSpPr>
          <p:nvPr/>
        </p:nvSpPr>
        <p:spPr>
          <a:xfrm>
            <a:off x="54427" y="723910"/>
            <a:ext cx="12053109" cy="318388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ü"/>
            </a:pPr>
            <a:r>
              <a:rPr lang="en-US" sz="2100" dirty="0"/>
              <a:t>Map&lt;K, V&gt; represents a collection of key-value pairs, where each key is unique and maps to a specific value.</a:t>
            </a:r>
          </a:p>
          <a:p>
            <a:pPr marL="285750" indent="-285750" algn="l">
              <a:buFont typeface="Wingdings" panose="05000000000000000000" pitchFamily="2" charset="2"/>
              <a:buChar char="ü"/>
            </a:pPr>
            <a:r>
              <a:rPr lang="en-US" sz="2100" dirty="0"/>
              <a:t>It allows for efficient data retrieval based on keys, making it useful for tasks like looking up values by identifiers.</a:t>
            </a:r>
          </a:p>
          <a:p>
            <a:pPr marL="285750" indent="-285750" algn="l">
              <a:buFont typeface="Wingdings" panose="05000000000000000000" pitchFamily="2" charset="2"/>
              <a:buChar char="ü"/>
            </a:pPr>
            <a:r>
              <a:rPr lang="en-US" sz="2100" dirty="0"/>
              <a:t>Map&lt;K, V&gt; doesn't allow duplicate keys, but we can have duplicate values.</a:t>
            </a:r>
          </a:p>
          <a:p>
            <a:pPr marL="285750" indent="-285750" algn="l">
              <a:buFont typeface="Wingdings" panose="05000000000000000000" pitchFamily="2" charset="2"/>
              <a:buChar char="ü"/>
            </a:pPr>
            <a:endParaRPr lang="en-US" sz="2100" dirty="0"/>
          </a:p>
          <a:p>
            <a:pPr marL="285750" indent="-285750" algn="l">
              <a:buFont typeface="Wingdings" panose="05000000000000000000" pitchFamily="2" charset="2"/>
              <a:buChar char="v"/>
            </a:pPr>
            <a:r>
              <a:rPr lang="en-US" sz="2100" b="1" dirty="0"/>
              <a:t>Implementations of the Map&lt;K, V&gt;:</a:t>
            </a:r>
          </a:p>
          <a:p>
            <a:pPr algn="l"/>
            <a:r>
              <a:rPr lang="en-US" sz="2100" b="1" dirty="0"/>
              <a:t>	</a:t>
            </a:r>
            <a:r>
              <a:rPr lang="en-US" sz="2100" dirty="0"/>
              <a:t>1. HashMap&lt;K, V&gt;</a:t>
            </a:r>
          </a:p>
          <a:p>
            <a:pPr algn="l"/>
            <a:r>
              <a:rPr lang="en-US" sz="2100" dirty="0"/>
              <a:t>	2. LinkedHashMap&lt;K, V&gt;</a:t>
            </a:r>
          </a:p>
          <a:p>
            <a:pPr marL="342900" indent="-342900" algn="l">
              <a:buFont typeface="Wingdings" panose="05000000000000000000" pitchFamily="2" charset="2"/>
              <a:buChar char="v"/>
            </a:pPr>
            <a:r>
              <a:rPr lang="en-US" sz="2100" b="1" dirty="0"/>
              <a:t>NavigableMap&lt;K, V&gt; extends SortedMap&lt;K, V&gt; extends Map&lt;K, V&gt;:</a:t>
            </a:r>
          </a:p>
          <a:p>
            <a:pPr algn="l"/>
            <a:r>
              <a:rPr lang="en-US" sz="2100" b="1" dirty="0"/>
              <a:t>	</a:t>
            </a:r>
            <a:r>
              <a:rPr lang="en-US" sz="2100" dirty="0"/>
              <a:t>3. TreeMap&lt;K, V&gt;</a:t>
            </a:r>
            <a:endParaRPr lang="en-US" sz="2100" b="1" dirty="0"/>
          </a:p>
        </p:txBody>
      </p:sp>
      <p:sp>
        <p:nvSpPr>
          <p:cNvPr id="4" name="Oval 3">
            <a:extLst>
              <a:ext uri="{FF2B5EF4-FFF2-40B4-BE49-F238E27FC236}">
                <a16:creationId xmlns:a16="http://schemas.microsoft.com/office/drawing/2014/main" id="{DD751AB5-3743-7AE1-080A-CACA956A4CBC}"/>
              </a:ext>
            </a:extLst>
          </p:cNvPr>
          <p:cNvSpPr/>
          <p:nvPr/>
        </p:nvSpPr>
        <p:spPr>
          <a:xfrm>
            <a:off x="7696410" y="3988900"/>
            <a:ext cx="2938456"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SortedMap&lt;K, V&gt;</a:t>
            </a:r>
            <a:endParaRPr lang="en-IN" sz="2400" dirty="0"/>
          </a:p>
        </p:txBody>
      </p:sp>
      <p:sp>
        <p:nvSpPr>
          <p:cNvPr id="5" name="Oval 4">
            <a:extLst>
              <a:ext uri="{FF2B5EF4-FFF2-40B4-BE49-F238E27FC236}">
                <a16:creationId xmlns:a16="http://schemas.microsoft.com/office/drawing/2014/main" id="{EED04FBE-359B-5DA6-56A7-9DE67A57ABA6}"/>
              </a:ext>
            </a:extLst>
          </p:cNvPr>
          <p:cNvSpPr/>
          <p:nvPr/>
        </p:nvSpPr>
        <p:spPr>
          <a:xfrm>
            <a:off x="3011553" y="3988899"/>
            <a:ext cx="2236304"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Map&lt;K, V&gt;</a:t>
            </a:r>
            <a:endParaRPr lang="en-IN" sz="2400" dirty="0"/>
          </a:p>
        </p:txBody>
      </p:sp>
      <p:sp>
        <p:nvSpPr>
          <p:cNvPr id="6" name="Rectangle: Rounded Corners 5">
            <a:extLst>
              <a:ext uri="{FF2B5EF4-FFF2-40B4-BE49-F238E27FC236}">
                <a16:creationId xmlns:a16="http://schemas.microsoft.com/office/drawing/2014/main" id="{7F1FF977-5A7B-3446-B422-B5764C96D93F}"/>
              </a:ext>
            </a:extLst>
          </p:cNvPr>
          <p:cNvSpPr/>
          <p:nvPr/>
        </p:nvSpPr>
        <p:spPr>
          <a:xfrm>
            <a:off x="1605166" y="5804453"/>
            <a:ext cx="2037522"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HashMap&lt;K, V&gt;</a:t>
            </a:r>
            <a:endParaRPr lang="en-IN" sz="2400" dirty="0"/>
          </a:p>
        </p:txBody>
      </p:sp>
      <p:sp>
        <p:nvSpPr>
          <p:cNvPr id="7" name="Rectangle: Rounded Corners 6">
            <a:extLst>
              <a:ext uri="{FF2B5EF4-FFF2-40B4-BE49-F238E27FC236}">
                <a16:creationId xmlns:a16="http://schemas.microsoft.com/office/drawing/2014/main" id="{AD79BFF6-5CE7-7512-98E6-546CC326C1F1}"/>
              </a:ext>
            </a:extLst>
          </p:cNvPr>
          <p:cNvSpPr/>
          <p:nvPr/>
        </p:nvSpPr>
        <p:spPr>
          <a:xfrm>
            <a:off x="4388848" y="5804451"/>
            <a:ext cx="2791341"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LinkedHashMap&lt;K, V&gt;</a:t>
            </a:r>
            <a:endParaRPr lang="en-IN" sz="2400" dirty="0"/>
          </a:p>
        </p:txBody>
      </p:sp>
      <p:sp>
        <p:nvSpPr>
          <p:cNvPr id="8" name="Rectangle: Rounded Corners 7">
            <a:extLst>
              <a:ext uri="{FF2B5EF4-FFF2-40B4-BE49-F238E27FC236}">
                <a16:creationId xmlns:a16="http://schemas.microsoft.com/office/drawing/2014/main" id="{405B62AB-3E01-A265-0597-E8DEBB17D8C5}"/>
              </a:ext>
            </a:extLst>
          </p:cNvPr>
          <p:cNvSpPr/>
          <p:nvPr/>
        </p:nvSpPr>
        <p:spPr>
          <a:xfrm>
            <a:off x="7931529" y="5804451"/>
            <a:ext cx="2468214" cy="487017"/>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TreeMap&lt;K, V&gt;</a:t>
            </a:r>
            <a:endParaRPr lang="en-IN" sz="2400" dirty="0"/>
          </a:p>
        </p:txBody>
      </p:sp>
      <p:cxnSp>
        <p:nvCxnSpPr>
          <p:cNvPr id="9" name="Straight Arrow Connector 8">
            <a:extLst>
              <a:ext uri="{FF2B5EF4-FFF2-40B4-BE49-F238E27FC236}">
                <a16:creationId xmlns:a16="http://schemas.microsoft.com/office/drawing/2014/main" id="{D711B012-DAF0-2D4B-55B1-24CE81193199}"/>
              </a:ext>
            </a:extLst>
          </p:cNvPr>
          <p:cNvCxnSpPr>
            <a:cxnSpLocks/>
            <a:stCxn id="8" idx="0"/>
            <a:endCxn id="19" idx="4"/>
          </p:cNvCxnSpPr>
          <p:nvPr/>
        </p:nvCxnSpPr>
        <p:spPr>
          <a:xfrm flipV="1">
            <a:off x="9165636" y="5473146"/>
            <a:ext cx="1" cy="331305"/>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51BC70C0-9AD3-61F2-4FDD-06FCDCB6A760}"/>
              </a:ext>
            </a:extLst>
          </p:cNvPr>
          <p:cNvCxnSpPr>
            <a:cxnSpLocks/>
            <a:endCxn id="5" idx="4"/>
          </p:cNvCxnSpPr>
          <p:nvPr/>
        </p:nvCxnSpPr>
        <p:spPr>
          <a:xfrm flipV="1">
            <a:off x="4129705" y="4565370"/>
            <a:ext cx="0" cy="619541"/>
          </a:xfrm>
          <a:prstGeom prst="straightConnector1">
            <a:avLst/>
          </a:prstGeom>
          <a:ln w="38100">
            <a:prstDash val="sysDot"/>
            <a:tailEnd type="triangle"/>
          </a:ln>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41AF3CB2-48F3-6D5E-3C99-77E061374ACB}"/>
              </a:ext>
            </a:extLst>
          </p:cNvPr>
          <p:cNvCxnSpPr>
            <a:cxnSpLocks/>
          </p:cNvCxnSpPr>
          <p:nvPr/>
        </p:nvCxnSpPr>
        <p:spPr>
          <a:xfrm>
            <a:off x="2623927" y="5194850"/>
            <a:ext cx="3140764" cy="0"/>
          </a:xfrm>
          <a:prstGeom prst="line">
            <a:avLst/>
          </a:prstGeom>
          <a:ln w="38100">
            <a:prstDash val="sysDot"/>
          </a:ln>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5A6BBB89-11F4-C384-3A5F-51B856633FB4}"/>
              </a:ext>
            </a:extLst>
          </p:cNvPr>
          <p:cNvCxnSpPr>
            <a:cxnSpLocks/>
            <a:endCxn id="7" idx="0"/>
          </p:cNvCxnSpPr>
          <p:nvPr/>
        </p:nvCxnSpPr>
        <p:spPr>
          <a:xfrm>
            <a:off x="5784519" y="5184911"/>
            <a:ext cx="0" cy="619540"/>
          </a:xfrm>
          <a:prstGeom prst="line">
            <a:avLst/>
          </a:prstGeom>
          <a:ln w="38100">
            <a:prstDash val="sysDot"/>
          </a:ln>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607C18F4-F6BA-1B50-8843-A9BA869CDD42}"/>
              </a:ext>
            </a:extLst>
          </p:cNvPr>
          <p:cNvCxnSpPr>
            <a:cxnSpLocks/>
            <a:endCxn id="6" idx="0"/>
          </p:cNvCxnSpPr>
          <p:nvPr/>
        </p:nvCxnSpPr>
        <p:spPr>
          <a:xfrm>
            <a:off x="2623927" y="5184911"/>
            <a:ext cx="0" cy="619542"/>
          </a:xfrm>
          <a:prstGeom prst="line">
            <a:avLst/>
          </a:prstGeom>
          <a:ln w="38100">
            <a:prstDash val="sysDot"/>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223CCBF3-7715-02B1-49F7-32F76449BB08}"/>
              </a:ext>
            </a:extLst>
          </p:cNvPr>
          <p:cNvSpPr txBox="1"/>
          <p:nvPr/>
        </p:nvSpPr>
        <p:spPr>
          <a:xfrm>
            <a:off x="1325686" y="5435119"/>
            <a:ext cx="1298241" cy="369332"/>
          </a:xfrm>
          <a:prstGeom prst="rect">
            <a:avLst/>
          </a:prstGeom>
          <a:noFill/>
        </p:spPr>
        <p:txBody>
          <a:bodyPr wrap="none" rtlCol="0">
            <a:spAutoFit/>
          </a:bodyPr>
          <a:lstStyle/>
          <a:p>
            <a:r>
              <a:rPr lang="en-US" dirty="0"/>
              <a:t>implements</a:t>
            </a:r>
            <a:endParaRPr lang="en-IN" dirty="0"/>
          </a:p>
        </p:txBody>
      </p:sp>
      <p:sp>
        <p:nvSpPr>
          <p:cNvPr id="15" name="TextBox 14">
            <a:extLst>
              <a:ext uri="{FF2B5EF4-FFF2-40B4-BE49-F238E27FC236}">
                <a16:creationId xmlns:a16="http://schemas.microsoft.com/office/drawing/2014/main" id="{C06F8197-1308-5506-E287-15DAC7F68F53}"/>
              </a:ext>
            </a:extLst>
          </p:cNvPr>
          <p:cNvSpPr txBox="1"/>
          <p:nvPr/>
        </p:nvSpPr>
        <p:spPr>
          <a:xfrm>
            <a:off x="4470181" y="5435118"/>
            <a:ext cx="1298241" cy="369332"/>
          </a:xfrm>
          <a:prstGeom prst="rect">
            <a:avLst/>
          </a:prstGeom>
          <a:noFill/>
        </p:spPr>
        <p:txBody>
          <a:bodyPr wrap="none" rtlCol="0">
            <a:spAutoFit/>
          </a:bodyPr>
          <a:lstStyle/>
          <a:p>
            <a:r>
              <a:rPr lang="en-US" dirty="0"/>
              <a:t>implements</a:t>
            </a:r>
            <a:endParaRPr lang="en-IN" dirty="0"/>
          </a:p>
        </p:txBody>
      </p:sp>
      <p:sp>
        <p:nvSpPr>
          <p:cNvPr id="16" name="TextBox 15">
            <a:extLst>
              <a:ext uri="{FF2B5EF4-FFF2-40B4-BE49-F238E27FC236}">
                <a16:creationId xmlns:a16="http://schemas.microsoft.com/office/drawing/2014/main" id="{77870978-5AA5-8F75-521F-518FF0F15735}"/>
              </a:ext>
            </a:extLst>
          </p:cNvPr>
          <p:cNvSpPr txBox="1"/>
          <p:nvPr/>
        </p:nvSpPr>
        <p:spPr>
          <a:xfrm>
            <a:off x="7827741" y="5473146"/>
            <a:ext cx="1298241" cy="369332"/>
          </a:xfrm>
          <a:prstGeom prst="rect">
            <a:avLst/>
          </a:prstGeom>
          <a:noFill/>
        </p:spPr>
        <p:txBody>
          <a:bodyPr wrap="none" rtlCol="0">
            <a:spAutoFit/>
          </a:bodyPr>
          <a:lstStyle/>
          <a:p>
            <a:r>
              <a:rPr lang="en-US" dirty="0"/>
              <a:t>implements</a:t>
            </a:r>
            <a:endParaRPr lang="en-IN" dirty="0"/>
          </a:p>
        </p:txBody>
      </p:sp>
      <p:cxnSp>
        <p:nvCxnSpPr>
          <p:cNvPr id="17" name="Straight Arrow Connector 16">
            <a:extLst>
              <a:ext uri="{FF2B5EF4-FFF2-40B4-BE49-F238E27FC236}">
                <a16:creationId xmlns:a16="http://schemas.microsoft.com/office/drawing/2014/main" id="{3FE7D19F-1DFB-AFC8-7DC0-6FCCA5AFFACE}"/>
              </a:ext>
            </a:extLst>
          </p:cNvPr>
          <p:cNvCxnSpPr>
            <a:cxnSpLocks/>
            <a:stCxn id="4" idx="2"/>
            <a:endCxn id="5" idx="6"/>
          </p:cNvCxnSpPr>
          <p:nvPr/>
        </p:nvCxnSpPr>
        <p:spPr>
          <a:xfrm flipH="1" flipV="1">
            <a:off x="5247857" y="4277135"/>
            <a:ext cx="2448553" cy="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414DC1F0-E574-60F5-DD78-DC52BB2455B2}"/>
              </a:ext>
            </a:extLst>
          </p:cNvPr>
          <p:cNvSpPr txBox="1"/>
          <p:nvPr/>
        </p:nvSpPr>
        <p:spPr>
          <a:xfrm>
            <a:off x="6184312" y="4277134"/>
            <a:ext cx="919995" cy="369332"/>
          </a:xfrm>
          <a:prstGeom prst="rect">
            <a:avLst/>
          </a:prstGeom>
          <a:noFill/>
        </p:spPr>
        <p:txBody>
          <a:bodyPr wrap="none" rtlCol="0">
            <a:spAutoFit/>
          </a:bodyPr>
          <a:lstStyle/>
          <a:p>
            <a:r>
              <a:rPr lang="en-US" dirty="0"/>
              <a:t>extends</a:t>
            </a:r>
            <a:endParaRPr lang="en-IN" dirty="0"/>
          </a:p>
        </p:txBody>
      </p:sp>
      <p:sp>
        <p:nvSpPr>
          <p:cNvPr id="19" name="Oval 18">
            <a:extLst>
              <a:ext uri="{FF2B5EF4-FFF2-40B4-BE49-F238E27FC236}">
                <a16:creationId xmlns:a16="http://schemas.microsoft.com/office/drawing/2014/main" id="{DC65EEBC-236F-B9D5-43C7-7A49FACA14D8}"/>
              </a:ext>
            </a:extLst>
          </p:cNvPr>
          <p:cNvSpPr/>
          <p:nvPr/>
        </p:nvSpPr>
        <p:spPr>
          <a:xfrm>
            <a:off x="7418323" y="4896675"/>
            <a:ext cx="3494627" cy="576471"/>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NavigableMap&lt;K, V&gt;</a:t>
            </a:r>
            <a:endParaRPr lang="en-IN" sz="2400" dirty="0"/>
          </a:p>
        </p:txBody>
      </p:sp>
      <p:cxnSp>
        <p:nvCxnSpPr>
          <p:cNvPr id="20" name="Straight Arrow Connector 19">
            <a:extLst>
              <a:ext uri="{FF2B5EF4-FFF2-40B4-BE49-F238E27FC236}">
                <a16:creationId xmlns:a16="http://schemas.microsoft.com/office/drawing/2014/main" id="{FE86D318-6F8D-C067-1686-EA68E10E25FB}"/>
              </a:ext>
            </a:extLst>
          </p:cNvPr>
          <p:cNvCxnSpPr>
            <a:cxnSpLocks/>
            <a:stCxn id="19" idx="0"/>
            <a:endCxn id="4" idx="4"/>
          </p:cNvCxnSpPr>
          <p:nvPr/>
        </p:nvCxnSpPr>
        <p:spPr>
          <a:xfrm flipV="1">
            <a:off x="9165637" y="4565371"/>
            <a:ext cx="1" cy="331304"/>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53A6BF14-379D-2652-1A49-4FC16BEA75A4}"/>
              </a:ext>
            </a:extLst>
          </p:cNvPr>
          <p:cNvSpPr txBox="1"/>
          <p:nvPr/>
        </p:nvSpPr>
        <p:spPr>
          <a:xfrm>
            <a:off x="8195561" y="4565370"/>
            <a:ext cx="919995" cy="369332"/>
          </a:xfrm>
          <a:prstGeom prst="rect">
            <a:avLst/>
          </a:prstGeom>
          <a:noFill/>
        </p:spPr>
        <p:txBody>
          <a:bodyPr wrap="none" rtlCol="0">
            <a:spAutoFit/>
          </a:bodyPr>
          <a:lstStyle/>
          <a:p>
            <a:r>
              <a:rPr lang="en-US" dirty="0"/>
              <a:t>extends</a:t>
            </a:r>
            <a:endParaRPr lang="en-IN" dirty="0"/>
          </a:p>
        </p:txBody>
      </p:sp>
      <p:sp>
        <p:nvSpPr>
          <p:cNvPr id="30" name="Rectangle: Rounded Corners 29">
            <a:extLst>
              <a:ext uri="{FF2B5EF4-FFF2-40B4-BE49-F238E27FC236}">
                <a16:creationId xmlns:a16="http://schemas.microsoft.com/office/drawing/2014/main" id="{AD0537F2-E2B9-522D-40D8-3BB7E6E89DED}"/>
              </a:ext>
            </a:extLst>
          </p:cNvPr>
          <p:cNvSpPr/>
          <p:nvPr/>
        </p:nvSpPr>
        <p:spPr>
          <a:xfrm>
            <a:off x="381928" y="4033625"/>
            <a:ext cx="2037522" cy="487017"/>
          </a:xfrm>
          <a:prstGeom prst="roundRect">
            <a:avLst/>
          </a:prstGeom>
          <a:solidFill>
            <a:schemeClr val="accent2">
              <a:lumMod val="60000"/>
              <a:lumOff val="4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rPr>
              <a:t>HashTable&lt;K,V&gt;</a:t>
            </a:r>
            <a:endParaRPr lang="en-IN" sz="2400" dirty="0"/>
          </a:p>
        </p:txBody>
      </p:sp>
      <p:cxnSp>
        <p:nvCxnSpPr>
          <p:cNvPr id="31" name="Straight Arrow Connector 30">
            <a:extLst>
              <a:ext uri="{FF2B5EF4-FFF2-40B4-BE49-F238E27FC236}">
                <a16:creationId xmlns:a16="http://schemas.microsoft.com/office/drawing/2014/main" id="{F406BC08-2725-E744-FAF4-E637B1E9B981}"/>
              </a:ext>
            </a:extLst>
          </p:cNvPr>
          <p:cNvCxnSpPr>
            <a:cxnSpLocks/>
            <a:stCxn id="30" idx="3"/>
            <a:endCxn id="5" idx="2"/>
          </p:cNvCxnSpPr>
          <p:nvPr/>
        </p:nvCxnSpPr>
        <p:spPr>
          <a:xfrm>
            <a:off x="2419450" y="4277134"/>
            <a:ext cx="592103" cy="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CA2C7B7C-9CD5-05CB-C73E-66716EC94D0A}"/>
              </a:ext>
            </a:extLst>
          </p:cNvPr>
          <p:cNvSpPr txBox="1"/>
          <p:nvPr/>
        </p:nvSpPr>
        <p:spPr>
          <a:xfrm>
            <a:off x="2332311" y="4320202"/>
            <a:ext cx="919995" cy="369332"/>
          </a:xfrm>
          <a:prstGeom prst="rect">
            <a:avLst/>
          </a:prstGeom>
          <a:noFill/>
        </p:spPr>
        <p:txBody>
          <a:bodyPr wrap="none" rtlCol="0">
            <a:spAutoFit/>
          </a:bodyPr>
          <a:lstStyle/>
          <a:p>
            <a:r>
              <a:rPr lang="en-US" dirty="0"/>
              <a:t>extends</a:t>
            </a:r>
            <a:endParaRPr lang="en-IN" dirty="0"/>
          </a:p>
        </p:txBody>
      </p:sp>
    </p:spTree>
    <p:extLst>
      <p:ext uri="{BB962C8B-B14F-4D97-AF65-F5344CB8AC3E}">
        <p14:creationId xmlns:p14="http://schemas.microsoft.com/office/powerpoint/2010/main" val="729162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3955F77-230B-4AB9-24CD-8829997C9F36}"/>
              </a:ext>
            </a:extLst>
          </p:cNvPr>
          <p:cNvSpPr txBox="1">
            <a:spLocks/>
          </p:cNvSpPr>
          <p:nvPr/>
        </p:nvSpPr>
        <p:spPr>
          <a:xfrm>
            <a:off x="69444" y="183874"/>
            <a:ext cx="12053109" cy="649025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AutoNum type="arabicPeriod"/>
            </a:pPr>
            <a:r>
              <a:rPr lang="en-US" sz="1800" b="1" dirty="0"/>
              <a:t>HashMap&lt;K, V&gt;:</a:t>
            </a:r>
          </a:p>
          <a:p>
            <a:pPr marL="285750" indent="-285750" algn="l">
              <a:buFont typeface="Wingdings" panose="05000000000000000000" pitchFamily="2" charset="2"/>
              <a:buChar char="ü"/>
            </a:pPr>
            <a:r>
              <a:rPr lang="en-US" sz="1800" dirty="0"/>
              <a:t>HashMap&lt;K, V&gt; provides the storage and retrieval of data using key-value pairs.</a:t>
            </a:r>
          </a:p>
          <a:p>
            <a:pPr marL="285750" indent="-285750" algn="l">
              <a:buFont typeface="Wingdings" panose="05000000000000000000" pitchFamily="2" charset="2"/>
              <a:buChar char="ü"/>
            </a:pPr>
            <a:r>
              <a:rPr lang="en-US" sz="1800" dirty="0"/>
              <a:t>HashMap&lt;K, V&gt; use a hash function to compute an index into an array where the values are stored, making retrieval swift even for large datasets.</a:t>
            </a:r>
          </a:p>
          <a:p>
            <a:pPr marL="285750" indent="-285750" algn="l">
              <a:buFont typeface="Wingdings" panose="05000000000000000000" pitchFamily="2" charset="2"/>
              <a:buChar char="ü"/>
            </a:pPr>
            <a:r>
              <a:rPr lang="en-US" sz="1800" dirty="0"/>
              <a:t>HashMap&lt;K, V&gt; do not allow duplicate keys and </a:t>
            </a:r>
            <a:r>
              <a:rPr lang="en-US" sz="1800" b="1" dirty="0"/>
              <a:t>permit one null key along with multiple null values</a:t>
            </a:r>
            <a:r>
              <a:rPr lang="en-US" sz="1800" dirty="0"/>
              <a:t>. And doesn’t guarantee order of the elements.</a:t>
            </a:r>
          </a:p>
          <a:p>
            <a:pPr marL="342900" indent="-342900" algn="l">
              <a:buAutoNum type="arabicPeriod" startAt="2"/>
            </a:pPr>
            <a:r>
              <a:rPr lang="en-US" sz="1800" b="1" dirty="0"/>
              <a:t>HashTable&lt;K, V&gt;:</a:t>
            </a:r>
          </a:p>
          <a:p>
            <a:pPr marL="285750" indent="-285750" algn="l">
              <a:buFont typeface="Wingdings" panose="05000000000000000000" pitchFamily="2" charset="2"/>
              <a:buChar char="ü"/>
            </a:pPr>
            <a:r>
              <a:rPr lang="en-US" sz="1800" dirty="0"/>
              <a:t>Unlike HashMap&lt;K, V&gt;, HashTable&lt;K, V&gt; is a synchronized collection, which means it is </a:t>
            </a:r>
            <a:r>
              <a:rPr lang="en-US" sz="1800" b="1" dirty="0"/>
              <a:t>thread-safe</a:t>
            </a:r>
            <a:r>
              <a:rPr lang="en-US" sz="1800" dirty="0"/>
              <a:t> and can be used in multi-threaded applications without the need for external synchronization.</a:t>
            </a:r>
          </a:p>
          <a:p>
            <a:pPr marL="285750" indent="-285750" algn="l">
              <a:buFont typeface="Wingdings" panose="05000000000000000000" pitchFamily="2" charset="2"/>
              <a:buChar char="ü"/>
            </a:pPr>
            <a:r>
              <a:rPr lang="en-US" sz="1800" dirty="0"/>
              <a:t>This is a legacy class and recommended to use HashMap&lt;K, V&gt;</a:t>
            </a:r>
          </a:p>
          <a:p>
            <a:pPr marL="285750" indent="-285750" algn="l">
              <a:buFont typeface="Wingdings" panose="05000000000000000000" pitchFamily="2" charset="2"/>
              <a:buChar char="ü"/>
            </a:pPr>
            <a:r>
              <a:rPr lang="en-US" sz="1800" dirty="0"/>
              <a:t>And HashTable&lt;K, V&gt; doesn’t allow null keys or values. And doesn’t guarantee order of the elements.</a:t>
            </a:r>
          </a:p>
          <a:p>
            <a:pPr algn="l"/>
            <a:r>
              <a:rPr lang="en-US" sz="1800" b="1" dirty="0"/>
              <a:t>3.   LinkedHashMap&lt;K, V&gt;:</a:t>
            </a:r>
          </a:p>
          <a:p>
            <a:pPr marL="285750" indent="-285750" algn="l">
              <a:buFont typeface="Wingdings" panose="05000000000000000000" pitchFamily="2" charset="2"/>
              <a:buChar char="ü"/>
            </a:pPr>
            <a:r>
              <a:rPr lang="en-US" sz="1800" dirty="0"/>
              <a:t>Unlike HashMap&lt;K, V&gt; and HashTable&lt;K, V&gt;, this maintains the order in which elements were inserted into the Map&lt;K, V&gt;. Meaning, this combines the features of HashTable&lt;K, V&gt; and LinkedList&lt;K, V&gt;</a:t>
            </a:r>
          </a:p>
          <a:p>
            <a:pPr marL="285750" indent="-285750" algn="l">
              <a:buFont typeface="Wingdings" panose="05000000000000000000" pitchFamily="2" charset="2"/>
              <a:buChar char="ü"/>
            </a:pPr>
            <a:r>
              <a:rPr lang="en-US" sz="1800" dirty="0"/>
              <a:t>LinkedHashMap&lt;K, V&gt; doesn’t allow duplicate keys and </a:t>
            </a:r>
            <a:r>
              <a:rPr lang="en-US" sz="1800" b="1" dirty="0"/>
              <a:t>permit one null key along with multiple null values</a:t>
            </a:r>
            <a:r>
              <a:rPr lang="en-US" sz="1800" dirty="0"/>
              <a:t>.</a:t>
            </a:r>
          </a:p>
          <a:p>
            <a:pPr algn="l"/>
            <a:r>
              <a:rPr lang="en-US" sz="1800" b="1" dirty="0"/>
              <a:t>4.   TreeMap&lt;K, V&gt;:</a:t>
            </a:r>
          </a:p>
          <a:p>
            <a:pPr marL="285750" indent="-285750" algn="l">
              <a:buFont typeface="Wingdings" panose="05000000000000000000" pitchFamily="2" charset="2"/>
              <a:buChar char="ü"/>
            </a:pPr>
            <a:r>
              <a:rPr lang="en-US" sz="1800" dirty="0"/>
              <a:t>Unlike HashMap&lt;K, V&gt; and LinkedHashMap&lt;K, V&gt;, this maintains the elements in sorted order (natural order - ascending). But we can customize the ordering by providing Comparator during TreeMap&lt;K, V&gt; creation.</a:t>
            </a:r>
          </a:p>
          <a:p>
            <a:pPr marL="285750" indent="-285750" algn="l">
              <a:buFont typeface="Wingdings" panose="05000000000000000000" pitchFamily="2" charset="2"/>
              <a:buChar char="ü"/>
            </a:pPr>
            <a:r>
              <a:rPr lang="en-US" sz="1800" dirty="0"/>
              <a:t>TreeMap&lt;K, V&gt; doesn’t allow null keys, but it allows multiple null values.</a:t>
            </a:r>
          </a:p>
          <a:p>
            <a:pPr marL="285750" indent="-285750" algn="l">
              <a:buFont typeface="Wingdings" panose="05000000000000000000" pitchFamily="2" charset="2"/>
              <a:buChar char="ü"/>
            </a:pPr>
            <a:r>
              <a:rPr lang="en-US" sz="1800" dirty="0"/>
              <a:t>TreeMap&lt;K, V&gt; uses a </a:t>
            </a:r>
            <a:r>
              <a:rPr lang="en-US" sz="1800" b="1" dirty="0"/>
              <a:t>Red-Black Tree </a:t>
            </a:r>
            <a:r>
              <a:rPr lang="en-US" sz="1800" dirty="0"/>
              <a:t>data-structure internally for efficient sorting and retrieval operations. </a:t>
            </a:r>
          </a:p>
        </p:txBody>
      </p:sp>
    </p:spTree>
    <p:extLst>
      <p:ext uri="{BB962C8B-B14F-4D97-AF65-F5344CB8AC3E}">
        <p14:creationId xmlns:p14="http://schemas.microsoft.com/office/powerpoint/2010/main" val="318113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0090292-E851-AAF0-878E-BE877759ADC9}"/>
              </a:ext>
            </a:extLst>
          </p:cNvPr>
          <p:cNvSpPr txBox="1">
            <a:spLocks/>
          </p:cNvSpPr>
          <p:nvPr/>
        </p:nvSpPr>
        <p:spPr>
          <a:xfrm>
            <a:off x="69444" y="183874"/>
            <a:ext cx="12053109" cy="64902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Wingdings" panose="05000000000000000000" pitchFamily="2" charset="2"/>
              <a:buChar char="v"/>
            </a:pPr>
            <a:r>
              <a:rPr lang="en-US" sz="1800" b="1" dirty="0"/>
              <a:t>Internal working of HashMap&lt;K, V&gt;:</a:t>
            </a:r>
          </a:p>
          <a:p>
            <a:pPr marL="285750" indent="-285750" algn="l">
              <a:buFont typeface="Wingdings" panose="05000000000000000000" pitchFamily="2" charset="2"/>
              <a:buChar char="ü"/>
            </a:pPr>
            <a:r>
              <a:rPr lang="en-US" sz="1800" dirty="0"/>
              <a:t>To store keys, HashMap&lt;K, V&gt; uses </a:t>
            </a:r>
            <a:r>
              <a:rPr lang="en-US" sz="1800" b="1" dirty="0"/>
              <a:t>hashing</a:t>
            </a:r>
            <a:r>
              <a:rPr lang="en-US" sz="1800" dirty="0"/>
              <a:t> technique. Meaning, hash() function which takes any input and converts into a small integer value called hash value. For same input, we must get the same hash value.</a:t>
            </a:r>
            <a:endParaRPr lang="en-US" sz="1800" b="1" dirty="0"/>
          </a:p>
          <a:p>
            <a:pPr marL="285750" indent="-285750" algn="l">
              <a:buFont typeface="Wingdings" panose="05000000000000000000" pitchFamily="2" charset="2"/>
              <a:buChar char="ü"/>
            </a:pPr>
            <a:r>
              <a:rPr lang="en-US" sz="1800" dirty="0"/>
              <a:t>Sometimes, even for different input we get the same hash value. This is called </a:t>
            </a:r>
            <a:r>
              <a:rPr lang="en-US" sz="1800" b="1" dirty="0"/>
              <a:t>Hash-Collision</a:t>
            </a:r>
            <a:r>
              <a:rPr lang="en-US" sz="1800" dirty="0"/>
              <a:t>. Having said that, lesser the collision, better the hash function.</a:t>
            </a:r>
          </a:p>
          <a:p>
            <a:pPr marL="285750" indent="-285750" algn="l">
              <a:buFont typeface="Wingdings" panose="05000000000000000000" pitchFamily="2" charset="2"/>
              <a:buChar char="ü"/>
            </a:pPr>
            <a:r>
              <a:rPr lang="en-US" sz="1800" dirty="0"/>
              <a:t>The resultant </a:t>
            </a:r>
            <a:r>
              <a:rPr lang="en-US" sz="1800" b="1" dirty="0"/>
              <a:t>hash-value </a:t>
            </a:r>
            <a:r>
              <a:rPr lang="en-US" sz="1800" dirty="0"/>
              <a:t>will be considered as the index where &lt;K, V&gt; pairs are stored in array of LinkedList&lt;E&gt;.</a:t>
            </a:r>
          </a:p>
          <a:p>
            <a:pPr marL="285750" indent="-285750" algn="l">
              <a:buFont typeface="Wingdings" panose="05000000000000000000" pitchFamily="2" charset="2"/>
              <a:buChar char="ü"/>
            </a:pPr>
            <a:r>
              <a:rPr lang="en-US" sz="1800" dirty="0"/>
              <a:t>Internally HashMap&lt;K, V&gt; uses array of LinkedList&lt;E&gt; to store the values.</a:t>
            </a:r>
            <a:r>
              <a:rPr lang="en-US" sz="1800" b="1" dirty="0"/>
              <a:t> </a:t>
            </a:r>
            <a:r>
              <a:rPr lang="en-US" sz="1800" dirty="0"/>
              <a:t>From Java8, if too many &lt;K, V&gt; pairs land in the same index (due to Hash-Collision), the LinkedList&lt;E&gt; in that index is automatically converted into a Balanced Binary Search Tree (</a:t>
            </a:r>
            <a:r>
              <a:rPr lang="en-US" sz="1800" b="1" dirty="0"/>
              <a:t>BST</a:t>
            </a:r>
            <a:r>
              <a:rPr lang="en-US" sz="1800" dirty="0"/>
              <a:t>) for faster lookups.</a:t>
            </a:r>
          </a:p>
        </p:txBody>
      </p:sp>
    </p:spTree>
    <p:extLst>
      <p:ext uri="{BB962C8B-B14F-4D97-AF65-F5344CB8AC3E}">
        <p14:creationId xmlns:p14="http://schemas.microsoft.com/office/powerpoint/2010/main" val="1938262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1F5AD17-10C6-CE0F-DA5F-79D8CA41EA6A}"/>
              </a:ext>
            </a:extLst>
          </p:cNvPr>
          <p:cNvSpPr txBox="1">
            <a:spLocks/>
          </p:cNvSpPr>
          <p:nvPr/>
        </p:nvSpPr>
        <p:spPr>
          <a:xfrm>
            <a:off x="0" y="197136"/>
            <a:ext cx="12053109" cy="6463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000" dirty="0"/>
          </a:p>
        </p:txBody>
      </p:sp>
      <p:pic>
        <p:nvPicPr>
          <p:cNvPr id="4" name="Picture 3">
            <a:extLst>
              <a:ext uri="{FF2B5EF4-FFF2-40B4-BE49-F238E27FC236}">
                <a16:creationId xmlns:a16="http://schemas.microsoft.com/office/drawing/2014/main" id="{80DC5501-2186-8D9C-9CC5-5265B19A69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428"/>
            <a:ext cx="12192000" cy="6749143"/>
          </a:xfrm>
          <a:prstGeom prst="rect">
            <a:avLst/>
          </a:prstGeom>
        </p:spPr>
      </p:pic>
    </p:spTree>
    <p:extLst>
      <p:ext uri="{BB962C8B-B14F-4D97-AF65-F5344CB8AC3E}">
        <p14:creationId xmlns:p14="http://schemas.microsoft.com/office/powerpoint/2010/main" val="1205927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1174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808</TotalTime>
  <Words>2630</Words>
  <Application>Microsoft Office PowerPoint</Application>
  <PresentationFormat>Widescreen</PresentationFormat>
  <Paragraphs>212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Vardhan Reddy Veeram</dc:creator>
  <cp:lastModifiedBy>Vishnu Vardhan Reddy Veeram</cp:lastModifiedBy>
  <cp:revision>106</cp:revision>
  <dcterms:created xsi:type="dcterms:W3CDTF">2026-02-02T09:15:04Z</dcterms:created>
  <dcterms:modified xsi:type="dcterms:W3CDTF">2026-02-14T09:52:53Z</dcterms:modified>
</cp:coreProperties>
</file>
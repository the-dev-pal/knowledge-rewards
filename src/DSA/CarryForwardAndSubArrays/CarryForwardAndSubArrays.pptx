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14120-37E6-F162-CE99-B8012DDF47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6D7FD0-3CEA-7BF3-DB4F-2E263C8F0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2EE0A-76F2-1CA0-638D-7D2CA340D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F1CE4-DC6D-4A3E-86DE-77CC11699719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86EE7-0165-33BA-6387-0AA8071B5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EF8FA-9169-DF39-911F-F16577E50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6B628-3739-40CB-8C54-DA4CEFBDB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593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E6F73-8A3B-CB99-6C08-5EC686A32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BB84A-62CF-7A40-24AC-35E6FBDEF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0ECD3-F5F2-9EC8-1B20-A632C6763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F1CE4-DC6D-4A3E-86DE-77CC11699719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82BC9-3FA8-F745-EA4F-1F9E0BED1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F69C1-263A-2A45-611E-D85DEE0C1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6B628-3739-40CB-8C54-DA4CEFBDB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482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580C6-C681-B946-5D69-0437148B6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A6A10-A6DB-925D-F93E-44FAB2698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118DC-1C8E-9FFD-6221-E89A180ED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F1CE4-DC6D-4A3E-86DE-77CC11699719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7E2A4-48E9-1D63-07F5-4EC1A9CF5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D2676-8728-8792-171D-8E48030FF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6B628-3739-40CB-8C54-DA4CEFBDB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903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2FD68-6B02-0A3A-F8AB-AFF80A45E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A4F64-F3BF-082B-C83D-5F30651C58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B6CE82-5316-F0F8-4945-A1CD5D0A5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E2DFE3-AC33-7CEF-9C6D-E02E1CD3D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F1CE4-DC6D-4A3E-86DE-77CC11699719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FA013-5C7C-6836-2B85-C10459A5B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94F0F-D008-2C4C-0CD0-FE31B3A03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6B628-3739-40CB-8C54-DA4CEFBDB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789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74E59-611D-0D1E-AD9F-E295FD2B3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243E1F-B51B-D5B9-FD05-361BDE02D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0D639-F723-3212-B3AC-E8A3FF76D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9A0B6C-4819-8666-28E7-D257BC873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5BF0B9-D39C-33AE-ECDF-7A18784238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7040F-D0E3-9D9E-6BEB-252D70733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F1CE4-DC6D-4A3E-86DE-77CC11699719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C83626-ABAD-C33D-48B8-88982E8EE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D2B188-ACA4-7008-CBF5-34A040CCB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6B628-3739-40CB-8C54-DA4CEFBDB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730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1D56C-3BE8-2450-1C55-A91400B1B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789698-0C86-FFCA-2E62-1B7D0418F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F1CE4-DC6D-4A3E-86DE-77CC11699719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EFFC88-872F-C9A8-BB68-5BDC2BDBD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8F2A0-41A2-194F-A590-40C57FDEC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6B628-3739-40CB-8C54-DA4CEFBDB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290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329823-B612-92DA-B6DB-27915291F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F1CE4-DC6D-4A3E-86DE-77CC11699719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9BA5AA-0719-B923-C9B6-2A6B45DB4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6C3EC-3324-D22B-1D81-5C23B6A7F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6B628-3739-40CB-8C54-DA4CEFBDB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881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8DD35-4CC1-407E-FD57-B954FE285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DC583-2DA9-4B89-F9C3-34206E1BE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016AE7-E8A6-A9C4-D512-6C4171E50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369E5-1375-D26A-41BB-2E67A50B1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F1CE4-DC6D-4A3E-86DE-77CC11699719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9F06E-612E-D254-AAF1-6219215EA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CF996-B4E7-12CD-E027-2394F5A88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6B628-3739-40CB-8C54-DA4CEFBDB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164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655D3-757A-5000-C6DB-1D24C9B5F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029354-62E2-317E-8B0A-8B5B499F1B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1797A3-D46A-3277-0DB1-177074303F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B6D04D-A97F-AC16-76A3-64DDFC454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F1CE4-DC6D-4A3E-86DE-77CC11699719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83F197-44FD-847B-1A92-0B9C5C72B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BA3A2-2F18-56F4-36C9-9FCE383EC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6B628-3739-40CB-8C54-DA4CEFBDB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106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CE5B7-F8A4-E8F6-3802-5D8503BED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234829-7892-B6A9-5E12-17773CA8D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F78A8-AB20-447E-9E0C-68ACBD2AC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F1CE4-DC6D-4A3E-86DE-77CC11699719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C3EDA-869B-3C00-0123-25E2F9C84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71339-954B-B283-5E52-24DE742CA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6B628-3739-40CB-8C54-DA4CEFBDB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752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DFF597-6050-E0BE-09AE-52A219BC4A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08295A-B88A-3C99-223E-558F7A13E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631F3-E585-5559-0BB8-AAEE0DEB6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F1CE4-DC6D-4A3E-86DE-77CC11699719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423C9-E472-E87B-7FD7-7DDD972B1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8934B-BCC7-712E-BFC1-203CD99AE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6B628-3739-40CB-8C54-DA4CEFBDB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199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57C8D-D6F8-A8E1-7081-B9892D3EC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0AD55-DEC2-B550-C9EE-C7598F0A0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FD774-3252-CE19-F92A-C1027F96CF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F1CE4-DC6D-4A3E-86DE-77CC11699719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2529D-F01B-A3BC-B5D5-E30CB1CF8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97BC6-26E5-6408-C606-12ED322ED4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6B628-3739-40CB-8C54-DA4CEFBDB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251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654477-E987-F9E0-E6EB-7C8FABBDC230}"/>
              </a:ext>
            </a:extLst>
          </p:cNvPr>
          <p:cNvSpPr txBox="1"/>
          <p:nvPr/>
        </p:nvSpPr>
        <p:spPr>
          <a:xfrm>
            <a:off x="0" y="655768"/>
            <a:ext cx="12192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Q) </a:t>
            </a:r>
            <a:r>
              <a:rPr lang="en-US" dirty="0"/>
              <a:t>Given a string </a:t>
            </a:r>
            <a:r>
              <a:rPr lang="en-US" b="1" dirty="0"/>
              <a:t>“S”</a:t>
            </a:r>
            <a:r>
              <a:rPr lang="en-US" dirty="0"/>
              <a:t> of lowercase characters, return the count of </a:t>
            </a:r>
            <a:r>
              <a:rPr lang="en-US" b="1" dirty="0"/>
              <a:t>(</a:t>
            </a:r>
            <a:r>
              <a:rPr lang="en-US" b="1" dirty="0" err="1"/>
              <a:t>i</a:t>
            </a:r>
            <a:r>
              <a:rPr lang="en-US" b="1" dirty="0"/>
              <a:t>, j)</a:t>
            </a:r>
            <a:r>
              <a:rPr lang="en-US" dirty="0"/>
              <a:t> such that </a:t>
            </a:r>
            <a:r>
              <a:rPr lang="en-US" b="1" dirty="0" err="1"/>
              <a:t>i</a:t>
            </a:r>
            <a:r>
              <a:rPr lang="en-US" b="1" dirty="0"/>
              <a:t> &lt; j</a:t>
            </a:r>
            <a:r>
              <a:rPr lang="en-US" dirty="0"/>
              <a:t> and </a:t>
            </a:r>
            <a:r>
              <a:rPr lang="en-US" b="1" dirty="0"/>
              <a:t>s[</a:t>
            </a:r>
            <a:r>
              <a:rPr lang="en-US" b="1" dirty="0" err="1"/>
              <a:t>i</a:t>
            </a:r>
            <a:r>
              <a:rPr lang="en-US" b="1" dirty="0"/>
              <a:t>]==‘a’</a:t>
            </a:r>
            <a:r>
              <a:rPr lang="en-US" dirty="0"/>
              <a:t> and </a:t>
            </a:r>
            <a:r>
              <a:rPr lang="en-US" b="1" dirty="0"/>
              <a:t>s[j]==‘g’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Ex: </a:t>
            </a:r>
            <a:r>
              <a:rPr lang="en-US" dirty="0"/>
              <a:t>S</a:t>
            </a:r>
            <a:r>
              <a:rPr lang="en-US" b="1" dirty="0"/>
              <a:t> </a:t>
            </a:r>
            <a:r>
              <a:rPr lang="en-US" dirty="0"/>
              <a:t>= “</a:t>
            </a:r>
            <a:r>
              <a:rPr lang="en-US" dirty="0" err="1"/>
              <a:t>abegag</a:t>
            </a:r>
            <a:r>
              <a:rPr lang="en-US" dirty="0"/>
              <a:t>”.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b="1" dirty="0"/>
              <a:t>	</a:t>
            </a:r>
          </a:p>
          <a:p>
            <a:pPr lvl="1"/>
            <a:r>
              <a:rPr lang="en-US" b="1" dirty="0"/>
              <a:t>Ans: </a:t>
            </a:r>
            <a:r>
              <a:rPr lang="en-US" dirty="0"/>
              <a:t>(0, 3) , (0, 5) , and (4, 5) --- Total Count = 3.</a:t>
            </a:r>
          </a:p>
          <a:p>
            <a:pPr lvl="1"/>
            <a:r>
              <a:rPr lang="en-US" b="1" dirty="0"/>
              <a:t>Brute-Force Approach (Traditional):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T.C – O(N^2)</a:t>
            </a:r>
          </a:p>
          <a:p>
            <a:pPr lvl="1"/>
            <a:r>
              <a:rPr lang="en-US" b="1" dirty="0"/>
              <a:t>S.C – O(1)</a:t>
            </a: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FD634C-2CA0-541E-DC46-4A7A3DEE4124}"/>
              </a:ext>
            </a:extLst>
          </p:cNvPr>
          <p:cNvSpPr txBox="1"/>
          <p:nvPr/>
        </p:nvSpPr>
        <p:spPr>
          <a:xfrm>
            <a:off x="3549926" y="70993"/>
            <a:ext cx="50921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u="sng" dirty="0">
                <a:solidFill>
                  <a:srgbClr val="C00000"/>
                </a:solidFill>
              </a:rPr>
              <a:t>Carry-Forward &amp; Sub-Arrays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A87DB1-704A-E56D-E0CF-82C0D60EB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153979"/>
              </p:ext>
            </p:extLst>
          </p:nvPr>
        </p:nvGraphicFramePr>
        <p:xfrm>
          <a:off x="1787942" y="1310117"/>
          <a:ext cx="4063998" cy="731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71025608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9661495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583144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46634968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44446795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322905348"/>
                    </a:ext>
                  </a:extLst>
                </a:gridCol>
              </a:tblGrid>
              <a:tr h="3657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197736"/>
                  </a:ext>
                </a:extLst>
              </a:tr>
              <a:tr h="3657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018730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5BD7138-FF87-45B1-48DA-272E86D6B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427" y="2445026"/>
            <a:ext cx="5505450" cy="421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795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8D4F41-6586-1C6A-72B1-EA5C8C999F2B}"/>
              </a:ext>
            </a:extLst>
          </p:cNvPr>
          <p:cNvSpPr txBox="1"/>
          <p:nvPr/>
        </p:nvSpPr>
        <p:spPr>
          <a:xfrm>
            <a:off x="0" y="128994"/>
            <a:ext cx="12192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Optimization: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What if we can count number of </a:t>
            </a:r>
            <a:r>
              <a:rPr lang="en-US" b="1" dirty="0"/>
              <a:t>g’s </a:t>
            </a:r>
            <a:r>
              <a:rPr lang="en-US" dirty="0"/>
              <a:t>from back side and increase the count when we encounter </a:t>
            </a:r>
            <a:r>
              <a:rPr lang="en-US" b="1" dirty="0"/>
              <a:t>‘a’.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Here we are carry forwarding </a:t>
            </a:r>
            <a:r>
              <a:rPr lang="en-US" b="1" dirty="0"/>
              <a:t>count of g</a:t>
            </a:r>
            <a:r>
              <a:rPr lang="en-US" dirty="0"/>
              <a:t> from back to front.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Think of forward approach?</a:t>
            </a:r>
          </a:p>
          <a:p>
            <a:pPr lvl="1"/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3A5BF3-140F-2FA2-D5DA-9F461CB5F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0359" y="1676814"/>
            <a:ext cx="6257925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574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6D797B-61AA-0E20-9B29-9FCE081C4581}"/>
              </a:ext>
            </a:extLst>
          </p:cNvPr>
          <p:cNvSpPr txBox="1"/>
          <p:nvPr/>
        </p:nvSpPr>
        <p:spPr>
          <a:xfrm>
            <a:off x="0" y="128994"/>
            <a:ext cx="12192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Sub-Arrays: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dirty="0"/>
              <a:t>Contiguous</a:t>
            </a:r>
            <a:r>
              <a:rPr lang="en-US" dirty="0"/>
              <a:t> part of an array</a:t>
            </a:r>
            <a:r>
              <a:rPr lang="en-US" b="1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dirty="0"/>
              <a:t>Empty Array {} </a:t>
            </a:r>
            <a:r>
              <a:rPr lang="en-US" dirty="0"/>
              <a:t>– is not a subarray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Number of sub-arrays in an array of size </a:t>
            </a:r>
            <a:r>
              <a:rPr lang="en-US" b="1" dirty="0"/>
              <a:t>‘n’ = n*(n+1)/2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n-US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56E5764-918B-D955-95FB-4C3129247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83693"/>
              </p:ext>
            </p:extLst>
          </p:nvPr>
        </p:nvGraphicFramePr>
        <p:xfrm>
          <a:off x="6246189" y="867658"/>
          <a:ext cx="4090506" cy="426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84358">
                  <a:extLst>
                    <a:ext uri="{9D8B030D-6E8A-4147-A177-3AD203B41FA5}">
                      <a16:colId xmlns:a16="http://schemas.microsoft.com/office/drawing/2014/main" val="2282244434"/>
                    </a:ext>
                  </a:extLst>
                </a:gridCol>
                <a:gridCol w="584358">
                  <a:extLst>
                    <a:ext uri="{9D8B030D-6E8A-4147-A177-3AD203B41FA5}">
                      <a16:colId xmlns:a16="http://schemas.microsoft.com/office/drawing/2014/main" val="1372000963"/>
                    </a:ext>
                  </a:extLst>
                </a:gridCol>
                <a:gridCol w="584358">
                  <a:extLst>
                    <a:ext uri="{9D8B030D-6E8A-4147-A177-3AD203B41FA5}">
                      <a16:colId xmlns:a16="http://schemas.microsoft.com/office/drawing/2014/main" val="903063342"/>
                    </a:ext>
                  </a:extLst>
                </a:gridCol>
                <a:gridCol w="584358">
                  <a:extLst>
                    <a:ext uri="{9D8B030D-6E8A-4147-A177-3AD203B41FA5}">
                      <a16:colId xmlns:a16="http://schemas.microsoft.com/office/drawing/2014/main" val="3013882123"/>
                    </a:ext>
                  </a:extLst>
                </a:gridCol>
                <a:gridCol w="584358">
                  <a:extLst>
                    <a:ext uri="{9D8B030D-6E8A-4147-A177-3AD203B41FA5}">
                      <a16:colId xmlns:a16="http://schemas.microsoft.com/office/drawing/2014/main" val="3250580125"/>
                    </a:ext>
                  </a:extLst>
                </a:gridCol>
                <a:gridCol w="584358">
                  <a:extLst>
                    <a:ext uri="{9D8B030D-6E8A-4147-A177-3AD203B41FA5}">
                      <a16:colId xmlns:a16="http://schemas.microsoft.com/office/drawing/2014/main" val="863320773"/>
                    </a:ext>
                  </a:extLst>
                </a:gridCol>
                <a:gridCol w="584358">
                  <a:extLst>
                    <a:ext uri="{9D8B030D-6E8A-4147-A177-3AD203B41FA5}">
                      <a16:colId xmlns:a16="http://schemas.microsoft.com/office/drawing/2014/main" val="3580680011"/>
                    </a:ext>
                  </a:extLst>
                </a:gridCol>
              </a:tblGrid>
              <a:tr h="4264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719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9079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195</Words>
  <Application>Microsoft Office PowerPoint</Application>
  <PresentationFormat>Widescreen</PresentationFormat>
  <Paragraphs>38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 Vardhan Reddy Veeram</dc:creator>
  <cp:lastModifiedBy>Vishnu Vardhan Reddy Veeram</cp:lastModifiedBy>
  <cp:revision>13</cp:revision>
  <dcterms:created xsi:type="dcterms:W3CDTF">2026-02-09T04:28:34Z</dcterms:created>
  <dcterms:modified xsi:type="dcterms:W3CDTF">2026-02-09T05:29:06Z</dcterms:modified>
</cp:coreProperties>
</file>
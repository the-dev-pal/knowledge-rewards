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EF64C-284B-7143-549F-6E426467C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FFDB1-482F-2E1E-56BC-5FCD6EC09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CBC8C-8C0F-7BF8-4DC9-B8FA9E3E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DEA2C-8B6C-B150-3F4B-F2CE0829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435DF-CEC8-34BE-4CA8-53543B10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B500-2B68-FC28-5526-900AB806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B2364-FAA8-16C6-6E67-39C653117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170E0-DB1C-812F-10F2-F64C05DF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C4BF9-4292-23C5-8FA4-7DF6C1AD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12B6-0B57-96A3-1A99-E452C2DA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3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85AB-99D1-07AC-965A-0FA55514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6B1BC-15CA-177F-726E-ABA02F038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60612-A8B0-E4F1-61F6-714821BA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7B368-C489-EDBF-6743-84FAE9602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3366-469F-B489-1D25-94BCDCBE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39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1A70-F36D-DA84-6BC1-AE539AB7A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E1101-44F3-CE9B-9ECF-C7C0CC71D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90378-FB74-CBAD-C5D0-F957BC477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D9C3E-F915-6530-CA90-CEF6C6A5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5E11-407E-93F9-AFF8-F4D71B2E8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C4301-B343-D231-C9C8-EDECA83A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2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284C-594F-11F6-E840-B4F5639F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ECF63-C6E2-57DD-D9B3-13F617F2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3BEAD-9CC4-D60D-6F60-B2A112BC4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DEFA9-9103-4BD3-55CA-AC2A6E07A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54E80-702F-1506-0640-1F16AA732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45648-2636-08C4-3148-00EDFE61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711A8-063B-2761-7620-B34F691A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B66DEA-6CE2-A8C6-706B-3480B0E1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6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38C9-2A56-DBDF-5C0D-58C2921D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2E9C8-27C2-020E-A50D-A178EE54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FD539-8A60-D18C-C3AA-EBCCEC21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C20ED-F116-811C-CC4A-EFAD10B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D71636-CC2B-8B2E-BAF2-B572F7AD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17B34-7E1D-7F92-3A61-E91D3E4D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8FEBF-A507-BC79-E65E-6BD47E79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4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FFFD-9BA8-08F9-C248-A70862BE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51716-3D0A-3CAF-8EEA-BD5730719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3CCA9-772E-0787-2A98-9B520F1FA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326A7-6CFF-B79F-2D58-3EE97593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D68B1-215B-88CC-AD2E-4D47DE5A5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2383A-EAC2-2049-7FF2-5BA413DF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86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8374-C195-0761-0072-257B8A66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8B588-229D-E240-43FA-BB1783193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33679-0D13-4F17-7965-464AEB427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186E2-3203-314A-DDDF-BFFC456A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6C010-8032-8337-F6B4-71D62BAA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19669-25F5-5046-D4AD-04F2EA37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36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695A-81D0-F6B0-2738-9A0F11F15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725D5-3D77-4F20-B044-197C643A7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990B-D492-5F9A-C3A7-57B4CBEAF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ECA1B-3B3C-E495-4EBA-A0B22A30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5956E-6993-2974-4BB9-1D8A5D73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7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D46163-AFAB-CA9B-A294-B5131957D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E22AF-AC94-50A1-05AB-98E7428BE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24463-F7C4-A884-FF55-B7EC2B6D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E58AD-17B1-3C37-1114-97F3016F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57CB-2AB9-B362-897B-05603408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5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41B6B-78DC-55D6-12F6-441D4FFF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D4212-7F45-0D3E-D8F9-69D069371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0CC26-8583-9F92-3363-5F287A2D8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2B47E-F956-4ADB-95DB-7F0DC32B904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22DE-3E27-29B9-2FDA-94BCF959C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49942-F0BC-740A-C8D8-F21B22B83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0F8BF-D8E1-4C3D-9229-591F6069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1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57CB2B-2D9F-B7D6-17ED-3122E801F67E}"/>
              </a:ext>
            </a:extLst>
          </p:cNvPr>
          <p:cNvSpPr txBox="1"/>
          <p:nvPr/>
        </p:nvSpPr>
        <p:spPr>
          <a:xfrm>
            <a:off x="3549926" y="70993"/>
            <a:ext cx="50921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u="sng" dirty="0">
                <a:solidFill>
                  <a:srgbClr val="C00000"/>
                </a:solidFill>
              </a:rPr>
              <a:t>Kafka – Messaging Queue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6212EE-B151-505A-CF80-1C2FCA186D62}"/>
              </a:ext>
            </a:extLst>
          </p:cNvPr>
          <p:cNvSpPr/>
          <p:nvPr/>
        </p:nvSpPr>
        <p:spPr>
          <a:xfrm>
            <a:off x="288235" y="2464904"/>
            <a:ext cx="1977888" cy="1928191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Publisher</a:t>
            </a:r>
            <a:endParaRPr lang="en-IN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85D525-D358-8511-C5EB-76A802898037}"/>
              </a:ext>
            </a:extLst>
          </p:cNvPr>
          <p:cNvSpPr/>
          <p:nvPr/>
        </p:nvSpPr>
        <p:spPr>
          <a:xfrm>
            <a:off x="4544667" y="655768"/>
            <a:ext cx="3102666" cy="56636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44F23A-B5BB-14AF-0D0C-65D4A3A95254}"/>
              </a:ext>
            </a:extLst>
          </p:cNvPr>
          <p:cNvSpPr/>
          <p:nvPr/>
        </p:nvSpPr>
        <p:spPr>
          <a:xfrm>
            <a:off x="9412357" y="3927398"/>
            <a:ext cx="2491408" cy="24837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76C921-FCBC-C305-1A73-1BD26B4674C5}"/>
              </a:ext>
            </a:extLst>
          </p:cNvPr>
          <p:cNvSpPr/>
          <p:nvPr/>
        </p:nvSpPr>
        <p:spPr>
          <a:xfrm>
            <a:off x="9296401" y="655768"/>
            <a:ext cx="2607364" cy="24837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C5C34-FAEF-18B9-C34B-A23D3E868966}"/>
              </a:ext>
            </a:extLst>
          </p:cNvPr>
          <p:cNvSpPr txBox="1"/>
          <p:nvPr/>
        </p:nvSpPr>
        <p:spPr>
          <a:xfrm>
            <a:off x="5339094" y="655768"/>
            <a:ext cx="151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Kafka Broker</a:t>
            </a:r>
            <a:endParaRPr lang="en-IN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E81AE-9879-15F9-06BF-352763BBDC46}"/>
              </a:ext>
            </a:extLst>
          </p:cNvPr>
          <p:cNvSpPr txBox="1"/>
          <p:nvPr/>
        </p:nvSpPr>
        <p:spPr>
          <a:xfrm>
            <a:off x="5641001" y="1234083"/>
            <a:ext cx="909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 1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20407D-EE05-F8CC-F9DB-DF1883720654}"/>
              </a:ext>
            </a:extLst>
          </p:cNvPr>
          <p:cNvSpPr txBox="1"/>
          <p:nvPr/>
        </p:nvSpPr>
        <p:spPr>
          <a:xfrm>
            <a:off x="5641000" y="3905557"/>
            <a:ext cx="909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 2</a:t>
            </a:r>
            <a:endParaRPr lang="en-IN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3311CE-3FAC-24DB-E38A-2165D24E1B0B}"/>
              </a:ext>
            </a:extLst>
          </p:cNvPr>
          <p:cNvSpPr/>
          <p:nvPr/>
        </p:nvSpPr>
        <p:spPr>
          <a:xfrm>
            <a:off x="4626250" y="1560248"/>
            <a:ext cx="2939497" cy="192734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082FA1-786A-35C0-F9DC-0ED08794CDE5}"/>
              </a:ext>
            </a:extLst>
          </p:cNvPr>
          <p:cNvSpPr txBox="1"/>
          <p:nvPr/>
        </p:nvSpPr>
        <p:spPr>
          <a:xfrm>
            <a:off x="9523987" y="655768"/>
            <a:ext cx="2152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Consumer Group 1</a:t>
            </a:r>
            <a:endParaRPr lang="en-IN" b="1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D7CD9-9DFD-6042-549B-CA219EF30737}"/>
              </a:ext>
            </a:extLst>
          </p:cNvPr>
          <p:cNvSpPr txBox="1"/>
          <p:nvPr/>
        </p:nvSpPr>
        <p:spPr>
          <a:xfrm>
            <a:off x="9523987" y="4012046"/>
            <a:ext cx="2152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Consumer Group 2</a:t>
            </a:r>
            <a:endParaRPr lang="en-IN" b="1" u="sng" dirty="0"/>
          </a:p>
        </p:txBody>
      </p:sp>
      <p:sp>
        <p:nvSpPr>
          <p:cNvPr id="19" name="Dodecagon 18">
            <a:extLst>
              <a:ext uri="{FF2B5EF4-FFF2-40B4-BE49-F238E27FC236}">
                <a16:creationId xmlns:a16="http://schemas.microsoft.com/office/drawing/2014/main" id="{44A13626-F539-8982-6BDD-4274F55C7773}"/>
              </a:ext>
            </a:extLst>
          </p:cNvPr>
          <p:cNvSpPr/>
          <p:nvPr/>
        </p:nvSpPr>
        <p:spPr>
          <a:xfrm>
            <a:off x="6871251" y="2358546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Pn</a:t>
            </a:r>
            <a:endParaRPr lang="en-IN" dirty="0"/>
          </a:p>
        </p:txBody>
      </p:sp>
      <p:sp>
        <p:nvSpPr>
          <p:cNvPr id="21" name="Dodecagon 20">
            <a:extLst>
              <a:ext uri="{FF2B5EF4-FFF2-40B4-BE49-F238E27FC236}">
                <a16:creationId xmlns:a16="http://schemas.microsoft.com/office/drawing/2014/main" id="{ED166481-A3B0-AB96-9611-74B029B520AF}"/>
              </a:ext>
            </a:extLst>
          </p:cNvPr>
          <p:cNvSpPr/>
          <p:nvPr/>
        </p:nvSpPr>
        <p:spPr>
          <a:xfrm>
            <a:off x="5441948" y="2357253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P5</a:t>
            </a:r>
            <a:endParaRPr lang="en-IN" dirty="0"/>
          </a:p>
        </p:txBody>
      </p:sp>
      <p:sp>
        <p:nvSpPr>
          <p:cNvPr id="22" name="Dodecagon 21">
            <a:extLst>
              <a:ext uri="{FF2B5EF4-FFF2-40B4-BE49-F238E27FC236}">
                <a16:creationId xmlns:a16="http://schemas.microsoft.com/office/drawing/2014/main" id="{CFF00F5C-85E2-D28C-CEDB-2DC0DDB1FA16}"/>
              </a:ext>
            </a:extLst>
          </p:cNvPr>
          <p:cNvSpPr/>
          <p:nvPr/>
        </p:nvSpPr>
        <p:spPr>
          <a:xfrm>
            <a:off x="4703414" y="2347121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  <a:endParaRPr lang="en-IN" dirty="0"/>
          </a:p>
        </p:txBody>
      </p:sp>
      <p:sp>
        <p:nvSpPr>
          <p:cNvPr id="23" name="Dodecagon 22">
            <a:extLst>
              <a:ext uri="{FF2B5EF4-FFF2-40B4-BE49-F238E27FC236}">
                <a16:creationId xmlns:a16="http://schemas.microsoft.com/office/drawing/2014/main" id="{0C60ED40-29A9-787D-6702-23D3971A9453}"/>
              </a:ext>
            </a:extLst>
          </p:cNvPr>
          <p:cNvSpPr/>
          <p:nvPr/>
        </p:nvSpPr>
        <p:spPr>
          <a:xfrm>
            <a:off x="6550993" y="1792356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  <a:endParaRPr lang="en-IN" dirty="0"/>
          </a:p>
        </p:txBody>
      </p:sp>
      <p:sp>
        <p:nvSpPr>
          <p:cNvPr id="24" name="Dodecagon 23">
            <a:extLst>
              <a:ext uri="{FF2B5EF4-FFF2-40B4-BE49-F238E27FC236}">
                <a16:creationId xmlns:a16="http://schemas.microsoft.com/office/drawing/2014/main" id="{49C918FB-3EAE-2373-BE3E-1A86103E15AC}"/>
              </a:ext>
            </a:extLst>
          </p:cNvPr>
          <p:cNvSpPr/>
          <p:nvPr/>
        </p:nvSpPr>
        <p:spPr>
          <a:xfrm>
            <a:off x="5843794" y="1775791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  <a:endParaRPr lang="en-IN" dirty="0"/>
          </a:p>
        </p:txBody>
      </p:sp>
      <p:sp>
        <p:nvSpPr>
          <p:cNvPr id="25" name="Dodecagon 24">
            <a:extLst>
              <a:ext uri="{FF2B5EF4-FFF2-40B4-BE49-F238E27FC236}">
                <a16:creationId xmlns:a16="http://schemas.microsoft.com/office/drawing/2014/main" id="{8C2BAD84-FF3C-2B99-6042-C60D6EE9B6B6}"/>
              </a:ext>
            </a:extLst>
          </p:cNvPr>
          <p:cNvSpPr/>
          <p:nvPr/>
        </p:nvSpPr>
        <p:spPr>
          <a:xfrm>
            <a:off x="5155923" y="1772478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670591-D2DD-6E0F-4C95-AF56F2142F7A}"/>
              </a:ext>
            </a:extLst>
          </p:cNvPr>
          <p:cNvSpPr txBox="1"/>
          <p:nvPr/>
        </p:nvSpPr>
        <p:spPr>
          <a:xfrm>
            <a:off x="6143334" y="245512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 . . . </a:t>
            </a:r>
            <a:endParaRPr lang="en-IN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557725-3335-E238-1AD9-9875139177FB}"/>
              </a:ext>
            </a:extLst>
          </p:cNvPr>
          <p:cNvSpPr txBox="1"/>
          <p:nvPr/>
        </p:nvSpPr>
        <p:spPr>
          <a:xfrm>
            <a:off x="5495126" y="3068318"/>
            <a:ext cx="1201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Partitions</a:t>
            </a:r>
            <a:endParaRPr lang="en-IN" b="1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3F0A7-E655-6421-EEAB-A516418A424D}"/>
              </a:ext>
            </a:extLst>
          </p:cNvPr>
          <p:cNvSpPr/>
          <p:nvPr/>
        </p:nvSpPr>
        <p:spPr>
          <a:xfrm>
            <a:off x="4626251" y="4233220"/>
            <a:ext cx="2939497" cy="192734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odecagon 28">
            <a:extLst>
              <a:ext uri="{FF2B5EF4-FFF2-40B4-BE49-F238E27FC236}">
                <a16:creationId xmlns:a16="http://schemas.microsoft.com/office/drawing/2014/main" id="{43C14053-A9A8-7856-8557-DBA795966992}"/>
              </a:ext>
            </a:extLst>
          </p:cNvPr>
          <p:cNvSpPr/>
          <p:nvPr/>
        </p:nvSpPr>
        <p:spPr>
          <a:xfrm>
            <a:off x="6871252" y="5031518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Pn</a:t>
            </a:r>
            <a:endParaRPr lang="en-IN" dirty="0"/>
          </a:p>
        </p:txBody>
      </p:sp>
      <p:sp>
        <p:nvSpPr>
          <p:cNvPr id="30" name="Dodecagon 29">
            <a:extLst>
              <a:ext uri="{FF2B5EF4-FFF2-40B4-BE49-F238E27FC236}">
                <a16:creationId xmlns:a16="http://schemas.microsoft.com/office/drawing/2014/main" id="{F7C59155-F3B6-CB1B-6B9E-2A55635CDDB1}"/>
              </a:ext>
            </a:extLst>
          </p:cNvPr>
          <p:cNvSpPr/>
          <p:nvPr/>
        </p:nvSpPr>
        <p:spPr>
          <a:xfrm>
            <a:off x="5441949" y="5030225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P5</a:t>
            </a:r>
            <a:endParaRPr lang="en-IN" dirty="0"/>
          </a:p>
        </p:txBody>
      </p:sp>
      <p:sp>
        <p:nvSpPr>
          <p:cNvPr id="31" name="Dodecagon 30">
            <a:extLst>
              <a:ext uri="{FF2B5EF4-FFF2-40B4-BE49-F238E27FC236}">
                <a16:creationId xmlns:a16="http://schemas.microsoft.com/office/drawing/2014/main" id="{68280457-597C-CFE5-2329-8D60B3DB63B9}"/>
              </a:ext>
            </a:extLst>
          </p:cNvPr>
          <p:cNvSpPr/>
          <p:nvPr/>
        </p:nvSpPr>
        <p:spPr>
          <a:xfrm>
            <a:off x="4703415" y="5020093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  <a:endParaRPr lang="en-IN" dirty="0"/>
          </a:p>
        </p:txBody>
      </p:sp>
      <p:sp>
        <p:nvSpPr>
          <p:cNvPr id="32" name="Dodecagon 31">
            <a:extLst>
              <a:ext uri="{FF2B5EF4-FFF2-40B4-BE49-F238E27FC236}">
                <a16:creationId xmlns:a16="http://schemas.microsoft.com/office/drawing/2014/main" id="{61B7196B-5F4E-4876-8B74-7702A1DF0463}"/>
              </a:ext>
            </a:extLst>
          </p:cNvPr>
          <p:cNvSpPr/>
          <p:nvPr/>
        </p:nvSpPr>
        <p:spPr>
          <a:xfrm>
            <a:off x="6550994" y="4465328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  <a:endParaRPr lang="en-IN" dirty="0"/>
          </a:p>
        </p:txBody>
      </p:sp>
      <p:sp>
        <p:nvSpPr>
          <p:cNvPr id="33" name="Dodecagon 32">
            <a:extLst>
              <a:ext uri="{FF2B5EF4-FFF2-40B4-BE49-F238E27FC236}">
                <a16:creationId xmlns:a16="http://schemas.microsoft.com/office/drawing/2014/main" id="{7262A02B-F2DB-915B-C197-AB51ECFD663F}"/>
              </a:ext>
            </a:extLst>
          </p:cNvPr>
          <p:cNvSpPr/>
          <p:nvPr/>
        </p:nvSpPr>
        <p:spPr>
          <a:xfrm>
            <a:off x="5843795" y="4448763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  <a:endParaRPr lang="en-IN" dirty="0"/>
          </a:p>
        </p:txBody>
      </p:sp>
      <p:sp>
        <p:nvSpPr>
          <p:cNvPr id="34" name="Dodecagon 33">
            <a:extLst>
              <a:ext uri="{FF2B5EF4-FFF2-40B4-BE49-F238E27FC236}">
                <a16:creationId xmlns:a16="http://schemas.microsoft.com/office/drawing/2014/main" id="{8E0B1647-439D-1696-CA49-018105D3223F}"/>
              </a:ext>
            </a:extLst>
          </p:cNvPr>
          <p:cNvSpPr/>
          <p:nvPr/>
        </p:nvSpPr>
        <p:spPr>
          <a:xfrm>
            <a:off x="5155924" y="4445450"/>
            <a:ext cx="606288" cy="496957"/>
          </a:xfrm>
          <a:prstGeom prst="dodec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4D6AEE-09EC-3699-FED0-6D443FA96BD9}"/>
              </a:ext>
            </a:extLst>
          </p:cNvPr>
          <p:cNvSpPr txBox="1"/>
          <p:nvPr/>
        </p:nvSpPr>
        <p:spPr>
          <a:xfrm>
            <a:off x="6143335" y="51281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 . . . </a:t>
            </a:r>
            <a:endParaRPr lang="en-IN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D097C-83BD-A822-0A8B-33F12632502A}"/>
              </a:ext>
            </a:extLst>
          </p:cNvPr>
          <p:cNvSpPr txBox="1"/>
          <p:nvPr/>
        </p:nvSpPr>
        <p:spPr>
          <a:xfrm>
            <a:off x="5495127" y="5741290"/>
            <a:ext cx="1201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Partitions</a:t>
            </a:r>
            <a:endParaRPr lang="en-IN" b="1" dirty="0"/>
          </a:p>
        </p:txBody>
      </p:sp>
      <p:sp>
        <p:nvSpPr>
          <p:cNvPr id="37" name="Flowchart: Terminator 36">
            <a:extLst>
              <a:ext uri="{FF2B5EF4-FFF2-40B4-BE49-F238E27FC236}">
                <a16:creationId xmlns:a16="http://schemas.microsoft.com/office/drawing/2014/main" id="{8493D445-E1C3-9A30-85A5-92E8210797F9}"/>
              </a:ext>
            </a:extLst>
          </p:cNvPr>
          <p:cNvSpPr/>
          <p:nvPr/>
        </p:nvSpPr>
        <p:spPr>
          <a:xfrm>
            <a:off x="9732066" y="2561423"/>
            <a:ext cx="1851990" cy="506895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Consumer N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Flowchart: Terminator 38">
            <a:extLst>
              <a:ext uri="{FF2B5EF4-FFF2-40B4-BE49-F238E27FC236}">
                <a16:creationId xmlns:a16="http://schemas.microsoft.com/office/drawing/2014/main" id="{A5AFF77A-FB8B-085A-01A7-EE807B6A76DC}"/>
              </a:ext>
            </a:extLst>
          </p:cNvPr>
          <p:cNvSpPr/>
          <p:nvPr/>
        </p:nvSpPr>
        <p:spPr>
          <a:xfrm>
            <a:off x="9732066" y="1644190"/>
            <a:ext cx="1851990" cy="506895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Consumer 2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Flowchart: Terminator 39">
            <a:extLst>
              <a:ext uri="{FF2B5EF4-FFF2-40B4-BE49-F238E27FC236}">
                <a16:creationId xmlns:a16="http://schemas.microsoft.com/office/drawing/2014/main" id="{CC09F053-50E1-A68B-F7C1-D8A0DF8CE345}"/>
              </a:ext>
            </a:extLst>
          </p:cNvPr>
          <p:cNvSpPr/>
          <p:nvPr/>
        </p:nvSpPr>
        <p:spPr>
          <a:xfrm>
            <a:off x="9732066" y="1025100"/>
            <a:ext cx="1851990" cy="506895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Consumer 1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Flowchart: Terminator 40">
            <a:extLst>
              <a:ext uri="{FF2B5EF4-FFF2-40B4-BE49-F238E27FC236}">
                <a16:creationId xmlns:a16="http://schemas.microsoft.com/office/drawing/2014/main" id="{3E93EFFC-CEA3-D7CA-6F57-34E13F7A3DA2}"/>
              </a:ext>
            </a:extLst>
          </p:cNvPr>
          <p:cNvSpPr/>
          <p:nvPr/>
        </p:nvSpPr>
        <p:spPr>
          <a:xfrm>
            <a:off x="9732066" y="5853909"/>
            <a:ext cx="1851990" cy="506895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Consumer N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Flowchart: Terminator 41">
            <a:extLst>
              <a:ext uri="{FF2B5EF4-FFF2-40B4-BE49-F238E27FC236}">
                <a16:creationId xmlns:a16="http://schemas.microsoft.com/office/drawing/2014/main" id="{153D4C6D-3602-6D44-C1F5-F2E8CC4892C0}"/>
              </a:ext>
            </a:extLst>
          </p:cNvPr>
          <p:cNvSpPr/>
          <p:nvPr/>
        </p:nvSpPr>
        <p:spPr>
          <a:xfrm>
            <a:off x="9732066" y="4956554"/>
            <a:ext cx="1851990" cy="506895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Consumer 2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Flowchart: Terminator 42">
            <a:extLst>
              <a:ext uri="{FF2B5EF4-FFF2-40B4-BE49-F238E27FC236}">
                <a16:creationId xmlns:a16="http://schemas.microsoft.com/office/drawing/2014/main" id="{0477C033-E2EA-E832-D6D1-59A6E27EC02A}"/>
              </a:ext>
            </a:extLst>
          </p:cNvPr>
          <p:cNvSpPr/>
          <p:nvPr/>
        </p:nvSpPr>
        <p:spPr>
          <a:xfrm>
            <a:off x="9732066" y="4337464"/>
            <a:ext cx="1851990" cy="506895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Consumer 1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BE571E6-4745-8C4A-A83C-AF4E166B6780}"/>
              </a:ext>
            </a:extLst>
          </p:cNvPr>
          <p:cNvCxnSpPr>
            <a:cxnSpLocks/>
            <a:stCxn id="4" idx="3"/>
            <a:endCxn id="14" idx="2"/>
          </p:cNvCxnSpPr>
          <p:nvPr/>
        </p:nvCxnSpPr>
        <p:spPr>
          <a:xfrm flipV="1">
            <a:off x="2266123" y="2523920"/>
            <a:ext cx="2360127" cy="90508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93C76B7-F5ED-ACC5-5555-A1330601A10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266123" y="3185322"/>
            <a:ext cx="2773569" cy="2436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B2B3A2C-8412-85A4-94E8-1B6392712185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2266123" y="3429000"/>
            <a:ext cx="2790607" cy="108647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C889129-0427-4285-57B8-EC672D71C040}"/>
              </a:ext>
            </a:extLst>
          </p:cNvPr>
          <p:cNvCxnSpPr>
            <a:cxnSpLocks/>
            <a:stCxn id="4" idx="3"/>
            <a:endCxn id="28" idx="2"/>
          </p:cNvCxnSpPr>
          <p:nvPr/>
        </p:nvCxnSpPr>
        <p:spPr>
          <a:xfrm>
            <a:off x="2266123" y="3429000"/>
            <a:ext cx="2360128" cy="176789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9559D6C-765D-45CA-2397-FB4873ED6F55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2266123" y="1842501"/>
            <a:ext cx="2790606" cy="158649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4F6D610-5DF1-06A1-F9B9-543B8A923732}"/>
              </a:ext>
            </a:extLst>
          </p:cNvPr>
          <p:cNvCxnSpPr>
            <a:cxnSpLocks/>
            <a:stCxn id="40" idx="1"/>
            <a:endCxn id="23" idx="0"/>
          </p:cNvCxnSpPr>
          <p:nvPr/>
        </p:nvCxnSpPr>
        <p:spPr>
          <a:xfrm flipH="1">
            <a:off x="7076050" y="1278548"/>
            <a:ext cx="2656016" cy="58039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09A035D-6221-0DC2-78E1-1C97EC2D6D47}"/>
              </a:ext>
            </a:extLst>
          </p:cNvPr>
          <p:cNvCxnSpPr>
            <a:cxnSpLocks/>
            <a:stCxn id="39" idx="1"/>
            <a:endCxn id="21" idx="2"/>
          </p:cNvCxnSpPr>
          <p:nvPr/>
        </p:nvCxnSpPr>
        <p:spPr>
          <a:xfrm flipH="1">
            <a:off x="6048236" y="1897638"/>
            <a:ext cx="3683830" cy="77467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34B870F-5F06-684B-899E-C7D5A85299E6}"/>
              </a:ext>
            </a:extLst>
          </p:cNvPr>
          <p:cNvCxnSpPr>
            <a:cxnSpLocks/>
            <a:stCxn id="37" idx="1"/>
            <a:endCxn id="23" idx="2"/>
          </p:cNvCxnSpPr>
          <p:nvPr/>
        </p:nvCxnSpPr>
        <p:spPr>
          <a:xfrm flipH="1" flipV="1">
            <a:off x="7157281" y="2107418"/>
            <a:ext cx="2574785" cy="70745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Flowchart: Summing Junction 101">
            <a:extLst>
              <a:ext uri="{FF2B5EF4-FFF2-40B4-BE49-F238E27FC236}">
                <a16:creationId xmlns:a16="http://schemas.microsoft.com/office/drawing/2014/main" id="{C50CEB76-9DB6-948B-7FB0-EFBB2B7B0332}"/>
              </a:ext>
            </a:extLst>
          </p:cNvPr>
          <p:cNvSpPr/>
          <p:nvPr/>
        </p:nvSpPr>
        <p:spPr>
          <a:xfrm>
            <a:off x="8384720" y="2339844"/>
            <a:ext cx="290250" cy="272363"/>
          </a:xfrm>
          <a:prstGeom prst="flowChartSummingJunction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16232EB-B031-1F72-770C-E50F8D7FDD51}"/>
              </a:ext>
            </a:extLst>
          </p:cNvPr>
          <p:cNvCxnSpPr>
            <a:cxnSpLocks/>
            <a:stCxn id="43" idx="1"/>
            <a:endCxn id="32" idx="2"/>
          </p:cNvCxnSpPr>
          <p:nvPr/>
        </p:nvCxnSpPr>
        <p:spPr>
          <a:xfrm flipH="1">
            <a:off x="7157282" y="4590912"/>
            <a:ext cx="2574784" cy="1894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465056F-AD9C-572D-BE24-54391D95153C}"/>
              </a:ext>
            </a:extLst>
          </p:cNvPr>
          <p:cNvCxnSpPr>
            <a:cxnSpLocks/>
            <a:stCxn id="43" idx="1"/>
            <a:endCxn id="21" idx="3"/>
          </p:cNvCxnSpPr>
          <p:nvPr/>
        </p:nvCxnSpPr>
        <p:spPr>
          <a:xfrm flipH="1" flipV="1">
            <a:off x="5967005" y="2787627"/>
            <a:ext cx="3765061" cy="180328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D52D678-9E0A-DD33-4C14-58A11D9C49EB}"/>
              </a:ext>
            </a:extLst>
          </p:cNvPr>
          <p:cNvCxnSpPr>
            <a:cxnSpLocks/>
            <a:stCxn id="42" idx="1"/>
            <a:endCxn id="33" idx="3"/>
          </p:cNvCxnSpPr>
          <p:nvPr/>
        </p:nvCxnSpPr>
        <p:spPr>
          <a:xfrm flipH="1" flipV="1">
            <a:off x="6368852" y="4879137"/>
            <a:ext cx="3363214" cy="33086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362E466-6AF8-C715-70BD-6EF0D2472FA5}"/>
              </a:ext>
            </a:extLst>
          </p:cNvPr>
          <p:cNvCxnSpPr>
            <a:cxnSpLocks/>
            <a:stCxn id="41" idx="1"/>
            <a:endCxn id="32" idx="2"/>
          </p:cNvCxnSpPr>
          <p:nvPr/>
        </p:nvCxnSpPr>
        <p:spPr>
          <a:xfrm flipH="1" flipV="1">
            <a:off x="7157282" y="4780390"/>
            <a:ext cx="2574784" cy="132696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Flowchart: Summing Junction 114">
            <a:extLst>
              <a:ext uri="{FF2B5EF4-FFF2-40B4-BE49-F238E27FC236}">
                <a16:creationId xmlns:a16="http://schemas.microsoft.com/office/drawing/2014/main" id="{DE3BB96F-5162-4A0E-B136-4DCCD8BFE0A7}"/>
              </a:ext>
            </a:extLst>
          </p:cNvPr>
          <p:cNvSpPr/>
          <p:nvPr/>
        </p:nvSpPr>
        <p:spPr>
          <a:xfrm>
            <a:off x="8381446" y="5384638"/>
            <a:ext cx="290250" cy="272363"/>
          </a:xfrm>
          <a:prstGeom prst="flowChartSummingJunction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59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913701-DC51-8219-8714-FE9D3BDF9F83}"/>
              </a:ext>
            </a:extLst>
          </p:cNvPr>
          <p:cNvSpPr txBox="1"/>
          <p:nvPr/>
        </p:nvSpPr>
        <p:spPr>
          <a:xfrm>
            <a:off x="0" y="168751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Kafka Broker: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Kafka Topic: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Producer: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Which publishes the data to Kafka Topic(can have as many partitions as needed).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Can choose partition wither by Round-Robin approach or key configuration.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Need not to know which consumer will read the data.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Consumer: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The Factory design pattern provides an interface for creating objects in a superclass, but allows subclasses to alter the type of objects that will be created.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Consumer Group: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The Abstract Factory pattern provides an interface for creating families of related or dependent objects without specifying their concrete classes.</a:t>
            </a:r>
            <a:endParaRPr lang="en-US" b="1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Abstract Factory pattern encapsulates the creation logic for entire families of related objects.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42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511368-BD46-49BC-14CA-9CA1F5CF99C0}"/>
              </a:ext>
            </a:extLst>
          </p:cNvPr>
          <p:cNvSpPr/>
          <p:nvPr/>
        </p:nvSpPr>
        <p:spPr>
          <a:xfrm>
            <a:off x="718931" y="1003853"/>
            <a:ext cx="10754138" cy="566530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99017E-6593-A1C2-9C47-10CCAA04891E}"/>
              </a:ext>
            </a:extLst>
          </p:cNvPr>
          <p:cNvSpPr/>
          <p:nvPr/>
        </p:nvSpPr>
        <p:spPr>
          <a:xfrm>
            <a:off x="884583" y="1649896"/>
            <a:ext cx="3399182" cy="484035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9908F2-7C7D-0D30-2742-47162B88C888}"/>
              </a:ext>
            </a:extLst>
          </p:cNvPr>
          <p:cNvSpPr/>
          <p:nvPr/>
        </p:nvSpPr>
        <p:spPr>
          <a:xfrm>
            <a:off x="7908235" y="1649896"/>
            <a:ext cx="3399182" cy="484035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E7D161-8043-359E-33B8-A0A2BA7072D9}"/>
              </a:ext>
            </a:extLst>
          </p:cNvPr>
          <p:cNvSpPr/>
          <p:nvPr/>
        </p:nvSpPr>
        <p:spPr>
          <a:xfrm>
            <a:off x="4396409" y="1649896"/>
            <a:ext cx="3399182" cy="484035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B445307-BCA3-D29A-65CA-CF211B23A1E0}"/>
              </a:ext>
            </a:extLst>
          </p:cNvPr>
          <p:cNvSpPr txBox="1"/>
          <p:nvPr/>
        </p:nvSpPr>
        <p:spPr>
          <a:xfrm>
            <a:off x="4742103" y="525191"/>
            <a:ext cx="2707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Kafka Cluster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31381-913E-9FF7-6225-8B786C2EAECA}"/>
              </a:ext>
            </a:extLst>
          </p:cNvPr>
          <p:cNvSpPr txBox="1"/>
          <p:nvPr/>
        </p:nvSpPr>
        <p:spPr>
          <a:xfrm>
            <a:off x="1489579" y="1188231"/>
            <a:ext cx="2189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Kafka Broker 0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8B5FE-24EE-71D9-1E8E-F64EB1DA25F7}"/>
              </a:ext>
            </a:extLst>
          </p:cNvPr>
          <p:cNvSpPr txBox="1"/>
          <p:nvPr/>
        </p:nvSpPr>
        <p:spPr>
          <a:xfrm>
            <a:off x="5001404" y="1188231"/>
            <a:ext cx="2189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Kafka Broker 1</a:t>
            </a:r>
            <a:endParaRPr lang="en-IN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A2731E-5793-921E-7999-ACE688B0569F}"/>
              </a:ext>
            </a:extLst>
          </p:cNvPr>
          <p:cNvSpPr txBox="1"/>
          <p:nvPr/>
        </p:nvSpPr>
        <p:spPr>
          <a:xfrm>
            <a:off x="8513229" y="1188231"/>
            <a:ext cx="2189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Kafka Broker 2</a:t>
            </a:r>
            <a:endParaRPr lang="en-IN" sz="2400" b="1" dirty="0"/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ADCB388C-D75B-D4F9-64F1-1205A1791455}"/>
              </a:ext>
            </a:extLst>
          </p:cNvPr>
          <p:cNvSpPr/>
          <p:nvPr/>
        </p:nvSpPr>
        <p:spPr>
          <a:xfrm>
            <a:off x="1048578" y="2295939"/>
            <a:ext cx="3071191" cy="3896139"/>
          </a:xfrm>
          <a:prstGeom prst="flowChartTerminator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932FBE36-F114-031F-69CB-3B033E7968BD}"/>
              </a:ext>
            </a:extLst>
          </p:cNvPr>
          <p:cNvSpPr/>
          <p:nvPr/>
        </p:nvSpPr>
        <p:spPr>
          <a:xfrm>
            <a:off x="4560403" y="2295939"/>
            <a:ext cx="3071191" cy="3896139"/>
          </a:xfrm>
          <a:prstGeom prst="flowChartTerminator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FFC13CB4-801D-245D-4275-7EF741ED646C}"/>
              </a:ext>
            </a:extLst>
          </p:cNvPr>
          <p:cNvSpPr/>
          <p:nvPr/>
        </p:nvSpPr>
        <p:spPr>
          <a:xfrm>
            <a:off x="8072231" y="2295939"/>
            <a:ext cx="3071191" cy="3896139"/>
          </a:xfrm>
          <a:prstGeom prst="flowChartTerminator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2AC08-B2BB-47F3-3CF4-A24D53E29B73}"/>
              </a:ext>
            </a:extLst>
          </p:cNvPr>
          <p:cNvSpPr txBox="1"/>
          <p:nvPr/>
        </p:nvSpPr>
        <p:spPr>
          <a:xfrm>
            <a:off x="1826850" y="1928503"/>
            <a:ext cx="1514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Kafka Topic</a:t>
            </a:r>
            <a:endParaRPr lang="en-IN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A38A3-428A-BE9E-85BE-B39A932DBACA}"/>
              </a:ext>
            </a:extLst>
          </p:cNvPr>
          <p:cNvSpPr txBox="1"/>
          <p:nvPr/>
        </p:nvSpPr>
        <p:spPr>
          <a:xfrm>
            <a:off x="5338675" y="1928503"/>
            <a:ext cx="1514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Kafka Topic</a:t>
            </a:r>
            <a:endParaRPr lang="en-IN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A6A7D-21BA-D71C-A773-68EE2C93383F}"/>
              </a:ext>
            </a:extLst>
          </p:cNvPr>
          <p:cNvSpPr txBox="1"/>
          <p:nvPr/>
        </p:nvSpPr>
        <p:spPr>
          <a:xfrm>
            <a:off x="8850501" y="1928503"/>
            <a:ext cx="1514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Kafka Topic</a:t>
            </a:r>
            <a:endParaRPr lang="en-IN" sz="2000" b="1" dirty="0"/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C5AED105-F494-FF24-A677-C535DE8976F3}"/>
              </a:ext>
            </a:extLst>
          </p:cNvPr>
          <p:cNvSpPr/>
          <p:nvPr/>
        </p:nvSpPr>
        <p:spPr>
          <a:xfrm>
            <a:off x="1575350" y="2686421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P1 (</a:t>
            </a:r>
            <a:r>
              <a:rPr lang="en-US" b="1" dirty="0">
                <a:solidFill>
                  <a:srgbClr val="FFC000"/>
                </a:solidFill>
              </a:rPr>
              <a:t>Leader</a:t>
            </a:r>
            <a:r>
              <a:rPr lang="en-US" b="1" dirty="0">
                <a:solidFill>
                  <a:schemeClr val="tx1"/>
                </a:solidFill>
              </a:rPr>
              <a:t>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6" name="Heptagon 15">
            <a:extLst>
              <a:ext uri="{FF2B5EF4-FFF2-40B4-BE49-F238E27FC236}">
                <a16:creationId xmlns:a16="http://schemas.microsoft.com/office/drawing/2014/main" id="{75A4EBCF-6BFF-8730-17FB-274268B54219}"/>
              </a:ext>
            </a:extLst>
          </p:cNvPr>
          <p:cNvSpPr/>
          <p:nvPr/>
        </p:nvSpPr>
        <p:spPr>
          <a:xfrm>
            <a:off x="1575350" y="3453318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P2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7" name="Heptagon 16">
            <a:extLst>
              <a:ext uri="{FF2B5EF4-FFF2-40B4-BE49-F238E27FC236}">
                <a16:creationId xmlns:a16="http://schemas.microsoft.com/office/drawing/2014/main" id="{EB8C3A74-73D2-8186-2975-C1784F4E92AA}"/>
              </a:ext>
            </a:extLst>
          </p:cNvPr>
          <p:cNvSpPr/>
          <p:nvPr/>
        </p:nvSpPr>
        <p:spPr>
          <a:xfrm>
            <a:off x="1575350" y="4220215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P3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Heptagon 17">
            <a:extLst>
              <a:ext uri="{FF2B5EF4-FFF2-40B4-BE49-F238E27FC236}">
                <a16:creationId xmlns:a16="http://schemas.microsoft.com/office/drawing/2014/main" id="{7FF5F2CA-347B-F2C5-C534-91A5108AB939}"/>
              </a:ext>
            </a:extLst>
          </p:cNvPr>
          <p:cNvSpPr/>
          <p:nvPr/>
        </p:nvSpPr>
        <p:spPr>
          <a:xfrm>
            <a:off x="1575350" y="5476461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D61A21-710F-94FF-B025-CB6F86909B78}"/>
              </a:ext>
            </a:extLst>
          </p:cNvPr>
          <p:cNvSpPr txBox="1"/>
          <p:nvPr/>
        </p:nvSpPr>
        <p:spPr>
          <a:xfrm>
            <a:off x="2457373" y="4612767"/>
            <a:ext cx="253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20" name="Heptagon 19">
            <a:extLst>
              <a:ext uri="{FF2B5EF4-FFF2-40B4-BE49-F238E27FC236}">
                <a16:creationId xmlns:a16="http://schemas.microsoft.com/office/drawing/2014/main" id="{89BA0519-9A1E-AFAE-A3A3-C29C9B3512C2}"/>
              </a:ext>
            </a:extLst>
          </p:cNvPr>
          <p:cNvSpPr/>
          <p:nvPr/>
        </p:nvSpPr>
        <p:spPr>
          <a:xfrm>
            <a:off x="5087178" y="2686421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1" name="Heptagon 20">
            <a:extLst>
              <a:ext uri="{FF2B5EF4-FFF2-40B4-BE49-F238E27FC236}">
                <a16:creationId xmlns:a16="http://schemas.microsoft.com/office/drawing/2014/main" id="{0809E929-F544-422F-3477-798ACFDA0128}"/>
              </a:ext>
            </a:extLst>
          </p:cNvPr>
          <p:cNvSpPr/>
          <p:nvPr/>
        </p:nvSpPr>
        <p:spPr>
          <a:xfrm>
            <a:off x="5087178" y="3453318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P2 (</a:t>
            </a:r>
            <a:r>
              <a:rPr lang="en-US" b="1" dirty="0">
                <a:solidFill>
                  <a:srgbClr val="FFFF00"/>
                </a:solidFill>
              </a:rPr>
              <a:t>Follower</a:t>
            </a:r>
            <a:r>
              <a:rPr lang="en-US" b="1" dirty="0">
                <a:solidFill>
                  <a:schemeClr val="tx1"/>
                </a:solidFill>
              </a:rPr>
              <a:t>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2" name="Heptagon 21">
            <a:extLst>
              <a:ext uri="{FF2B5EF4-FFF2-40B4-BE49-F238E27FC236}">
                <a16:creationId xmlns:a16="http://schemas.microsoft.com/office/drawing/2014/main" id="{65BEF336-9C90-31FA-541F-6494A9E5B895}"/>
              </a:ext>
            </a:extLst>
          </p:cNvPr>
          <p:cNvSpPr/>
          <p:nvPr/>
        </p:nvSpPr>
        <p:spPr>
          <a:xfrm>
            <a:off x="5087178" y="4220215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P3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3" name="Heptagon 22">
            <a:extLst>
              <a:ext uri="{FF2B5EF4-FFF2-40B4-BE49-F238E27FC236}">
                <a16:creationId xmlns:a16="http://schemas.microsoft.com/office/drawing/2014/main" id="{21A2E3E2-DFA3-1CA6-1B55-530245EFE34D}"/>
              </a:ext>
            </a:extLst>
          </p:cNvPr>
          <p:cNvSpPr/>
          <p:nvPr/>
        </p:nvSpPr>
        <p:spPr>
          <a:xfrm>
            <a:off x="5087178" y="5476461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DD1DE0-D425-A723-38C5-F47E865DD2F1}"/>
              </a:ext>
            </a:extLst>
          </p:cNvPr>
          <p:cNvSpPr txBox="1"/>
          <p:nvPr/>
        </p:nvSpPr>
        <p:spPr>
          <a:xfrm>
            <a:off x="5969201" y="4612767"/>
            <a:ext cx="253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25" name="Heptagon 24">
            <a:extLst>
              <a:ext uri="{FF2B5EF4-FFF2-40B4-BE49-F238E27FC236}">
                <a16:creationId xmlns:a16="http://schemas.microsoft.com/office/drawing/2014/main" id="{7D4C4F2B-AC57-3698-1DB8-E416CB8ED482}"/>
              </a:ext>
            </a:extLst>
          </p:cNvPr>
          <p:cNvSpPr/>
          <p:nvPr/>
        </p:nvSpPr>
        <p:spPr>
          <a:xfrm>
            <a:off x="8599007" y="2686421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6" name="Heptagon 25">
            <a:extLst>
              <a:ext uri="{FF2B5EF4-FFF2-40B4-BE49-F238E27FC236}">
                <a16:creationId xmlns:a16="http://schemas.microsoft.com/office/drawing/2014/main" id="{8C149D04-C7BE-A7FB-AFED-3A4574EDE011}"/>
              </a:ext>
            </a:extLst>
          </p:cNvPr>
          <p:cNvSpPr/>
          <p:nvPr/>
        </p:nvSpPr>
        <p:spPr>
          <a:xfrm>
            <a:off x="8599007" y="3453318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P2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7" name="Heptagon 26">
            <a:extLst>
              <a:ext uri="{FF2B5EF4-FFF2-40B4-BE49-F238E27FC236}">
                <a16:creationId xmlns:a16="http://schemas.microsoft.com/office/drawing/2014/main" id="{74B00A98-86B6-5A92-8063-48866C33AAF9}"/>
              </a:ext>
            </a:extLst>
          </p:cNvPr>
          <p:cNvSpPr/>
          <p:nvPr/>
        </p:nvSpPr>
        <p:spPr>
          <a:xfrm>
            <a:off x="8599007" y="4220215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P3 (</a:t>
            </a:r>
            <a:r>
              <a:rPr lang="en-US" b="1" dirty="0">
                <a:solidFill>
                  <a:srgbClr val="FFFF00"/>
                </a:solidFill>
              </a:rPr>
              <a:t>Follower</a:t>
            </a:r>
            <a:r>
              <a:rPr lang="en-US" b="1" dirty="0">
                <a:solidFill>
                  <a:schemeClr val="tx1"/>
                </a:solidFill>
              </a:rPr>
              <a:t>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8" name="Heptagon 27">
            <a:extLst>
              <a:ext uri="{FF2B5EF4-FFF2-40B4-BE49-F238E27FC236}">
                <a16:creationId xmlns:a16="http://schemas.microsoft.com/office/drawing/2014/main" id="{5164377E-FE49-B591-B2F6-09703B2E6A82}"/>
              </a:ext>
            </a:extLst>
          </p:cNvPr>
          <p:cNvSpPr/>
          <p:nvPr/>
        </p:nvSpPr>
        <p:spPr>
          <a:xfrm>
            <a:off x="8599007" y="5476461"/>
            <a:ext cx="2017643" cy="576470"/>
          </a:xfrm>
          <a:prstGeom prst="hep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C7681A-7C33-C25C-0B5F-0558BD0824DE}"/>
              </a:ext>
            </a:extLst>
          </p:cNvPr>
          <p:cNvSpPr txBox="1"/>
          <p:nvPr/>
        </p:nvSpPr>
        <p:spPr>
          <a:xfrm>
            <a:off x="9481030" y="4612767"/>
            <a:ext cx="253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214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89256c7-9946-44df-b379-51beb93fd2d9}" enabled="1" method="Privilege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8920</TotalTime>
  <Words>212</Words>
  <Application>Microsoft Office PowerPoint</Application>
  <PresentationFormat>Widescreen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VARDHAN REDDY, VEERAM VISHNU</dc:creator>
  <cp:lastModifiedBy>Vishnu Vardhan Reddy Veeram</cp:lastModifiedBy>
  <cp:revision>52</cp:revision>
  <dcterms:created xsi:type="dcterms:W3CDTF">2026-01-14T12:15:00Z</dcterms:created>
  <dcterms:modified xsi:type="dcterms:W3CDTF">2026-02-06T16:59:47Z</dcterms:modified>
</cp:coreProperties>
</file>
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EF64C-284B-7143-549F-6E426467C1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FFDB1-482F-2E1E-56BC-5FCD6EC092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CBC8C-8C0F-7BF8-4DC9-B8FA9E3E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DEA2C-8B6C-B150-3F4B-F2CE0829D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435DF-CEC8-34BE-4CA8-53543B106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704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5B500-2B68-FC28-5526-900AB806F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B2364-FAA8-16C6-6E67-39C653117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170E0-DB1C-812F-10F2-F64C05DF2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C4BF9-4292-23C5-8FA4-7DF6C1AD6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912B6-0B57-96A3-1A99-E452C2DA5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839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85AB-99D1-07AC-965A-0FA555146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96B1BC-15CA-177F-726E-ABA02F038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560612-A8B0-E4F1-61F6-714821BA6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07B368-C489-EDBF-6743-84FAE9602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7C3366-469F-B489-1D25-94BCDCBE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39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A1A70-F36D-DA84-6BC1-AE539AB7A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E1101-44F3-CE9B-9ECF-C7C0CC71DB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A90378-FB74-CBAD-C5D0-F957BC47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CD9C3E-F915-6530-CA90-CEF6C6A52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5E11-407E-93F9-AFF8-F4D71B2E8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C4301-B343-D231-C9C8-EDECA83A5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42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F284C-594F-11F6-E840-B4F5639FF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CECF63-C6E2-57DD-D9B3-13F617F24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43BEAD-9CC4-D60D-6F60-B2A112BC4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0DEFA9-9103-4BD3-55CA-AC2A6E07AC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E54E80-702F-1506-0640-1F16AA732D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E45648-2636-08C4-3148-00EDFE613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F711A8-063B-2761-7620-B34F691AB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B66DEA-6CE2-A8C6-706B-3480B0E1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260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A38C9-2A56-DBDF-5C0D-58C2921D6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82E9C8-27C2-020E-A50D-A178EE54B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BFD539-8A60-D18C-C3AA-EBCCEC21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20ED-F116-811C-CC4A-EFAD10BD0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7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D71636-CC2B-8B2E-BAF2-B572F7AD2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717B34-7E1D-7F92-3A61-E91D3E4D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8FEBF-A507-BC79-E65E-6BD47E79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24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9FFFD-9BA8-08F9-C248-A70862BE5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51716-3D0A-3CAF-8EEA-BD573071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3CCA9-772E-0787-2A98-9B520F1FA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26A7-6CFF-B79F-2D58-3EE975931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D68B1-215B-88CC-AD2E-4D47DE5A5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C2383A-EAC2-2049-7FF2-5BA413DFC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086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98374-C195-0761-0072-257B8A667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78B588-229D-E240-43FA-BB17831939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33679-0D13-4F17-7965-464AEB4271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D186E2-3203-314A-DDDF-BFFC456A5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C6C010-8032-8337-F6B4-71D62BAA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919669-25F5-5046-D4AD-04F2EA37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036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F695A-81D0-F6B0-2738-9A0F11F15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B725D5-3D77-4F20-B044-197C643A78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3990B-D492-5F9A-C3A7-57B4CBEAF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ECA1B-3B3C-E495-4EBA-A0B22A306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5956E-6993-2974-4BB9-1D8A5D73B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776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D46163-AFAB-CA9B-A294-B5131957D2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9E22AF-AC94-50A1-05AB-98E7428BE3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524463-F7C4-A884-FF55-B7EC2B6D4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E58AD-17B1-3C37-1114-97F3016FF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D57CB-2AB9-B362-897B-05603408D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759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041B6B-78DC-55D6-12F6-441D4FFFE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D4212-7F45-0D3E-D8F9-69D069371D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0CC26-8583-9F92-3363-5F287A2D89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02B47E-F956-4ADB-95DB-7F0DC32B904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422DE-3E27-29B9-2FDA-94BCF959C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49942-F0BC-740A-C8D8-F21B22B83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10F8BF-D8E1-4C3D-9229-591F6069F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718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B933C-E6BB-2390-0335-99BCFA888381}"/>
              </a:ext>
            </a:extLst>
          </p:cNvPr>
          <p:cNvSpPr txBox="1"/>
          <p:nvPr/>
        </p:nvSpPr>
        <p:spPr>
          <a:xfrm>
            <a:off x="0" y="715403"/>
            <a:ext cx="121920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/>
              <a:t>Creational Patterns:</a:t>
            </a:r>
          </a:p>
          <a:p>
            <a:pPr marL="91440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Provides object creation mechanisms that increase flexibility and reuse of existing code.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US" sz="2000" b="1" dirty="0"/>
              <a:t>Factory Pattern:</a:t>
            </a:r>
          </a:p>
          <a:p>
            <a:pPr marL="1371600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Provides an interface for creating objects in a superclass but allows subclasses to alter the type of objects that will be created.</a:t>
            </a:r>
          </a:p>
          <a:p>
            <a:pPr marL="1371600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Solves problem of creating objects without specifying their concreate classes.</a:t>
            </a:r>
          </a:p>
          <a:p>
            <a:pPr marL="1371600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Defines a method, which should be used for creating objects instead of using a direct constructor call (new operator). Subclasses can override this method to change the class of objects that will be created.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US" sz="2000" b="1" dirty="0"/>
              <a:t>Abstract Factory Pattern:</a:t>
            </a:r>
          </a:p>
          <a:p>
            <a:pPr marL="1371600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Provides an interface for creating families of related or dependent objects without specifying their concrete classes. 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US" sz="2000" b="1" dirty="0"/>
              <a:t>Builder Pattern:</a:t>
            </a:r>
          </a:p>
          <a:p>
            <a:pPr marL="1371600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This lets you construct complex objects step by step. The pattern allows you to produce different types and representations of an object using the same construction code.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US" sz="2000" b="1" dirty="0"/>
              <a:t>Singleton Pattern:</a:t>
            </a:r>
          </a:p>
          <a:p>
            <a:pPr marL="1371600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This</a:t>
            </a:r>
            <a:r>
              <a:rPr lang="en-US" dirty="0"/>
              <a:t> </a:t>
            </a:r>
            <a:r>
              <a:rPr lang="en-US" sz="2000" dirty="0"/>
              <a:t>lets you ensure that a class has only one instance, while providing a global access point to this instance.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753480-7C74-6C17-248C-845C5FA1618C}"/>
              </a:ext>
            </a:extLst>
          </p:cNvPr>
          <p:cNvSpPr txBox="1"/>
          <p:nvPr/>
        </p:nvSpPr>
        <p:spPr>
          <a:xfrm>
            <a:off x="3810000" y="130628"/>
            <a:ext cx="457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rgbClr val="C00000"/>
                </a:solidFill>
              </a:rPr>
              <a:t>DESIGN PATTERNS</a:t>
            </a:r>
          </a:p>
        </p:txBody>
      </p:sp>
    </p:spTree>
    <p:extLst>
      <p:ext uri="{BB962C8B-B14F-4D97-AF65-F5344CB8AC3E}">
        <p14:creationId xmlns:p14="http://schemas.microsoft.com/office/powerpoint/2010/main" val="1079471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ACF65-34E1-A9E6-2C48-C13E331AF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89A36E-E263-2A85-2E9B-94C848B4DC90}"/>
              </a:ext>
            </a:extLst>
          </p:cNvPr>
          <p:cNvSpPr txBox="1"/>
          <p:nvPr/>
        </p:nvSpPr>
        <p:spPr>
          <a:xfrm>
            <a:off x="0" y="0"/>
            <a:ext cx="12192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71600" lvl="2" indent="-457200">
              <a:buFont typeface="Wingdings" panose="05000000000000000000" pitchFamily="2" charset="2"/>
              <a:buChar char="ü"/>
            </a:pPr>
            <a:endParaRPr lang="en-US" sz="2000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/>
              <a:t>Structural Patterns: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sz="2000" dirty="0"/>
              <a:t>explains how to assemble objects and classes into larger structures, while keeping these structures flexible and efficient.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Adapter Pattern:</a:t>
            </a:r>
            <a:endParaRPr lang="en-US" sz="2000" dirty="0"/>
          </a:p>
          <a:p>
            <a:pPr marL="1257300" lvl="2" indent="-342900">
              <a:buFont typeface="Wingdings" panose="05000000000000000000" pitchFamily="2" charset="2"/>
              <a:buChar char="ü"/>
            </a:pPr>
            <a:r>
              <a:rPr lang="en-US" sz="2000" dirty="0"/>
              <a:t>Allows objects with incompatible interfaces to collaborate.</a:t>
            </a:r>
            <a:endParaRPr lang="en-US" sz="2000" b="1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/>
              <a:t>Behavioral Patterns:</a:t>
            </a:r>
          </a:p>
          <a:p>
            <a:pPr marL="91440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takes care of effective communication and the assignment of responsibilities between objects.</a:t>
            </a:r>
          </a:p>
          <a:p>
            <a:pPr marL="914400" lvl="1" indent="-457200">
              <a:buFont typeface="Wingdings" panose="05000000000000000000" pitchFamily="2" charset="2"/>
              <a:buChar char="ü"/>
            </a:pP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71592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89256c7-9946-44df-b379-51beb93fd2d9}" enabled="1" method="Privilege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6638</TotalTime>
  <Words>220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VARDHAN REDDY, VEERAM VISHNU</dc:creator>
  <cp:lastModifiedBy>VARDHAN REDDY, VEERAM VISHNU</cp:lastModifiedBy>
  <cp:revision>3</cp:revision>
  <dcterms:created xsi:type="dcterms:W3CDTF">2026-01-14T12:15:00Z</dcterms:created>
  <dcterms:modified xsi:type="dcterms:W3CDTF">2026-01-19T02:53:13Z</dcterms:modified>
</cp:coreProperties>
</file>
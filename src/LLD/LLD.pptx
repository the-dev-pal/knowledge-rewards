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56" r:id="rId4"/>
    <p:sldId id="260" r:id="rId5"/>
    <p:sldId id="257"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CEF64C-284B-7143-549F-6E426467C1D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58FFDB1-482F-2E1E-56BC-5FCD6EC092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7CBC8C-8C0F-7BF8-4DC9-B8FA9E3E4E84}"/>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5" name="Footer Placeholder 4">
            <a:extLst>
              <a:ext uri="{FF2B5EF4-FFF2-40B4-BE49-F238E27FC236}">
                <a16:creationId xmlns:a16="http://schemas.microsoft.com/office/drawing/2014/main" id="{6F7DEA2C-8B6C-B150-3F4B-F2CE0829DF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A435DF-CEC8-34BE-4CA8-53543B10637B}"/>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1644704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5B500-2B68-FC28-5526-900AB806FA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BB2364-FAA8-16C6-6E67-39C653117B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7170E0-DB1C-812F-10F2-F64C05DF2BA6}"/>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5" name="Footer Placeholder 4">
            <a:extLst>
              <a:ext uri="{FF2B5EF4-FFF2-40B4-BE49-F238E27FC236}">
                <a16:creationId xmlns:a16="http://schemas.microsoft.com/office/drawing/2014/main" id="{CE6C4BF9-4292-23C5-8FA4-7DF6C1AD6E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D912B6-0B57-96A3-1A99-E452C2DA596C}"/>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23998396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9C85AB-99D1-07AC-965A-0FA5551462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996B1BC-15CA-177F-726E-ABA02F03844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6560612-A8B0-E4F1-61F6-714821BA6EF0}"/>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5" name="Footer Placeholder 4">
            <a:extLst>
              <a:ext uri="{FF2B5EF4-FFF2-40B4-BE49-F238E27FC236}">
                <a16:creationId xmlns:a16="http://schemas.microsoft.com/office/drawing/2014/main" id="{BD07B368-C489-EDBF-6743-84FAE9602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57C3366-469F-B489-1D25-94BCDCBE26AA}"/>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3783339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A1A70-F36D-DA84-6BC1-AE539AB7A8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CE1101-44F3-CE9B-9ECF-C7C0CC71DB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FA90378-FB74-CBAD-C5D0-F957BC4771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CD9C3E-F915-6530-CA90-CEF6C6A527A0}"/>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6" name="Footer Placeholder 5">
            <a:extLst>
              <a:ext uri="{FF2B5EF4-FFF2-40B4-BE49-F238E27FC236}">
                <a16:creationId xmlns:a16="http://schemas.microsoft.com/office/drawing/2014/main" id="{D5FC5E11-407E-93F9-AFF8-F4D71B2E89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0C4301-B343-D231-C9C8-EDECA83A589F}"/>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2190427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F284C-594F-11F6-E840-B4F5639FFC9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4CECF63-C6E2-57DD-D9B3-13F617F24A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43BEAD-9CC4-D60D-6F60-B2A112BC490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0DEFA9-9103-4BD3-55CA-AC2A6E07AC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FE54E80-702F-1506-0640-1F16AA732D1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5E45648-2636-08C4-3148-00EDFE613049}"/>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8" name="Footer Placeholder 7">
            <a:extLst>
              <a:ext uri="{FF2B5EF4-FFF2-40B4-BE49-F238E27FC236}">
                <a16:creationId xmlns:a16="http://schemas.microsoft.com/office/drawing/2014/main" id="{ABF711A8-063B-2761-7620-B34F691AB3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B66DEA-6CE2-A8C6-706B-3480B0E1A044}"/>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4290260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A38C9-2A56-DBDF-5C0D-58C2921D6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682E9C8-27C2-020E-A50D-A178EE54B5B7}"/>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4" name="Footer Placeholder 3">
            <a:extLst>
              <a:ext uri="{FF2B5EF4-FFF2-40B4-BE49-F238E27FC236}">
                <a16:creationId xmlns:a16="http://schemas.microsoft.com/office/drawing/2014/main" id="{B7BFD539-8A60-D18C-C3AA-EBCCEC215E3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4BC20ED-F116-811C-CC4A-EFAD10BD070D}"/>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17687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D71636-CC2B-8B2E-BAF2-B572F7AD2BFE}"/>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3" name="Footer Placeholder 2">
            <a:extLst>
              <a:ext uri="{FF2B5EF4-FFF2-40B4-BE49-F238E27FC236}">
                <a16:creationId xmlns:a16="http://schemas.microsoft.com/office/drawing/2014/main" id="{29717B34-7E1D-7F92-3A61-E91D3E4DE65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788FEBF-A507-BC79-E65E-6BD47E797E51}"/>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658245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9FFFD-9BA8-08F9-C248-A70862BE53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CF51716-3D0A-3CAF-8EEA-BD57307195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F43CCA9-772E-0787-2A98-9B520F1FA0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C326A7-6CFF-B79F-2D58-3EE975931FEC}"/>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6" name="Footer Placeholder 5">
            <a:extLst>
              <a:ext uri="{FF2B5EF4-FFF2-40B4-BE49-F238E27FC236}">
                <a16:creationId xmlns:a16="http://schemas.microsoft.com/office/drawing/2014/main" id="{750D68B1-215B-88CC-AD2E-4D47DE5A52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C2383A-EAC2-2049-7FF2-5BA413DFC56B}"/>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1472086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98374-C195-0761-0072-257B8A667C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B78B588-229D-E240-43FA-BB17831939A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733679-0D13-4F17-7965-464AEB427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D186E2-3203-314A-DDDF-BFFC456A50A7}"/>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6" name="Footer Placeholder 5">
            <a:extLst>
              <a:ext uri="{FF2B5EF4-FFF2-40B4-BE49-F238E27FC236}">
                <a16:creationId xmlns:a16="http://schemas.microsoft.com/office/drawing/2014/main" id="{42C6C010-8032-8337-F6B4-71D62BAA05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919669-25F5-5046-D4AD-04F2EA37D6A6}"/>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3862036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F695A-81D0-F6B0-2738-9A0F11F156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B725D5-3D77-4F20-B044-197C643A78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E3990B-D492-5F9A-C3A7-57B4CBEAFF8C}"/>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5" name="Footer Placeholder 4">
            <a:extLst>
              <a:ext uri="{FF2B5EF4-FFF2-40B4-BE49-F238E27FC236}">
                <a16:creationId xmlns:a16="http://schemas.microsoft.com/office/drawing/2014/main" id="{7EDECA1B-3B3C-E495-4EBA-A0B22A3060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45956E-6993-2974-4BB9-1D8A5D73B343}"/>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37727760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D46163-AFAB-CA9B-A294-B5131957D24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99E22AF-AC94-50A1-05AB-98E7428BE3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524463-F7C4-A884-FF55-B7EC2B6D4057}"/>
              </a:ext>
            </a:extLst>
          </p:cNvPr>
          <p:cNvSpPr>
            <a:spLocks noGrp="1"/>
          </p:cNvSpPr>
          <p:nvPr>
            <p:ph type="dt" sz="half" idx="10"/>
          </p:nvPr>
        </p:nvSpPr>
        <p:spPr/>
        <p:txBody>
          <a:bodyPr/>
          <a:lstStyle/>
          <a:p>
            <a:fld id="{FA02B47E-F956-4ADB-95DB-7F0DC32B9046}" type="datetimeFigureOut">
              <a:rPr lang="en-US" smtClean="0"/>
              <a:t>2/3/2026</a:t>
            </a:fld>
            <a:endParaRPr lang="en-US"/>
          </a:p>
        </p:txBody>
      </p:sp>
      <p:sp>
        <p:nvSpPr>
          <p:cNvPr id="5" name="Footer Placeholder 4">
            <a:extLst>
              <a:ext uri="{FF2B5EF4-FFF2-40B4-BE49-F238E27FC236}">
                <a16:creationId xmlns:a16="http://schemas.microsoft.com/office/drawing/2014/main" id="{9E6E58AD-17B1-3C37-1114-97F3016FFC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ED57CB-2AB9-B362-897B-05603408D631}"/>
              </a:ext>
            </a:extLst>
          </p:cNvPr>
          <p:cNvSpPr>
            <a:spLocks noGrp="1"/>
          </p:cNvSpPr>
          <p:nvPr>
            <p:ph type="sldNum" sz="quarter" idx="12"/>
          </p:nvPr>
        </p:nvSpPr>
        <p:spPr/>
        <p:txBody>
          <a:bodyPr/>
          <a:lstStyle/>
          <a:p>
            <a:fld id="{EA10F8BF-D8E1-4C3D-9229-591F6069F618}" type="slidenum">
              <a:rPr lang="en-US" smtClean="0"/>
              <a:t>‹#›</a:t>
            </a:fld>
            <a:endParaRPr lang="en-US"/>
          </a:p>
        </p:txBody>
      </p:sp>
    </p:spTree>
    <p:extLst>
      <p:ext uri="{BB962C8B-B14F-4D97-AF65-F5344CB8AC3E}">
        <p14:creationId xmlns:p14="http://schemas.microsoft.com/office/powerpoint/2010/main" val="1090759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041B6B-78DC-55D6-12F6-441D4FFFE83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4D4212-7F45-0D3E-D8F9-69D069371D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A0CC26-8583-9F92-3363-5F287A2D89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02B47E-F956-4ADB-95DB-7F0DC32B9046}" type="datetimeFigureOut">
              <a:rPr lang="en-US" smtClean="0"/>
              <a:t>2/3/2026</a:t>
            </a:fld>
            <a:endParaRPr lang="en-US"/>
          </a:p>
        </p:txBody>
      </p:sp>
      <p:sp>
        <p:nvSpPr>
          <p:cNvPr id="5" name="Footer Placeholder 4">
            <a:extLst>
              <a:ext uri="{FF2B5EF4-FFF2-40B4-BE49-F238E27FC236}">
                <a16:creationId xmlns:a16="http://schemas.microsoft.com/office/drawing/2014/main" id="{099422DE-3E27-29B9-2FDA-94BCF959C4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549942-F0BC-740A-C8D8-F21B22B832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10F8BF-D8E1-4C3D-9229-591F6069F618}" type="slidenum">
              <a:rPr lang="en-US" smtClean="0"/>
              <a:t>‹#›</a:t>
            </a:fld>
            <a:endParaRPr lang="en-US"/>
          </a:p>
        </p:txBody>
      </p:sp>
    </p:spTree>
    <p:extLst>
      <p:ext uri="{BB962C8B-B14F-4D97-AF65-F5344CB8AC3E}">
        <p14:creationId xmlns:p14="http://schemas.microsoft.com/office/powerpoint/2010/main" val="1890718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DF66D3F-1681-9996-C468-9B35D370E528}"/>
              </a:ext>
            </a:extLst>
          </p:cNvPr>
          <p:cNvSpPr txBox="1"/>
          <p:nvPr/>
        </p:nvSpPr>
        <p:spPr>
          <a:xfrm>
            <a:off x="0" y="715403"/>
            <a:ext cx="12192000" cy="5663089"/>
          </a:xfrm>
          <a:prstGeom prst="rect">
            <a:avLst/>
          </a:prstGeom>
          <a:noFill/>
        </p:spPr>
        <p:txBody>
          <a:bodyPr wrap="square" rtlCol="0">
            <a:spAutoFit/>
          </a:bodyPr>
          <a:lstStyle/>
          <a:p>
            <a:pPr marL="342900" indent="-342900">
              <a:buFont typeface="Wingdings" panose="05000000000000000000" pitchFamily="2" charset="2"/>
              <a:buChar char="Ø"/>
            </a:pPr>
            <a:r>
              <a:rPr lang="en-US" dirty="0"/>
              <a:t>SOLID principles are nothing but set of guidelines that helps to build superior software systems.</a:t>
            </a:r>
            <a:endParaRPr lang="en-US" b="1" dirty="0"/>
          </a:p>
          <a:p>
            <a:pPr marL="342900" indent="-342900">
              <a:buFont typeface="Wingdings" panose="05000000000000000000" pitchFamily="2" charset="2"/>
              <a:buChar char="q"/>
            </a:pPr>
            <a:r>
              <a:rPr lang="en-US" b="1" dirty="0"/>
              <a:t>S  :</a:t>
            </a:r>
            <a:r>
              <a:rPr lang="en-US" dirty="0"/>
              <a:t> Single Responsibility</a:t>
            </a:r>
          </a:p>
          <a:p>
            <a:pPr marL="342900" indent="-342900">
              <a:buFont typeface="Wingdings" panose="05000000000000000000" pitchFamily="2" charset="2"/>
              <a:buChar char="q"/>
            </a:pPr>
            <a:r>
              <a:rPr lang="en-US" b="1" dirty="0"/>
              <a:t>O :</a:t>
            </a:r>
            <a:r>
              <a:rPr lang="en-US" dirty="0"/>
              <a:t> Open-Closed</a:t>
            </a:r>
          </a:p>
          <a:p>
            <a:pPr marL="342900" indent="-342900">
              <a:buFont typeface="Wingdings" panose="05000000000000000000" pitchFamily="2" charset="2"/>
              <a:buChar char="q"/>
            </a:pPr>
            <a:r>
              <a:rPr lang="en-US" b="1" dirty="0"/>
              <a:t>L  : </a:t>
            </a:r>
            <a:r>
              <a:rPr lang="en-US" dirty="0"/>
              <a:t>Liskov Substitution</a:t>
            </a:r>
          </a:p>
          <a:p>
            <a:pPr marL="342900" indent="-342900">
              <a:buFont typeface="Wingdings" panose="05000000000000000000" pitchFamily="2" charset="2"/>
              <a:buChar char="q"/>
            </a:pPr>
            <a:r>
              <a:rPr lang="en-US" b="1" dirty="0"/>
              <a:t>I   : </a:t>
            </a:r>
            <a:r>
              <a:rPr lang="en-US" dirty="0"/>
              <a:t>Interface Segregation</a:t>
            </a:r>
          </a:p>
          <a:p>
            <a:pPr marL="342900" indent="-342900">
              <a:buFont typeface="Wingdings" panose="05000000000000000000" pitchFamily="2" charset="2"/>
              <a:buChar char="q"/>
            </a:pPr>
            <a:r>
              <a:rPr lang="en-US" b="1" dirty="0"/>
              <a:t>D : </a:t>
            </a:r>
            <a:r>
              <a:rPr lang="en-US" dirty="0"/>
              <a:t>Dependency Inversion</a:t>
            </a:r>
          </a:p>
          <a:p>
            <a:endParaRPr lang="en-US" b="1" dirty="0"/>
          </a:p>
          <a:p>
            <a:pPr marL="342900" indent="-342900">
              <a:buFont typeface="Wingdings" panose="05000000000000000000" pitchFamily="2" charset="2"/>
              <a:buChar char="v"/>
            </a:pPr>
            <a:r>
              <a:rPr lang="en-US" b="1" dirty="0"/>
              <a:t>Single Responsibility Principle:</a:t>
            </a:r>
          </a:p>
          <a:p>
            <a:pPr marL="342900" indent="-342900">
              <a:buFont typeface="Wingdings" panose="05000000000000000000" pitchFamily="2" charset="2"/>
              <a:buChar char="ü"/>
            </a:pPr>
            <a:r>
              <a:rPr lang="en-US" dirty="0"/>
              <a:t>Every code unit (package or class or method) should have single responsibility to perform business operations independently.</a:t>
            </a:r>
          </a:p>
          <a:p>
            <a:pPr marL="342900" indent="-342900">
              <a:buFont typeface="Wingdings" panose="05000000000000000000" pitchFamily="2" charset="2"/>
              <a:buChar char="v"/>
            </a:pPr>
            <a:r>
              <a:rPr lang="en-US" b="1" dirty="0"/>
              <a:t>Open-Closed Principle:</a:t>
            </a:r>
          </a:p>
          <a:p>
            <a:pPr marL="342900" indent="-342900">
              <a:buFont typeface="Wingdings" panose="05000000000000000000" pitchFamily="2" charset="2"/>
              <a:buChar char="ü"/>
            </a:pPr>
            <a:r>
              <a:rPr lang="en-US" dirty="0"/>
              <a:t>Code base should be open for extension and closed for modification (Minimal modification is allowed).</a:t>
            </a:r>
          </a:p>
          <a:p>
            <a:pPr marL="342900" indent="-342900">
              <a:buFont typeface="Wingdings" panose="05000000000000000000" pitchFamily="2" charset="2"/>
              <a:buChar char="v"/>
            </a:pPr>
            <a:r>
              <a:rPr lang="en-US" b="1" dirty="0"/>
              <a:t>Liskov Substitution Principle:</a:t>
            </a:r>
          </a:p>
          <a:p>
            <a:pPr marL="342900" indent="-342900">
              <a:buFont typeface="Wingdings" panose="05000000000000000000" pitchFamily="2" charset="2"/>
              <a:buChar char="ü"/>
            </a:pPr>
            <a:r>
              <a:rPr lang="en-US" dirty="0"/>
              <a:t>Object of any child class should be as it is substitutable in a variable of parent class without making any changes.</a:t>
            </a:r>
          </a:p>
          <a:p>
            <a:pPr marL="342900" indent="-342900">
              <a:buFont typeface="Wingdings" panose="05000000000000000000" pitchFamily="2" charset="2"/>
              <a:buChar char="v"/>
            </a:pPr>
            <a:r>
              <a:rPr lang="en-US" b="1" dirty="0"/>
              <a:t>Interface Segregation:</a:t>
            </a:r>
          </a:p>
          <a:p>
            <a:pPr marL="342900" indent="-342900">
              <a:buFont typeface="Wingdings" panose="05000000000000000000" pitchFamily="2" charset="2"/>
              <a:buChar char="ü"/>
            </a:pPr>
            <a:r>
              <a:rPr lang="en-US" dirty="0"/>
              <a:t>All the interfaces should be as light as possible &amp; ideally one interface should have only one method.</a:t>
            </a:r>
          </a:p>
          <a:p>
            <a:pPr marL="285750" indent="-285750">
              <a:buFont typeface="Wingdings" panose="05000000000000000000" pitchFamily="2" charset="2"/>
              <a:buChar char="v"/>
            </a:pPr>
            <a:r>
              <a:rPr lang="en-US" b="1" dirty="0"/>
              <a:t>Dependency Inversion:</a:t>
            </a:r>
          </a:p>
          <a:p>
            <a:pPr marL="285750" indent="-285750">
              <a:buFont typeface="Wingdings" panose="05000000000000000000" pitchFamily="2" charset="2"/>
              <a:buChar char="ü"/>
            </a:pPr>
            <a:r>
              <a:rPr lang="en-US" dirty="0"/>
              <a:t>No 2 concrete classes should depend on each other directly; they should depend through an interface in-order to maintain loose coupling.</a:t>
            </a:r>
            <a:endParaRPr lang="en-US" sz="2000" b="1" dirty="0"/>
          </a:p>
          <a:p>
            <a:pPr marL="342900" indent="-342900">
              <a:buFont typeface="Wingdings" panose="05000000000000000000" pitchFamily="2" charset="2"/>
              <a:buChar char="ü"/>
            </a:pPr>
            <a:endParaRPr lang="en-US" sz="2000" b="1" dirty="0"/>
          </a:p>
        </p:txBody>
      </p:sp>
      <p:sp>
        <p:nvSpPr>
          <p:cNvPr id="3" name="TextBox 2">
            <a:extLst>
              <a:ext uri="{FF2B5EF4-FFF2-40B4-BE49-F238E27FC236}">
                <a16:creationId xmlns:a16="http://schemas.microsoft.com/office/drawing/2014/main" id="{6E35BDE0-AE57-09A0-AEDC-E1E8178094E1}"/>
              </a:ext>
            </a:extLst>
          </p:cNvPr>
          <p:cNvSpPr txBox="1"/>
          <p:nvPr/>
        </p:nvSpPr>
        <p:spPr>
          <a:xfrm>
            <a:off x="3810000" y="130628"/>
            <a:ext cx="4572000" cy="584775"/>
          </a:xfrm>
          <a:prstGeom prst="rect">
            <a:avLst/>
          </a:prstGeom>
          <a:noFill/>
        </p:spPr>
        <p:txBody>
          <a:bodyPr wrap="square" rtlCol="0">
            <a:spAutoFit/>
          </a:bodyPr>
          <a:lstStyle/>
          <a:p>
            <a:pPr algn="ctr"/>
            <a:r>
              <a:rPr lang="en-US" sz="3200" b="1" i="1" u="sng" dirty="0">
                <a:solidFill>
                  <a:srgbClr val="C00000"/>
                </a:solidFill>
              </a:rPr>
              <a:t>SOLID Principles</a:t>
            </a:r>
          </a:p>
        </p:txBody>
      </p:sp>
    </p:spTree>
    <p:extLst>
      <p:ext uri="{BB962C8B-B14F-4D97-AF65-F5344CB8AC3E}">
        <p14:creationId xmlns:p14="http://schemas.microsoft.com/office/powerpoint/2010/main" val="1562228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9DA512E-353C-9EB7-0F11-23BAEC0C0CBB}"/>
              </a:ext>
            </a:extLst>
          </p:cNvPr>
          <p:cNvSpPr txBox="1"/>
          <p:nvPr/>
        </p:nvSpPr>
        <p:spPr>
          <a:xfrm>
            <a:off x="0" y="715403"/>
            <a:ext cx="12192000" cy="400110"/>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t>Software design patterns are well established solutions for most common problems.</a:t>
            </a:r>
          </a:p>
        </p:txBody>
      </p:sp>
      <p:sp>
        <p:nvSpPr>
          <p:cNvPr id="3" name="TextBox 2">
            <a:extLst>
              <a:ext uri="{FF2B5EF4-FFF2-40B4-BE49-F238E27FC236}">
                <a16:creationId xmlns:a16="http://schemas.microsoft.com/office/drawing/2014/main" id="{F157CB2B-2D9F-B7D6-17ED-3122E801F67E}"/>
              </a:ext>
            </a:extLst>
          </p:cNvPr>
          <p:cNvSpPr txBox="1"/>
          <p:nvPr/>
        </p:nvSpPr>
        <p:spPr>
          <a:xfrm>
            <a:off x="3810000" y="130628"/>
            <a:ext cx="4572000" cy="584775"/>
          </a:xfrm>
          <a:prstGeom prst="rect">
            <a:avLst/>
          </a:prstGeom>
          <a:noFill/>
        </p:spPr>
        <p:txBody>
          <a:bodyPr wrap="square" rtlCol="0">
            <a:spAutoFit/>
          </a:bodyPr>
          <a:lstStyle/>
          <a:p>
            <a:pPr algn="ctr"/>
            <a:r>
              <a:rPr lang="en-US" sz="3200" b="1" i="1" u="sng" dirty="0">
                <a:solidFill>
                  <a:srgbClr val="C00000"/>
                </a:solidFill>
              </a:rPr>
              <a:t>DESIGN PATTERNS</a:t>
            </a:r>
          </a:p>
        </p:txBody>
      </p:sp>
      <p:graphicFrame>
        <p:nvGraphicFramePr>
          <p:cNvPr id="7" name="Table 6">
            <a:extLst>
              <a:ext uri="{FF2B5EF4-FFF2-40B4-BE49-F238E27FC236}">
                <a16:creationId xmlns:a16="http://schemas.microsoft.com/office/drawing/2014/main" id="{E182D40D-F036-068D-EB8D-73493CF98317}"/>
              </a:ext>
            </a:extLst>
          </p:cNvPr>
          <p:cNvGraphicFramePr>
            <a:graphicFrameLocks noGrp="1"/>
          </p:cNvGraphicFramePr>
          <p:nvPr>
            <p:extLst>
              <p:ext uri="{D42A27DB-BD31-4B8C-83A1-F6EECF244321}">
                <p14:modId xmlns:p14="http://schemas.microsoft.com/office/powerpoint/2010/main" val="3244498323"/>
              </p:ext>
            </p:extLst>
          </p:nvPr>
        </p:nvGraphicFramePr>
        <p:xfrm>
          <a:off x="718930" y="1445220"/>
          <a:ext cx="3091069" cy="2492514"/>
        </p:xfrm>
        <a:graphic>
          <a:graphicData uri="http://schemas.openxmlformats.org/drawingml/2006/table">
            <a:tbl>
              <a:tblPr firstRow="1" bandRow="1">
                <a:tableStyleId>{5C22544A-7EE6-4342-B048-85BDC9FD1C3A}</a:tableStyleId>
              </a:tblPr>
              <a:tblGrid>
                <a:gridCol w="3091069">
                  <a:extLst>
                    <a:ext uri="{9D8B030D-6E8A-4147-A177-3AD203B41FA5}">
                      <a16:colId xmlns:a16="http://schemas.microsoft.com/office/drawing/2014/main" val="2785945186"/>
                    </a:ext>
                  </a:extLst>
                </a:gridCol>
              </a:tblGrid>
              <a:tr h="415419">
                <a:tc>
                  <a:txBody>
                    <a:bodyPr/>
                    <a:lstStyle/>
                    <a:p>
                      <a:r>
                        <a:rPr lang="en-US" dirty="0"/>
                        <a:t>Creational Design Patterns</a:t>
                      </a:r>
                      <a:endParaRPr lang="en-IN" dirty="0"/>
                    </a:p>
                  </a:txBody>
                  <a:tcPr>
                    <a:solidFill>
                      <a:schemeClr val="tx1"/>
                    </a:solidFill>
                  </a:tcPr>
                </a:tc>
                <a:extLst>
                  <a:ext uri="{0D108BD9-81ED-4DB2-BD59-A6C34878D82A}">
                    <a16:rowId xmlns:a16="http://schemas.microsoft.com/office/drawing/2014/main" val="2506605555"/>
                  </a:ext>
                </a:extLst>
              </a:tr>
              <a:tr h="415419">
                <a:tc>
                  <a:txBody>
                    <a:bodyPr/>
                    <a:lstStyle/>
                    <a:p>
                      <a:pPr algn="ctr"/>
                      <a:r>
                        <a:rPr lang="en-US" dirty="0"/>
                        <a:t>Singleton</a:t>
                      </a:r>
                    </a:p>
                  </a:txBody>
                  <a:tcPr/>
                </a:tc>
                <a:extLst>
                  <a:ext uri="{0D108BD9-81ED-4DB2-BD59-A6C34878D82A}">
                    <a16:rowId xmlns:a16="http://schemas.microsoft.com/office/drawing/2014/main" val="2380927851"/>
                  </a:ext>
                </a:extLst>
              </a:tr>
              <a:tr h="415419">
                <a:tc>
                  <a:txBody>
                    <a:bodyPr/>
                    <a:lstStyle/>
                    <a:p>
                      <a:pPr algn="ctr"/>
                      <a:r>
                        <a:rPr lang="en-US" dirty="0"/>
                        <a:t>Factory</a:t>
                      </a:r>
                    </a:p>
                  </a:txBody>
                  <a:tcPr/>
                </a:tc>
                <a:extLst>
                  <a:ext uri="{0D108BD9-81ED-4DB2-BD59-A6C34878D82A}">
                    <a16:rowId xmlns:a16="http://schemas.microsoft.com/office/drawing/2014/main" val="3194275739"/>
                  </a:ext>
                </a:extLst>
              </a:tr>
              <a:tr h="415419">
                <a:tc>
                  <a:txBody>
                    <a:bodyPr/>
                    <a:lstStyle/>
                    <a:p>
                      <a:pPr algn="ctr"/>
                      <a:r>
                        <a:rPr lang="en-US" dirty="0"/>
                        <a:t>Abstract Factory</a:t>
                      </a:r>
                    </a:p>
                  </a:txBody>
                  <a:tcPr/>
                </a:tc>
                <a:extLst>
                  <a:ext uri="{0D108BD9-81ED-4DB2-BD59-A6C34878D82A}">
                    <a16:rowId xmlns:a16="http://schemas.microsoft.com/office/drawing/2014/main" val="2229815819"/>
                  </a:ext>
                </a:extLst>
              </a:tr>
              <a:tr h="415419">
                <a:tc>
                  <a:txBody>
                    <a:bodyPr/>
                    <a:lstStyle/>
                    <a:p>
                      <a:pPr algn="ctr"/>
                      <a:r>
                        <a:rPr lang="en-US" dirty="0"/>
                        <a:t>Builder</a:t>
                      </a:r>
                    </a:p>
                  </a:txBody>
                  <a:tcPr/>
                </a:tc>
                <a:extLst>
                  <a:ext uri="{0D108BD9-81ED-4DB2-BD59-A6C34878D82A}">
                    <a16:rowId xmlns:a16="http://schemas.microsoft.com/office/drawing/2014/main" val="786053373"/>
                  </a:ext>
                </a:extLst>
              </a:tr>
              <a:tr h="415419">
                <a:tc>
                  <a:txBody>
                    <a:bodyPr/>
                    <a:lstStyle/>
                    <a:p>
                      <a:pPr algn="ctr"/>
                      <a:r>
                        <a:rPr lang="en-US" dirty="0"/>
                        <a:t>Prototype</a:t>
                      </a:r>
                    </a:p>
                  </a:txBody>
                  <a:tcPr/>
                </a:tc>
                <a:extLst>
                  <a:ext uri="{0D108BD9-81ED-4DB2-BD59-A6C34878D82A}">
                    <a16:rowId xmlns:a16="http://schemas.microsoft.com/office/drawing/2014/main" val="1211598287"/>
                  </a:ext>
                </a:extLst>
              </a:tr>
            </a:tbl>
          </a:graphicData>
        </a:graphic>
      </p:graphicFrame>
      <p:graphicFrame>
        <p:nvGraphicFramePr>
          <p:cNvPr id="8" name="Table 7">
            <a:extLst>
              <a:ext uri="{FF2B5EF4-FFF2-40B4-BE49-F238E27FC236}">
                <a16:creationId xmlns:a16="http://schemas.microsoft.com/office/drawing/2014/main" id="{C92ECFF6-F839-3EB5-43E6-32A175407CCD}"/>
              </a:ext>
            </a:extLst>
          </p:cNvPr>
          <p:cNvGraphicFramePr>
            <a:graphicFrameLocks noGrp="1"/>
          </p:cNvGraphicFramePr>
          <p:nvPr>
            <p:extLst>
              <p:ext uri="{D42A27DB-BD31-4B8C-83A1-F6EECF244321}">
                <p14:modId xmlns:p14="http://schemas.microsoft.com/office/powerpoint/2010/main" val="3587334566"/>
              </p:ext>
            </p:extLst>
          </p:nvPr>
        </p:nvGraphicFramePr>
        <p:xfrm>
          <a:off x="4550465" y="1445220"/>
          <a:ext cx="3091069" cy="1246257"/>
        </p:xfrm>
        <a:graphic>
          <a:graphicData uri="http://schemas.openxmlformats.org/drawingml/2006/table">
            <a:tbl>
              <a:tblPr firstRow="1" bandRow="1">
                <a:tableStyleId>{5C22544A-7EE6-4342-B048-85BDC9FD1C3A}</a:tableStyleId>
              </a:tblPr>
              <a:tblGrid>
                <a:gridCol w="3091069">
                  <a:extLst>
                    <a:ext uri="{9D8B030D-6E8A-4147-A177-3AD203B41FA5}">
                      <a16:colId xmlns:a16="http://schemas.microsoft.com/office/drawing/2014/main" val="2785945186"/>
                    </a:ext>
                  </a:extLst>
                </a:gridCol>
              </a:tblGrid>
              <a:tr h="415419">
                <a:tc>
                  <a:txBody>
                    <a:bodyPr/>
                    <a:lstStyle/>
                    <a:p>
                      <a:r>
                        <a:rPr lang="en-US" dirty="0"/>
                        <a:t>Structural Design Patterns</a:t>
                      </a:r>
                      <a:endParaRPr lang="en-IN" dirty="0"/>
                    </a:p>
                  </a:txBody>
                  <a:tcPr>
                    <a:solidFill>
                      <a:schemeClr val="tx1"/>
                    </a:solidFill>
                  </a:tcPr>
                </a:tc>
                <a:extLst>
                  <a:ext uri="{0D108BD9-81ED-4DB2-BD59-A6C34878D82A}">
                    <a16:rowId xmlns:a16="http://schemas.microsoft.com/office/drawing/2014/main" val="2506605555"/>
                  </a:ext>
                </a:extLst>
              </a:tr>
              <a:tr h="415419">
                <a:tc>
                  <a:txBody>
                    <a:bodyPr/>
                    <a:lstStyle/>
                    <a:p>
                      <a:endParaRPr lang="en-US" dirty="0"/>
                    </a:p>
                  </a:txBody>
                  <a:tcPr/>
                </a:tc>
                <a:extLst>
                  <a:ext uri="{0D108BD9-81ED-4DB2-BD59-A6C34878D82A}">
                    <a16:rowId xmlns:a16="http://schemas.microsoft.com/office/drawing/2014/main" val="2380927851"/>
                  </a:ext>
                </a:extLst>
              </a:tr>
              <a:tr h="415419">
                <a:tc>
                  <a:txBody>
                    <a:bodyPr/>
                    <a:lstStyle/>
                    <a:p>
                      <a:endParaRPr lang="en-US" dirty="0"/>
                    </a:p>
                  </a:txBody>
                  <a:tcPr/>
                </a:tc>
                <a:extLst>
                  <a:ext uri="{0D108BD9-81ED-4DB2-BD59-A6C34878D82A}">
                    <a16:rowId xmlns:a16="http://schemas.microsoft.com/office/drawing/2014/main" val="3194275739"/>
                  </a:ext>
                </a:extLst>
              </a:tr>
            </a:tbl>
          </a:graphicData>
        </a:graphic>
      </p:graphicFrame>
      <p:graphicFrame>
        <p:nvGraphicFramePr>
          <p:cNvPr id="9" name="Table 8">
            <a:extLst>
              <a:ext uri="{FF2B5EF4-FFF2-40B4-BE49-F238E27FC236}">
                <a16:creationId xmlns:a16="http://schemas.microsoft.com/office/drawing/2014/main" id="{FC222872-44A7-5042-948E-56D12143689E}"/>
              </a:ext>
            </a:extLst>
          </p:cNvPr>
          <p:cNvGraphicFramePr>
            <a:graphicFrameLocks noGrp="1"/>
          </p:cNvGraphicFramePr>
          <p:nvPr>
            <p:extLst>
              <p:ext uri="{D42A27DB-BD31-4B8C-83A1-F6EECF244321}">
                <p14:modId xmlns:p14="http://schemas.microsoft.com/office/powerpoint/2010/main" val="2811505954"/>
              </p:ext>
            </p:extLst>
          </p:nvPr>
        </p:nvGraphicFramePr>
        <p:xfrm>
          <a:off x="8382000" y="1445220"/>
          <a:ext cx="3091069" cy="1246257"/>
        </p:xfrm>
        <a:graphic>
          <a:graphicData uri="http://schemas.openxmlformats.org/drawingml/2006/table">
            <a:tbl>
              <a:tblPr firstRow="1" bandRow="1">
                <a:tableStyleId>{5C22544A-7EE6-4342-B048-85BDC9FD1C3A}</a:tableStyleId>
              </a:tblPr>
              <a:tblGrid>
                <a:gridCol w="3091069">
                  <a:extLst>
                    <a:ext uri="{9D8B030D-6E8A-4147-A177-3AD203B41FA5}">
                      <a16:colId xmlns:a16="http://schemas.microsoft.com/office/drawing/2014/main" val="2785945186"/>
                    </a:ext>
                  </a:extLst>
                </a:gridCol>
              </a:tblGrid>
              <a:tr h="415419">
                <a:tc>
                  <a:txBody>
                    <a:bodyPr/>
                    <a:lstStyle/>
                    <a:p>
                      <a:r>
                        <a:rPr lang="en-US" dirty="0"/>
                        <a:t>Behavioral Design Patterns</a:t>
                      </a:r>
                      <a:endParaRPr lang="en-IN" dirty="0"/>
                    </a:p>
                  </a:txBody>
                  <a:tcPr>
                    <a:solidFill>
                      <a:schemeClr val="tx1"/>
                    </a:solidFill>
                  </a:tcPr>
                </a:tc>
                <a:extLst>
                  <a:ext uri="{0D108BD9-81ED-4DB2-BD59-A6C34878D82A}">
                    <a16:rowId xmlns:a16="http://schemas.microsoft.com/office/drawing/2014/main" val="2506605555"/>
                  </a:ext>
                </a:extLst>
              </a:tr>
              <a:tr h="415419">
                <a:tc>
                  <a:txBody>
                    <a:bodyPr/>
                    <a:lstStyle/>
                    <a:p>
                      <a:endParaRPr lang="en-US" dirty="0"/>
                    </a:p>
                  </a:txBody>
                  <a:tcPr/>
                </a:tc>
                <a:extLst>
                  <a:ext uri="{0D108BD9-81ED-4DB2-BD59-A6C34878D82A}">
                    <a16:rowId xmlns:a16="http://schemas.microsoft.com/office/drawing/2014/main" val="2380927851"/>
                  </a:ext>
                </a:extLst>
              </a:tr>
              <a:tr h="415419">
                <a:tc>
                  <a:txBody>
                    <a:bodyPr/>
                    <a:lstStyle/>
                    <a:p>
                      <a:endParaRPr lang="en-US" dirty="0"/>
                    </a:p>
                  </a:txBody>
                  <a:tcPr/>
                </a:tc>
                <a:extLst>
                  <a:ext uri="{0D108BD9-81ED-4DB2-BD59-A6C34878D82A}">
                    <a16:rowId xmlns:a16="http://schemas.microsoft.com/office/drawing/2014/main" val="3194275739"/>
                  </a:ext>
                </a:extLst>
              </a:tr>
            </a:tbl>
          </a:graphicData>
        </a:graphic>
      </p:graphicFrame>
    </p:spTree>
    <p:extLst>
      <p:ext uri="{BB962C8B-B14F-4D97-AF65-F5344CB8AC3E}">
        <p14:creationId xmlns:p14="http://schemas.microsoft.com/office/powerpoint/2010/main" val="3447599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C753480-7C74-6C17-248C-845C5FA1618C}"/>
              </a:ext>
            </a:extLst>
          </p:cNvPr>
          <p:cNvSpPr txBox="1"/>
          <p:nvPr/>
        </p:nvSpPr>
        <p:spPr>
          <a:xfrm>
            <a:off x="3341204" y="130628"/>
            <a:ext cx="5509591" cy="584775"/>
          </a:xfrm>
          <a:prstGeom prst="rect">
            <a:avLst/>
          </a:prstGeom>
          <a:noFill/>
        </p:spPr>
        <p:txBody>
          <a:bodyPr wrap="square" rtlCol="0">
            <a:spAutoFit/>
          </a:bodyPr>
          <a:lstStyle/>
          <a:p>
            <a:pPr algn="ctr"/>
            <a:r>
              <a:rPr lang="en-US" sz="3200" b="1" i="1" u="sng" dirty="0">
                <a:solidFill>
                  <a:srgbClr val="C00000"/>
                </a:solidFill>
              </a:rPr>
              <a:t>Creational Design Patterns</a:t>
            </a:r>
          </a:p>
        </p:txBody>
      </p:sp>
      <p:sp>
        <p:nvSpPr>
          <p:cNvPr id="3" name="TextBox 2">
            <a:extLst>
              <a:ext uri="{FF2B5EF4-FFF2-40B4-BE49-F238E27FC236}">
                <a16:creationId xmlns:a16="http://schemas.microsoft.com/office/drawing/2014/main" id="{C926E8FE-0C9E-E689-190F-EC73D8C8AE48}"/>
              </a:ext>
            </a:extLst>
          </p:cNvPr>
          <p:cNvSpPr txBox="1"/>
          <p:nvPr/>
        </p:nvSpPr>
        <p:spPr>
          <a:xfrm>
            <a:off x="0" y="715403"/>
            <a:ext cx="12192000" cy="5632311"/>
          </a:xfrm>
          <a:prstGeom prst="rect">
            <a:avLst/>
          </a:prstGeom>
          <a:noFill/>
        </p:spPr>
        <p:txBody>
          <a:bodyPr wrap="square" rtlCol="0">
            <a:spAutoFit/>
          </a:bodyPr>
          <a:lstStyle/>
          <a:p>
            <a:pPr marL="342900" indent="-342900">
              <a:buFont typeface="Wingdings" panose="05000000000000000000" pitchFamily="2" charset="2"/>
              <a:buChar char="Ø"/>
            </a:pPr>
            <a:r>
              <a:rPr lang="en-US" dirty="0"/>
              <a:t>Provides object creation mechanism that increase flexibility and reuse of the code.</a:t>
            </a:r>
          </a:p>
          <a:p>
            <a:pPr marL="285750" indent="-285750">
              <a:buFont typeface="Wingdings" panose="05000000000000000000" pitchFamily="2" charset="2"/>
              <a:buChar char="v"/>
            </a:pPr>
            <a:r>
              <a:rPr lang="en-US" b="1" dirty="0"/>
              <a:t>Singleton Design Pattern:</a:t>
            </a:r>
          </a:p>
          <a:p>
            <a:pPr marL="742950" lvl="1" indent="-285750">
              <a:buFont typeface="Wingdings" panose="05000000000000000000" pitchFamily="2" charset="2"/>
              <a:buChar char="ü"/>
            </a:pPr>
            <a:r>
              <a:rPr lang="en-US" dirty="0"/>
              <a:t>The Singleton pattern ensures a class has only one instance and provides a global point of access to that instance.</a:t>
            </a:r>
          </a:p>
          <a:p>
            <a:pPr marL="742950" lvl="1" indent="-285750">
              <a:buFont typeface="Wingdings" panose="05000000000000000000" pitchFamily="2" charset="2"/>
              <a:buChar char="ü"/>
            </a:pPr>
            <a:r>
              <a:rPr lang="en-US" dirty="0"/>
              <a:t>This pattern is useful when you want to restrict the instantiation of a class to one object, which is typically required for managing resources such as database connections, logging instances, thread pools, and caches.</a:t>
            </a:r>
          </a:p>
          <a:p>
            <a:pPr marL="742950" lvl="1" indent="-285750">
              <a:buFont typeface="Wingdings" panose="05000000000000000000" pitchFamily="2" charset="2"/>
              <a:buChar char="ü"/>
            </a:pPr>
            <a:r>
              <a:rPr lang="en-US" dirty="0"/>
              <a:t>Singleton classes can be difficult to unit test due to their global state, leading to potential testing issues.</a:t>
            </a:r>
          </a:p>
          <a:p>
            <a:pPr marL="742950" lvl="1" indent="-285750">
              <a:buFont typeface="Wingdings" panose="05000000000000000000" pitchFamily="2" charset="2"/>
              <a:buChar char="ü"/>
            </a:pPr>
            <a:r>
              <a:rPr lang="en-US" dirty="0"/>
              <a:t>Singleton classes may violate the SRP by combining the responsibility of managing instance creation with other functionalities.</a:t>
            </a:r>
          </a:p>
          <a:p>
            <a:pPr marL="285750" indent="-285750">
              <a:buFont typeface="Wingdings" panose="05000000000000000000" pitchFamily="2" charset="2"/>
              <a:buChar char="v"/>
            </a:pPr>
            <a:r>
              <a:rPr lang="en-US" b="1" dirty="0"/>
              <a:t>Factory Design Pattern:</a:t>
            </a:r>
          </a:p>
          <a:p>
            <a:pPr marL="742950" lvl="1" indent="-285750">
              <a:buFont typeface="Wingdings" panose="05000000000000000000" pitchFamily="2" charset="2"/>
              <a:buChar char="ü"/>
            </a:pPr>
            <a:r>
              <a:rPr lang="en-US" dirty="0"/>
              <a:t>The Factory design pattern provides an interface for creating objects in a superclass, but allows subclasses to alter the type of objects that will be created.</a:t>
            </a:r>
            <a:endParaRPr lang="en-US" b="1" dirty="0"/>
          </a:p>
          <a:p>
            <a:pPr marL="742950" lvl="1" indent="-285750">
              <a:buFont typeface="Wingdings" panose="05000000000000000000" pitchFamily="2" charset="2"/>
              <a:buChar char="ü"/>
            </a:pPr>
            <a:r>
              <a:rPr lang="en-US" dirty="0"/>
              <a:t>It encapsulates the object creation logic, allowing the client code to use the interface to create objects without knowing the specific class of the object being instantiated.</a:t>
            </a:r>
          </a:p>
          <a:p>
            <a:pPr marL="742950" lvl="1" indent="-285750">
              <a:buFont typeface="Wingdings" panose="05000000000000000000" pitchFamily="2" charset="2"/>
              <a:buChar char="ü"/>
            </a:pPr>
            <a:r>
              <a:rPr lang="en-US" dirty="0"/>
              <a:t>Whenever there are multiple variants of a class and we want to create an object of a specific variant based on the user input: then we can implement Factory pattern.</a:t>
            </a:r>
          </a:p>
          <a:p>
            <a:pPr marL="285750" indent="-285750">
              <a:buFont typeface="Wingdings" panose="05000000000000000000" pitchFamily="2" charset="2"/>
              <a:buChar char="v"/>
            </a:pPr>
            <a:r>
              <a:rPr lang="en-US" b="1" dirty="0"/>
              <a:t>Abstract Factory Design Pattern:</a:t>
            </a:r>
          </a:p>
          <a:p>
            <a:pPr marL="742950" lvl="1" indent="-285750">
              <a:buFont typeface="Wingdings" panose="05000000000000000000" pitchFamily="2" charset="2"/>
              <a:buChar char="ü"/>
            </a:pPr>
            <a:r>
              <a:rPr lang="en-US" dirty="0"/>
              <a:t>The Abstract Factory pattern provides an interface for creating families of related or dependent objects without specifying their concrete classes.</a:t>
            </a:r>
            <a:endParaRPr lang="en-US" b="1" dirty="0"/>
          </a:p>
          <a:p>
            <a:pPr marL="742950" lvl="1" indent="-285750">
              <a:buFont typeface="Wingdings" panose="05000000000000000000" pitchFamily="2" charset="2"/>
              <a:buChar char="ü"/>
            </a:pPr>
            <a:r>
              <a:rPr lang="en-US" dirty="0"/>
              <a:t>Abstract Factory pattern encapsulates the creation logic for entire families of related objects.</a:t>
            </a:r>
          </a:p>
          <a:p>
            <a:pPr marL="742950" lvl="1" indent="-285750">
              <a:buFont typeface="Wingdings" panose="05000000000000000000" pitchFamily="2" charset="2"/>
              <a:buChar char="ü"/>
            </a:pPr>
            <a:endParaRPr lang="en-US" dirty="0"/>
          </a:p>
        </p:txBody>
      </p:sp>
    </p:spTree>
    <p:extLst>
      <p:ext uri="{BB962C8B-B14F-4D97-AF65-F5344CB8AC3E}">
        <p14:creationId xmlns:p14="http://schemas.microsoft.com/office/powerpoint/2010/main" val="10794718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C49F40-8800-0C8D-79C2-59E3C022636A}"/>
              </a:ext>
            </a:extLst>
          </p:cNvPr>
          <p:cNvSpPr txBox="1"/>
          <p:nvPr/>
        </p:nvSpPr>
        <p:spPr>
          <a:xfrm>
            <a:off x="0" y="79299"/>
            <a:ext cx="12192000" cy="3139321"/>
          </a:xfrm>
          <a:prstGeom prst="rect">
            <a:avLst/>
          </a:prstGeom>
          <a:noFill/>
        </p:spPr>
        <p:txBody>
          <a:bodyPr wrap="square" rtlCol="0">
            <a:spAutoFit/>
          </a:bodyPr>
          <a:lstStyle/>
          <a:p>
            <a:pPr marL="285750" indent="-285750">
              <a:buFont typeface="Wingdings" panose="05000000000000000000" pitchFamily="2" charset="2"/>
              <a:buChar char="v"/>
            </a:pPr>
            <a:r>
              <a:rPr lang="en-US" b="1" dirty="0"/>
              <a:t>Builder Design Pattern:</a:t>
            </a:r>
          </a:p>
          <a:p>
            <a:pPr marL="742950" lvl="1" indent="-285750">
              <a:buFont typeface="Wingdings" panose="05000000000000000000" pitchFamily="2" charset="2"/>
              <a:buChar char="ü"/>
            </a:pPr>
            <a:r>
              <a:rPr lang="en-US" dirty="0"/>
              <a:t>The Builder design pattern separates the construction of a complex object from its representation. It allows the same construction process to create different representations of an object. This pattern is particularly useful when dealing with objects that have a large number of optional parameters or configuration settings.</a:t>
            </a:r>
          </a:p>
          <a:p>
            <a:pPr marL="285750" indent="-285750">
              <a:buFont typeface="Wingdings" panose="05000000000000000000" pitchFamily="2" charset="2"/>
              <a:buChar char="v"/>
            </a:pPr>
            <a:r>
              <a:rPr lang="en-US" b="1" dirty="0"/>
              <a:t>Prototype Design Pattern:</a:t>
            </a:r>
          </a:p>
          <a:p>
            <a:pPr marL="742950" lvl="1" indent="-285750">
              <a:buFont typeface="Wingdings" panose="05000000000000000000" pitchFamily="2" charset="2"/>
              <a:buChar char="ü"/>
            </a:pPr>
            <a:r>
              <a:rPr lang="en-US" dirty="0"/>
              <a:t>The Prototype design pattern allows you to create new objects by copying an existing object, known as the prototype.</a:t>
            </a:r>
          </a:p>
          <a:p>
            <a:pPr marL="742950" lvl="1" indent="-285750">
              <a:buFont typeface="Wingdings" panose="05000000000000000000" pitchFamily="2" charset="2"/>
              <a:buChar char="ü"/>
            </a:pPr>
            <a:r>
              <a:rPr lang="en-US" dirty="0"/>
              <a:t>It avoids the need for subclassing to create new objects and allows you to specify the kinds of objects to create by cloning an existing instance.</a:t>
            </a:r>
          </a:p>
          <a:p>
            <a:pPr marL="742950" lvl="1" indent="-285750">
              <a:buFont typeface="Wingdings" panose="05000000000000000000" pitchFamily="2" charset="2"/>
              <a:buChar char="ü"/>
            </a:pPr>
            <a:r>
              <a:rPr lang="en-US" dirty="0"/>
              <a:t>Prototype pattern allows for dynamic creation of new objects at runtime by cloning existing objects. This is useful when the exact type of object to be created is not known until runtime.</a:t>
            </a:r>
          </a:p>
        </p:txBody>
      </p:sp>
    </p:spTree>
    <p:extLst>
      <p:ext uri="{BB962C8B-B14F-4D97-AF65-F5344CB8AC3E}">
        <p14:creationId xmlns:p14="http://schemas.microsoft.com/office/powerpoint/2010/main" val="1846490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ACF65-34E1-A9E6-2C48-C13E331AFF0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6300C1-F5DF-057E-A9FD-01DAB135AA3B}"/>
              </a:ext>
            </a:extLst>
          </p:cNvPr>
          <p:cNvSpPr txBox="1"/>
          <p:nvPr/>
        </p:nvSpPr>
        <p:spPr>
          <a:xfrm>
            <a:off x="3341204" y="130628"/>
            <a:ext cx="5509591" cy="584775"/>
          </a:xfrm>
          <a:prstGeom prst="rect">
            <a:avLst/>
          </a:prstGeom>
          <a:noFill/>
        </p:spPr>
        <p:txBody>
          <a:bodyPr wrap="square" rtlCol="0">
            <a:spAutoFit/>
          </a:bodyPr>
          <a:lstStyle/>
          <a:p>
            <a:pPr algn="ctr"/>
            <a:r>
              <a:rPr lang="en-US" sz="3200" b="1" i="1" u="sng" dirty="0">
                <a:solidFill>
                  <a:srgbClr val="C00000"/>
                </a:solidFill>
              </a:rPr>
              <a:t>Structural Design Patterns</a:t>
            </a:r>
          </a:p>
        </p:txBody>
      </p:sp>
      <p:sp>
        <p:nvSpPr>
          <p:cNvPr id="3" name="TextBox 2">
            <a:extLst>
              <a:ext uri="{FF2B5EF4-FFF2-40B4-BE49-F238E27FC236}">
                <a16:creationId xmlns:a16="http://schemas.microsoft.com/office/drawing/2014/main" id="{C491A352-8385-1F0F-F1A1-FC5F26B1746D}"/>
              </a:ext>
            </a:extLst>
          </p:cNvPr>
          <p:cNvSpPr txBox="1"/>
          <p:nvPr/>
        </p:nvSpPr>
        <p:spPr>
          <a:xfrm>
            <a:off x="0" y="715403"/>
            <a:ext cx="12192000" cy="5355312"/>
          </a:xfrm>
          <a:prstGeom prst="rect">
            <a:avLst/>
          </a:prstGeom>
          <a:noFill/>
        </p:spPr>
        <p:txBody>
          <a:bodyPr wrap="square" rtlCol="0">
            <a:spAutoFit/>
          </a:bodyPr>
          <a:lstStyle/>
          <a:p>
            <a:pPr marL="342900" indent="-342900">
              <a:buFont typeface="Wingdings" panose="05000000000000000000" pitchFamily="2" charset="2"/>
              <a:buChar char="Ø"/>
            </a:pPr>
            <a:r>
              <a:rPr lang="en-US" dirty="0"/>
              <a:t>Structural design patterns help us in forming larger structures from individual parts, making the system more flexible and efficient.</a:t>
            </a:r>
          </a:p>
          <a:p>
            <a:endParaRPr lang="en-US" dirty="0"/>
          </a:p>
          <a:p>
            <a:pPr marL="285750" indent="-285750">
              <a:buFont typeface="Wingdings" panose="05000000000000000000" pitchFamily="2" charset="2"/>
              <a:buChar char="v"/>
            </a:pPr>
            <a:r>
              <a:rPr lang="en-US" b="1" dirty="0"/>
              <a:t>Adapter Design Pattern:</a:t>
            </a:r>
          </a:p>
          <a:p>
            <a:pPr marL="742950" lvl="1" indent="-285750">
              <a:buFont typeface="Wingdings" panose="05000000000000000000" pitchFamily="2" charset="2"/>
              <a:buChar char="ü"/>
            </a:pPr>
            <a:r>
              <a:rPr lang="en-US" dirty="0"/>
              <a:t>The Adapter Design Pattern </a:t>
            </a:r>
            <a:r>
              <a:rPr lang="en-US" b="1" dirty="0"/>
              <a:t>allows objects with incompatible interfaces to collaborate.</a:t>
            </a:r>
          </a:p>
          <a:p>
            <a:pPr marL="742950" lvl="1" indent="-285750">
              <a:buFont typeface="Wingdings" panose="05000000000000000000" pitchFamily="2" charset="2"/>
              <a:buChar char="ü"/>
            </a:pPr>
            <a:r>
              <a:rPr lang="en-US" dirty="0"/>
              <a:t>It acts as a bridge between two incompatible interfaces by converting the interface of one class into another interface that clients expect.</a:t>
            </a:r>
          </a:p>
          <a:p>
            <a:pPr marL="742950" lvl="1" indent="-285750">
              <a:buFont typeface="Wingdings" panose="05000000000000000000" pitchFamily="2" charset="2"/>
              <a:buChar char="ü"/>
            </a:pPr>
            <a:r>
              <a:rPr lang="en-US" dirty="0"/>
              <a:t>This pattern is particularly useful when integrating new features or components into existing systems without modifying their source code.</a:t>
            </a:r>
          </a:p>
          <a:p>
            <a:pPr marL="742950" lvl="1" indent="-285750">
              <a:buFont typeface="Wingdings" panose="05000000000000000000" pitchFamily="2" charset="2"/>
              <a:buChar char="§"/>
            </a:pPr>
            <a:r>
              <a:rPr lang="en-US" b="1" dirty="0"/>
              <a:t>Implementation Steps:</a:t>
            </a:r>
          </a:p>
          <a:p>
            <a:pPr marL="742950" lvl="1" indent="-285750">
              <a:buFont typeface="Wingdings" panose="05000000000000000000" pitchFamily="2" charset="2"/>
              <a:buChar char="ü"/>
            </a:pPr>
            <a:r>
              <a:rPr lang="en-US" dirty="0"/>
              <a:t>Before diving into the implementation, let’s outline the steps involved in creating an adapter:</a:t>
            </a:r>
          </a:p>
          <a:p>
            <a:pPr marL="1200150" lvl="2" indent="-285750">
              <a:buFont typeface="Wingdings" panose="05000000000000000000" pitchFamily="2" charset="2"/>
              <a:buChar char="Ø"/>
            </a:pPr>
            <a:r>
              <a:rPr lang="en-US" b="1" dirty="0"/>
              <a:t>Identify Incompatibilities:</a:t>
            </a:r>
            <a:r>
              <a:rPr lang="en-US" dirty="0"/>
              <a:t> Determine the interfaces of the target and </a:t>
            </a:r>
            <a:r>
              <a:rPr lang="en-US" dirty="0" err="1"/>
              <a:t>adaptee</a:t>
            </a:r>
            <a:r>
              <a:rPr lang="en-US" dirty="0"/>
              <a:t> classes and identify the incompatibilities between them.</a:t>
            </a:r>
          </a:p>
          <a:p>
            <a:pPr marL="1200150" lvl="2" indent="-285750">
              <a:buFont typeface="Wingdings" panose="05000000000000000000" pitchFamily="2" charset="2"/>
              <a:buChar char="Ø"/>
            </a:pPr>
            <a:r>
              <a:rPr lang="en-US" b="1" dirty="0"/>
              <a:t>Design the Adapter Interface:</a:t>
            </a:r>
            <a:r>
              <a:rPr lang="en-US" dirty="0"/>
              <a:t> Design an interface that the client expects. This interface should provide a common ground for the client and the </a:t>
            </a:r>
            <a:r>
              <a:rPr lang="en-US" dirty="0" err="1"/>
              <a:t>adaptee</a:t>
            </a:r>
            <a:r>
              <a:rPr lang="en-US" dirty="0"/>
              <a:t>.</a:t>
            </a:r>
          </a:p>
          <a:p>
            <a:pPr marL="1200150" lvl="2" indent="-285750">
              <a:buFont typeface="Wingdings" panose="05000000000000000000" pitchFamily="2" charset="2"/>
              <a:buChar char="Ø"/>
            </a:pPr>
            <a:r>
              <a:rPr lang="en-US" b="1" dirty="0"/>
              <a:t>Create the Adapter Class: </a:t>
            </a:r>
            <a:r>
              <a:rPr lang="en-US" dirty="0"/>
              <a:t>Implement the adapter class, which acts as a bridge between the client and the </a:t>
            </a:r>
            <a:r>
              <a:rPr lang="en-US" dirty="0" err="1"/>
              <a:t>adaptee</a:t>
            </a:r>
            <a:r>
              <a:rPr lang="en-US" dirty="0"/>
              <a:t>. The adapter class should implement the client’s interface and hold a reference to the </a:t>
            </a:r>
            <a:r>
              <a:rPr lang="en-US" dirty="0" err="1"/>
              <a:t>adaptee</a:t>
            </a:r>
            <a:r>
              <a:rPr lang="en-US" dirty="0"/>
              <a:t>.</a:t>
            </a:r>
          </a:p>
          <a:p>
            <a:pPr marL="1200150" lvl="2" indent="-285750">
              <a:buFont typeface="Wingdings" panose="05000000000000000000" pitchFamily="2" charset="2"/>
              <a:buChar char="Ø"/>
            </a:pPr>
            <a:r>
              <a:rPr lang="en-US" b="1" dirty="0"/>
              <a:t>Implement the Adapter Logic:</a:t>
            </a:r>
            <a:r>
              <a:rPr lang="en-US" dirty="0"/>
              <a:t> Implement the necessary logic inside the adapter class to convert calls from the client’s interface to the </a:t>
            </a:r>
            <a:r>
              <a:rPr lang="en-US" dirty="0" err="1"/>
              <a:t>adaptee’s</a:t>
            </a:r>
            <a:r>
              <a:rPr lang="en-US" dirty="0"/>
              <a:t> interface.</a:t>
            </a:r>
          </a:p>
        </p:txBody>
      </p:sp>
    </p:spTree>
    <p:extLst>
      <p:ext uri="{BB962C8B-B14F-4D97-AF65-F5344CB8AC3E}">
        <p14:creationId xmlns:p14="http://schemas.microsoft.com/office/powerpoint/2010/main" val="2371592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589256c7-9946-44df-b379-51beb93fd2d9}" enabled="1" method="Privilege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8563</TotalTime>
  <Words>786</Words>
  <Application>Microsoft Office PowerPoint</Application>
  <PresentationFormat>Widescreen</PresentationFormat>
  <Paragraphs>61</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Aptos</vt:lpstr>
      <vt:lpstr>Aptos Display</vt:lpstr>
      <vt:lpstr>Arial</vt:lpstr>
      <vt:lpstr>Wingdings</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VARDHAN REDDY, VEERAM VISHNU</dc:creator>
  <cp:lastModifiedBy>Vishnu Vardhan Reddy Veeram</cp:lastModifiedBy>
  <cp:revision>39</cp:revision>
  <dcterms:created xsi:type="dcterms:W3CDTF">2026-01-14T12:15:00Z</dcterms:created>
  <dcterms:modified xsi:type="dcterms:W3CDTF">2026-02-04T16:14:36Z</dcterms:modified>
</cp:coreProperties>
</file>